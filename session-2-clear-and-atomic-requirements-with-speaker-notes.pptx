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a91441354c44745" /><Relationship Type="http://schemas.openxmlformats.org/officeDocument/2006/relationships/extended-properties" Target="/docProps/app.xml" Id="Rc542bed13de04b2a" /><Relationship Type="http://schemas.openxmlformats.org/officeDocument/2006/relationships/officeDocument" Target="/ppt/presentation.xml" Id="Rb22d4b555c284a62" /></Relationships>
</file>

<file path=ppt/presentation.xml><?xml version="1.0" encoding="utf-8"?>
<p:presentation xmlns:p="http://schemas.openxmlformats.org/presentationml/2006/main">
  <p:sldMasterIdLst>
    <p:sldMasterId xmlns:r="http://schemas.openxmlformats.org/officeDocument/2006/relationships" id="2147483648" r:id="R0f2694bd05b54cc0"/>
  </p:sldMasterIdLst>
  <p:notesMasterIdLst>
    <p:notesMasterId xmlns:r="http://schemas.openxmlformats.org/officeDocument/2006/relationships" r:id="R79b7bdf837e94b75"/>
  </p:notesMasterIdLst>
  <p:sldIdLst>
    <p:sldId xmlns:r="http://schemas.openxmlformats.org/officeDocument/2006/relationships" id="256" r:id="R4f70530fc91e4674"/>
    <p:sldId xmlns:r="http://schemas.openxmlformats.org/officeDocument/2006/relationships" id="257" r:id="R642cda1a246d4468"/>
    <p:sldId xmlns:r="http://schemas.openxmlformats.org/officeDocument/2006/relationships" id="258" r:id="R04719cd7a32d4973"/>
    <p:sldId xmlns:r="http://schemas.openxmlformats.org/officeDocument/2006/relationships" id="259" r:id="R539de7b69ae341f8"/>
    <p:sldId xmlns:r="http://schemas.openxmlformats.org/officeDocument/2006/relationships" id="260" r:id="R3e1a44c1ba19429a"/>
    <p:sldId xmlns:r="http://schemas.openxmlformats.org/officeDocument/2006/relationships" id="261" r:id="R48da8b9590c2496f"/>
    <p:sldId xmlns:r="http://schemas.openxmlformats.org/officeDocument/2006/relationships" id="262" r:id="R77d5a6d63cb647c8"/>
    <p:sldId xmlns:r="http://schemas.openxmlformats.org/officeDocument/2006/relationships" id="263" r:id="R162f4bd516c84fbe"/>
    <p:sldId xmlns:r="http://schemas.openxmlformats.org/officeDocument/2006/relationships" id="264" r:id="R7c5455736d424f07"/>
    <p:sldId xmlns:r="http://schemas.openxmlformats.org/officeDocument/2006/relationships" id="265" r:id="Rafa8e10ce87c435f"/>
    <p:sldId xmlns:r="http://schemas.openxmlformats.org/officeDocument/2006/relationships" id="266" r:id="R267182e9311d4893"/>
    <p:sldId xmlns:r="http://schemas.openxmlformats.org/officeDocument/2006/relationships" id="267" r:id="R68cce26912684944"/>
    <p:sldId xmlns:r="http://schemas.openxmlformats.org/officeDocument/2006/relationships" id="268" r:id="R7f610fe4442d409c"/>
    <p:sldId xmlns:r="http://schemas.openxmlformats.org/officeDocument/2006/relationships" id="269" r:id="R4bb31fe6e36c445a"/>
    <p:sldId xmlns:r="http://schemas.openxmlformats.org/officeDocument/2006/relationships" id="270" r:id="R68a9b365a76540bb"/>
    <p:sldId xmlns:r="http://schemas.openxmlformats.org/officeDocument/2006/relationships" id="271" r:id="R5cf1cac062e24eca"/>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c3fb8fd233d4ba8" /><Relationship Type="http://schemas.openxmlformats.org/officeDocument/2006/relationships/slideMaster" Target="/ppt/slideMasters/slideMaster1.xml" Id="R0f2694bd05b54cc0" /><Relationship Type="http://schemas.openxmlformats.org/officeDocument/2006/relationships/notesMaster" Target="/ppt/notesMasters/notesMaster1.xml" Id="R79b7bdf837e94b75" /><Relationship Type="http://schemas.openxmlformats.org/officeDocument/2006/relationships/presProps" Target="/ppt/presProps.xml" Id="R8a93837037254815" /><Relationship Type="http://schemas.openxmlformats.org/officeDocument/2006/relationships/tableStyles" Target="/ppt/tableStyles.xml" Id="Red71afdfc7c343dd" /><Relationship Type="http://schemas.openxmlformats.org/officeDocument/2006/relationships/slide" Target="/ppt/slides/slide1.xml" Id="R4f70530fc91e4674" /><Relationship Type="http://schemas.openxmlformats.org/officeDocument/2006/relationships/slide" Target="/ppt/slides/slide2.xml" Id="R642cda1a246d4468" /><Relationship Type="http://schemas.openxmlformats.org/officeDocument/2006/relationships/slide" Target="/ppt/slides/slide3.xml" Id="R04719cd7a32d4973" /><Relationship Type="http://schemas.openxmlformats.org/officeDocument/2006/relationships/slide" Target="/ppt/slides/slide4.xml" Id="R539de7b69ae341f8" /><Relationship Type="http://schemas.openxmlformats.org/officeDocument/2006/relationships/slide" Target="/ppt/slides/slide5.xml" Id="R3e1a44c1ba19429a" /><Relationship Type="http://schemas.openxmlformats.org/officeDocument/2006/relationships/slide" Target="/ppt/slides/slide6.xml" Id="R48da8b9590c2496f" /><Relationship Type="http://schemas.openxmlformats.org/officeDocument/2006/relationships/slide" Target="/ppt/slides/slide7.xml" Id="R77d5a6d63cb647c8" /><Relationship Type="http://schemas.openxmlformats.org/officeDocument/2006/relationships/slide" Target="/ppt/slides/slide8.xml" Id="R162f4bd516c84fbe" /><Relationship Type="http://schemas.openxmlformats.org/officeDocument/2006/relationships/slide" Target="/ppt/slides/slide9.xml" Id="R7c5455736d424f07" /><Relationship Type="http://schemas.openxmlformats.org/officeDocument/2006/relationships/slide" Target="/ppt/slides/slide10.xml" Id="Rafa8e10ce87c435f" /><Relationship Type="http://schemas.openxmlformats.org/officeDocument/2006/relationships/slide" Target="/ppt/slides/slide11.xml" Id="R267182e9311d4893" /><Relationship Type="http://schemas.openxmlformats.org/officeDocument/2006/relationships/slide" Target="/ppt/slides/slide12.xml" Id="R68cce26912684944" /><Relationship Type="http://schemas.openxmlformats.org/officeDocument/2006/relationships/slide" Target="/ppt/slides/slide13.xml" Id="R7f610fe4442d409c" /><Relationship Type="http://schemas.openxmlformats.org/officeDocument/2006/relationships/slide" Target="/ppt/slides/slide14.xml" Id="R4bb31fe6e36c445a" /><Relationship Type="http://schemas.openxmlformats.org/officeDocument/2006/relationships/slide" Target="/ppt/slides/slide15.xml" Id="R68a9b365a76540bb" /><Relationship Type="http://schemas.openxmlformats.org/officeDocument/2006/relationships/slide" Target="/ppt/slides/slide16.xml" Id="R5cf1cac062e24e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711c4c613849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42dea1730441c0" /><Relationship Type="http://schemas.openxmlformats.org/officeDocument/2006/relationships/notesMaster" Target="/ppt/notesMasters/notesMaster1.xml" Id="R6c74857149bf477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c837d6ba434141" /><Relationship Type="http://schemas.openxmlformats.org/officeDocument/2006/relationships/notesMaster" Target="/ppt/notesMasters/notesMaster1.xml" Id="R96f3cd69fbe248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7722982939a140f9" /><Relationship Type="http://schemas.openxmlformats.org/officeDocument/2006/relationships/notesMaster" Target="/ppt/notesMasters/notesMaster1.xml" Id="Rece5784537d848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8f11b197714224" /><Relationship Type="http://schemas.openxmlformats.org/officeDocument/2006/relationships/notesMaster" Target="/ppt/notesMasters/notesMaster1.xml" Id="R9ac0980de6b44d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478053a79e484c11" /><Relationship Type="http://schemas.openxmlformats.org/officeDocument/2006/relationships/notesMaster" Target="/ppt/notesMasters/notesMaster1.xml" Id="Rf7efd5c4282243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f143afb31046ac" /><Relationship Type="http://schemas.openxmlformats.org/officeDocument/2006/relationships/notesMaster" Target="/ppt/notesMasters/notesMaster1.xml" Id="Rf0a6ae8f870d4a6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b8e3232fa624c30" /><Relationship Type="http://schemas.openxmlformats.org/officeDocument/2006/relationships/notesMaster" Target="/ppt/notesMasters/notesMaster1.xml" Id="R416a552a88b44bf0" /></Relationships>
</file>

<file path=ppt/notesSlides/_rels/notesSlide8.xml.rels>&#65279;<?xml version="1.0" encoding="utf-8"?><Relationships xmlns="http://schemas.openxmlformats.org/package/2006/relationships"><Relationship Type="http://schemas.openxmlformats.org/officeDocument/2006/relationships/slide" Target="/ppt/slides/slide8.xml" Id="R587cbf41fd594f13" /><Relationship Type="http://schemas.openxmlformats.org/officeDocument/2006/relationships/notesMaster" Target="/ppt/notesMasters/notesMaster1.xml" Id="R8ffdd3c52392436a" /></Relationships>
</file>

<file path=ppt/notesSlides/_rels/notesSlide9.xml.rels>&#65279;<?xml version="1.0" encoding="utf-8"?><Relationships xmlns="http://schemas.openxmlformats.org/package/2006/relationships"><Relationship Type="http://schemas.openxmlformats.org/officeDocument/2006/relationships/slide" Target="/ppt/slides/slide9.xml" Id="R83811ff2c85d4818" /><Relationship Type="http://schemas.openxmlformats.org/officeDocument/2006/relationships/notesMaster" Target="/ppt/notesMasters/notesMaster1.xml" Id="Rd35f3ab8bdef418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84177c131ea4d39" /><Relationship Type="http://schemas.openxmlformats.org/officeDocument/2006/relationships/notesMaster" Target="/ppt/notesMasters/notesMaster1.xml" Id="R1271e727ec9945d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df6cfaa61ca4f68" /><Relationship Type="http://schemas.openxmlformats.org/officeDocument/2006/relationships/notesMaster" Target="/ppt/notesMasters/notesMaster1.xml" Id="R22e0fae97671476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7c09df7b0804538" /><Relationship Type="http://schemas.openxmlformats.org/officeDocument/2006/relationships/notesMaster" Target="/ppt/notesMasters/notesMaster1.xml" Id="R4d0f9ba36657417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8d753ecf6dc4e56" /><Relationship Type="http://schemas.openxmlformats.org/officeDocument/2006/relationships/notesMaster" Target="/ppt/notesMasters/notesMaster1.xml" Id="Rf20caae298024c7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165ecc854d7449e" /><Relationship Type="http://schemas.openxmlformats.org/officeDocument/2006/relationships/notesMaster" Target="/ppt/notesMasters/notesMaster1.xml" Id="R00ebf0d7a70c43d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7b0f32f38754aa3" /><Relationship Type="http://schemas.openxmlformats.org/officeDocument/2006/relationships/notesMaster" Target="/ppt/notesMasters/notesMaster1.xml" Id="R0f24d0e5549e4fd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21297a3f20c40a8" /><Relationship Type="http://schemas.openxmlformats.org/officeDocument/2006/relationships/notesMaster" Target="/ppt/notesMasters/notesMaster1.xml" Id="Rc7e6de503ccf49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Open Session 2 and establish that clarity is about controlling technical interpretation, not polishing prose.</a:t>
            </a:r>
          </a:p>
          <a:p xmlns:a="http://schemas.openxmlformats.org/drawingml/2006/main">
            <a:r>
              <a:t/>
            </a:r>
          </a:p>
          <a:p xmlns:a="http://schemas.openxmlformats.org/drawingml/2006/main">
            <a:r>
              <a:t>SUGGESTED SCRIPT</a:t>
            </a:r>
          </a:p>
          <a:p xmlns:a="http://schemas.openxmlformats.org/drawingml/2006/main">
            <a:r>
              <a:t>Welcome back. In Session 1 we treated a requirement as an engineering agreement. Today we focus on making that agreement clear and atomic. A vague word such as periodically can produce several reasonable interpretations: every control cycle, once per minute, or only after an event. The sentence may sound understandable while the engineering obligation remains undefined. Our goal is to make disagreement visible early, while it is still cheap to resolve.</a:t>
            </a:r>
          </a:p>
          <a:p xmlns:a="http://schemas.openxmlformats.org/drawingml/2006/main">
            <a:r>
              <a:t/>
            </a:r>
          </a:p>
          <a:p xmlns:a="http://schemas.openxmlformats.org/drawingml/2006/main">
            <a:r>
              <a:t>FACILITATION CUE</a:t>
            </a:r>
          </a:p>
          <a:p xmlns:a="http://schemas.openxmlformats.org/drawingml/2006/main">
            <a:r>
              <a:t>Ask the room what periodically means to them before pointing to the three interpretations. Accept several answers; the variation is the point.</a:t>
            </a:r>
          </a:p>
          <a:p xmlns:a="http://schemas.openxmlformats.org/drawingml/2006/main">
            <a:r>
              <a:t/>
            </a:r>
          </a:p>
          <a:p xmlns:a="http://schemas.openxmlformats.org/drawingml/2006/main">
            <a:r>
              <a:t>TRANSITION</a:t>
            </a:r>
          </a:p>
          <a:p xmlns:a="http://schemas.openxmlformats.org/drawingml/2006/main">
            <a:r>
              <a:t>Here is how we will move from that ambiguity to a practical writing and review habit.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Set expectations for the Session 2 sequence and reserve most of the hour for collaborative review and rewriting.</a:t>
            </a:r>
          </a:p>
          <a:p xmlns:a="http://schemas.openxmlformats.org/drawingml/2006/main">
            <a:r>
              <a:t/>
            </a:r>
          </a:p>
          <a:p xmlns:a="http://schemas.openxmlformats.org/drawingml/2006/main">
            <a:r>
              <a:t>SUGGESTED SCRIPT</a:t>
            </a:r>
          </a:p>
          <a:p xmlns:a="http://schemas.openxmlformats.org/drawingml/2006/main">
            <a:r>
              <a:t>We will begin with a short recap of the three questions from Session 1. Then we will focus on choosing the right subject, using obligation words consistently, replacing vague terms with measurable behavior, and deciding when one sentence contains too many obligations. We will spend the final third of the session reviewing and rewriting battery-state examples together. Everything happens here; there is no homework.</a:t>
            </a:r>
          </a:p>
          <a:p xmlns:a="http://schemas.openxmlformats.org/drawingml/2006/main">
            <a:r>
              <a:t/>
            </a:r>
          </a:p>
          <a:p xmlns:a="http://schemas.openxmlformats.org/drawingml/2006/main">
            <a:r>
              <a:t>FACILITATION CUE</a:t>
            </a:r>
          </a:p>
          <a:p xmlns:a="http://schemas.openxmlformats.org/drawingml/2006/main">
            <a:r>
              <a:t>For a 45-minute session, shorten the recap and modal-verb discussion. Preserve slides 11 through 15.</a:t>
            </a:r>
          </a:p>
          <a:p xmlns:a="http://schemas.openxmlformats.org/drawingml/2006/main">
            <a:r>
              <a:t/>
            </a:r>
          </a:p>
          <a:p xmlns:a="http://schemas.openxmlformats.org/drawingml/2006/main">
            <a:r>
              <a:t>TRANSITION</a:t>
            </a:r>
          </a:p>
          <a:p xmlns:a="http://schemas.openxmlformats.org/drawingml/2006/main">
            <a:r>
              <a:t>Let us reconnect today's writing techniques to the review model from Session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Connect Session 2 to the Week 1 model and show that clarity and atomicity improve the definition of the required behavior.</a:t>
            </a:r>
          </a:p>
          <a:p xmlns:a="http://schemas.openxmlformats.org/drawingml/2006/main">
            <a:r>
              <a:t/>
            </a:r>
          </a:p>
          <a:p xmlns:a="http://schemas.openxmlformats.org/drawingml/2006/main">
            <a:r>
              <a:t>SUGGESTED SCRIPT</a:t>
            </a:r>
          </a:p>
          <a:p xmlns:a="http://schemas.openxmlformats.org/drawingml/2006/main">
            <a:r>
              <a:t>Our Week 1 questions still apply: Why, What, and Evidence. Today we are zooming in on the What. Clear means the words support one technically defensible interpretation in the relevant context. Atomic means the requirement contains one primary obligation that can be traced, changed, and verified coherently. We still need the Why to validate necessity and the Evidence to confirm the result.</a:t>
            </a:r>
          </a:p>
          <a:p xmlns:a="http://schemas.openxmlformats.org/drawingml/2006/main">
            <a:r>
              <a:t/>
            </a:r>
          </a:p>
          <a:p xmlns:a="http://schemas.openxmlformats.org/drawingml/2006/main">
            <a:r>
              <a:t>FACILITATION CUE</a:t>
            </a:r>
          </a:p>
          <a:p xmlns:a="http://schemas.openxmlformats.org/drawingml/2006/main">
            <a:r>
              <a:t>Ask someone to name the three Week 1 questions without reading the slide. Keep the recap brief and friendly.</a:t>
            </a:r>
          </a:p>
          <a:p xmlns:a="http://schemas.openxmlformats.org/drawingml/2006/main">
            <a:r>
              <a:t/>
            </a:r>
          </a:p>
          <a:p xmlns:a="http://schemas.openxmlformats.org/drawingml/2006/main">
            <a:r>
              <a:t>TRANSITION</a:t>
            </a:r>
          </a:p>
          <a:p xmlns:a="http://schemas.openxmlformats.org/drawingml/2006/main">
            <a:r>
              <a:t>First, we need a useful definition of clarity.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Define clarity in engineering terms by showing how an apparently simple sentence creates multiple reasonable implementations and tests.</a:t>
            </a:r>
          </a:p>
          <a:p xmlns:a="http://schemas.openxmlformats.org/drawingml/2006/main">
            <a:r>
              <a:t/>
            </a:r>
          </a:p>
          <a:p xmlns:a="http://schemas.openxmlformats.org/drawingml/2006/main">
            <a:r>
              <a:t>SUGGESTED SCRIPT</a:t>
            </a:r>
          </a:p>
          <a:p xmlns:a="http://schemas.openxmlformats.org/drawingml/2006/main">
            <a:r>
              <a:t>This statement is grammatically simple, but periodically has no defined engineering meaning. A developer may check every cycle. A tester may choose an interval. An operator may expect validation only when new data arrives. None of those interpretations is absurd. That is the warning sign. If multiple interpretations are technically reasonable, the requirement is carrying an unresolved decision. Clarity is not about using short words; it is about controlling interpretation in context.</a:t>
            </a:r>
          </a:p>
          <a:p xmlns:a="http://schemas.openxmlformats.org/drawingml/2006/main">
            <a:r>
              <a:t/>
            </a:r>
          </a:p>
          <a:p xmlns:a="http://schemas.openxmlformats.org/drawingml/2006/main">
            <a:r>
              <a:t>FACILITATION CUE</a:t>
            </a:r>
          </a:p>
          <a:p xmlns:a="http://schemas.openxmlformats.org/drawingml/2006/main">
            <a:r>
              <a:t>Ask the room for a fourth interpretation. Then ask what information would collapse the possibilities: trigger, frequency, applicable mode, or interface event.</a:t>
            </a:r>
          </a:p>
          <a:p xmlns:a="http://schemas.openxmlformats.org/drawingml/2006/main">
            <a:r>
              <a:t/>
            </a:r>
          </a:p>
          <a:p xmlns:a="http://schemas.openxmlformats.org/drawingml/2006/main">
            <a:r>
              <a:t>TRANSITION</a:t>
            </a:r>
          </a:p>
          <a:p xmlns:a="http://schemas.openxmlformats.org/drawingml/2006/main">
            <a:r>
              <a:t>Clarity begins with naming the element that actually owns the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Teach writers to assign the obligation to the software element with authority and responsibility for the action.</a:t>
            </a:r>
          </a:p>
          <a:p xmlns:a="http://schemas.openxmlformats.org/drawingml/2006/main">
            <a:r>
              <a:t/>
            </a:r>
          </a:p>
          <a:p xmlns:a="http://schemas.openxmlformats.org/drawingml/2006/main">
            <a:r>
              <a:t>SUGGESTED SCRIPT</a:t>
            </a:r>
          </a:p>
          <a:p xmlns:a="http://schemas.openxmlformats.org/drawingml/2006/main">
            <a:r>
              <a:t>The spacecraft is often too broad a subject for a software requirement. Which element evaluates the command? Which element has authority to reject it? Naming the owning software element improves allocation, traceability, interface review, and testing. The right level depends on the architecture and the specification level. Do not force a low-level component name into a higher-level requirement, but do not hide ownership behind the word system when ownership matters.</a:t>
            </a:r>
          </a:p>
          <a:p xmlns:a="http://schemas.openxmlformats.org/drawingml/2006/main">
            <a:r>
              <a:t/>
            </a:r>
          </a:p>
          <a:p xmlns:a="http://schemas.openxmlformats.org/drawingml/2006/main">
            <a:r>
              <a:t>FACILITATION CUE</a:t>
            </a:r>
          </a:p>
          <a:p xmlns:a="http://schemas.openxmlformats.org/drawingml/2006/main">
            <a:r>
              <a:t>Ask whether reject means discard, refuse execution, send a negative acknowledgment, or all three. This reveals that choosing the subject does not by itself finish the behavior definition.</a:t>
            </a:r>
          </a:p>
          <a:p xmlns:a="http://schemas.openxmlformats.org/drawingml/2006/main">
            <a:r>
              <a:t/>
            </a:r>
          </a:p>
          <a:p xmlns:a="http://schemas.openxmlformats.org/drawingml/2006/main">
            <a:r>
              <a:t>TRANSITION</a:t>
            </a:r>
          </a:p>
          <a:p xmlns:a="http://schemas.openxmlformats.org/drawingml/2006/main">
            <a:r>
              <a:t>Once the subject is correct, the sentence still needs to distinguish obligations from facts, goals, and permissions.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Clarify the usual roles of shall, will, should, and may while emphasizing that modal consistency does not substitute for technical precision.</a:t>
            </a:r>
          </a:p>
          <a:p xmlns:a="http://schemas.openxmlformats.org/drawingml/2006/main">
            <a:r>
              <a:t/>
            </a:r>
          </a:p>
          <a:p xmlns:a="http://schemas.openxmlformats.org/drawingml/2006/main">
            <a:r>
              <a:t>SUGGESTED SCRIPT</a:t>
            </a:r>
          </a:p>
          <a:p xmlns:a="http://schemas.openxmlformats.org/drawingml/2006/main">
            <a:r>
              <a:t>Many engineering organizations use shall for a binding requirement, will for a declaration or fact, should for a recommendation or goal, and may for permission. Follow the convention in your governing process. The important point is consistency. Also notice that shall only marks a sentence as an obligation. It does not make the subject correct, the behavior measurable, or the requirement atomic. The sentence shall respond appropriately is still weak.</a:t>
            </a:r>
          </a:p>
          <a:p xmlns:a="http://schemas.openxmlformats.org/drawingml/2006/main">
            <a:r>
              <a:t/>
            </a:r>
          </a:p>
          <a:p xmlns:a="http://schemas.openxmlformats.org/drawingml/2006/main">
            <a:r>
              <a:t>FACILITATION CUE</a:t>
            </a:r>
          </a:p>
          <a:p xmlns:a="http://schemas.openxmlformats.org/drawingml/2006/main">
            <a:r>
              <a:t>If your organization uses different definitions, state them here and edit the slide later. Avoid turning this into a standards debate; the next slides address the harder technical issues.</a:t>
            </a:r>
          </a:p>
          <a:p xmlns:a="http://schemas.openxmlformats.org/drawingml/2006/main">
            <a:r>
              <a:t/>
            </a:r>
          </a:p>
          <a:p xmlns:a="http://schemas.openxmlformats.org/drawingml/2006/main">
            <a:r>
              <a:t>TRANSITION</a:t>
            </a:r>
          </a:p>
          <a:p xmlns:a="http://schemas.openxmlformats.org/drawingml/2006/main">
            <a:r>
              <a:t>The most common clarity defects come from ordinary words that hide engineering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Give reviewers a practical translation from common vague words to the specific engineering decisions they conceal.</a:t>
            </a:r>
          </a:p>
          <a:p xmlns:a="http://schemas.openxmlformats.org/drawingml/2006/main">
            <a:r>
              <a:t/>
            </a:r>
          </a:p>
          <a:p xmlns:a="http://schemas.openxmlformats.org/drawingml/2006/main">
            <a:r>
              <a:t>SUGGESTED SCRIPT</a:t>
            </a:r>
          </a:p>
          <a:p xmlns:a="http://schemas.openxmlformats.org/drawingml/2006/main">
            <a:r>
              <a:t>These words are not forbidden because they sound informal. They are risky because they hide different decisions. Quickly hides a deadline. Periodically hides an interval or trigger. As needed hides a condition or authority. Nominal hides an allowed state or range. Appropriate and adequate hide the observable response and acceptance limit. The fix is not to invent a number during wordsmithing. The fix is to identify the authoritative source and resolve the technical decision.</a:t>
            </a:r>
          </a:p>
          <a:p xmlns:a="http://schemas.openxmlformats.org/drawingml/2006/main">
            <a:r>
              <a:t/>
            </a:r>
          </a:p>
          <a:p xmlns:a="http://schemas.openxmlformats.org/drawingml/2006/main">
            <a:r>
              <a:t>FACILITATION CUE</a:t>
            </a:r>
          </a:p>
          <a:p xmlns:a="http://schemas.openxmlformats.org/drawingml/2006/main">
            <a:r>
              <a:t>Ask the team for one vague term they see often. Translate it into the question a reviewer should ask. Keep project-specific criticism anonymous.</a:t>
            </a:r>
          </a:p>
          <a:p xmlns:a="http://schemas.openxmlformats.org/drawingml/2006/main">
            <a:r>
              <a:t/>
            </a:r>
          </a:p>
          <a:p xmlns:a="http://schemas.openxmlformats.org/drawingml/2006/main">
            <a:r>
              <a:t>TRANSITION</a:t>
            </a:r>
          </a:p>
          <a:p xmlns:a="http://schemas.openxmlformats.org/drawingml/2006/main">
            <a:r>
              <a:t>Clarity controls interpretation. Atomicity controls how many obligations the sentence asks us to manage at once.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Explain atomicity as an engineering management property, not a rule that every requirement must be extremely short.</a:t>
            </a:r>
          </a:p>
          <a:p xmlns:a="http://schemas.openxmlformats.org/drawingml/2006/main">
            <a:r>
              <a:t/>
            </a:r>
          </a:p>
          <a:p xmlns:a="http://schemas.openxmlformats.org/drawingml/2006/main">
            <a:r>
              <a:t>SUGGESTED SCRIPT</a:t>
            </a:r>
          </a:p>
          <a:p xmlns:a="http://schemas.openxmlformats.org/drawingml/2006/main">
            <a:r>
              <a:t>This sentence contains detection, reporting, and response obligations. Those actions may have different conditions, timing, owners, parent traces, verification methods, and change histories. If two actions pass and one fails, the sentence does not support a clean pass/fail decision. Atomicity means one primary obligation with a coherent verification result. It does not mean we split every noun or field into a separate requirement.</a:t>
            </a:r>
          </a:p>
          <a:p xmlns:a="http://schemas.openxmlformats.org/drawingml/2006/main">
            <a:r>
              <a:t/>
            </a:r>
          </a:p>
          <a:p xmlns:a="http://schemas.openxmlformats.org/drawingml/2006/main">
            <a:r>
              <a:t>FACILITATION CUE</a:t>
            </a:r>
          </a:p>
          <a:p xmlns:a="http://schemas.openxmlformats.org/drawingml/2006/main">
            <a:r>
              <a:t>Ask which of the three actions might change independently during design or operations. That often makes the value of splitting more concrete than grammar rules do.</a:t>
            </a:r>
          </a:p>
          <a:p xmlns:a="http://schemas.openxmlformats.org/drawingml/2006/main">
            <a:r>
              <a:t/>
            </a:r>
          </a:p>
          <a:p xmlns:a="http://schemas.openxmlformats.org/drawingml/2006/main">
            <a:r>
              <a:t>TRANSITION</a:t>
            </a:r>
          </a:p>
          <a:p xmlns:a="http://schemas.openxmlformats.org/drawingml/2006/main">
            <a:r>
              <a:t>Conjunctions help us find possible compounds, but they are review signals rather than automatic defects.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Give reviewers a nuanced way to use conjunctions as prompts for inspection without banning ordinary grammar.</a:t>
            </a:r>
          </a:p>
          <a:p xmlns:a="http://schemas.openxmlformats.org/drawingml/2006/main">
            <a:r>
              <a:t/>
            </a:r>
          </a:p>
          <a:p xmlns:a="http://schemas.openxmlformats.org/drawingml/2006/main">
            <a:r>
              <a:t>SUGGESTED SCRIPT</a:t>
            </a:r>
          </a:p>
          <a:p xmlns:a="http://schemas.openxmlformats.org/drawingml/2006/main">
            <a:r>
              <a:t>Scanning for and and or is useful, but neither word automatically makes a requirement defective. The first example has one action, include, applied to a record with two required fields. The second has two actions with independent evidence and probably should be split. The third may contain acceptable condition logic, but the meaning of or and the thresholds must be explicit. The review question is whether parts can change, fail, or be verified independently.</a:t>
            </a:r>
          </a:p>
          <a:p xmlns:a="http://schemas.openxmlformats.org/drawingml/2006/main">
            <a:r>
              <a:t/>
            </a:r>
          </a:p>
          <a:p xmlns:a="http://schemas.openxmlformats.org/drawingml/2006/main">
            <a:r>
              <a:t>FACILITATION CUE</a:t>
            </a:r>
          </a:p>
          <a:p xmlns:a="http://schemas.openxmlformats.org/drawingml/2006/main">
            <a:r>
              <a:t>Ask the room to classify each example before explaining it. Emphasize that context and the verification concept decide whether a split helps.</a:t>
            </a:r>
          </a:p>
          <a:p xmlns:a="http://schemas.openxmlformats.org/drawingml/2006/main">
            <a:r>
              <a:t/>
            </a:r>
          </a:p>
          <a:p xmlns:a="http://schemas.openxmlformats.org/drawingml/2006/main">
            <a:r>
              <a:t>TRANSITION</a:t>
            </a:r>
          </a:p>
          <a:p xmlns:a="http://schemas.openxmlformats.org/drawingml/2006/main">
            <a:r>
              <a:t>We can now combine ownership, clarity, and atomicity in one writing structure.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Provide a reusable sentence pattern that combines the Session 2 concepts into one technically inspectable requirement.</a:t>
            </a:r>
          </a:p>
          <a:p xmlns:a="http://schemas.openxmlformats.org/drawingml/2006/main">
            <a:r>
              <a:t/>
            </a:r>
          </a:p>
          <a:p xmlns:a="http://schemas.openxmlformats.org/drawingml/2006/main">
            <a:r>
              <a:t>SUGGESTED SCRIPT</a:t>
            </a:r>
          </a:p>
          <a:p xmlns:a="http://schemas.openxmlformats.org/drawingml/2006/main">
            <a:r>
              <a:t>This example exposes the condition, owning software element, primary action, and measurable deadline. The condition defines valid samples, threshold, and persistence count. The owner is allocated. The primary verb is issue, so the obligation is not confused with mode-transition completion. The two-second bound makes the response verifiable. This structure is a guide, not a rigid template. Keep the elements that the behavior requires and make omissions intentional.</a:t>
            </a:r>
          </a:p>
          <a:p xmlns:a="http://schemas.openxmlformats.org/drawingml/2006/main">
            <a:r>
              <a:t/>
            </a:r>
          </a:p>
          <a:p xmlns:a="http://schemas.openxmlformats.org/drawingml/2006/main">
            <a:r>
              <a:t>FACILITATION CUE</a:t>
            </a:r>
          </a:p>
          <a:p xmlns:a="http://schemas.openxmlformats.org/drawingml/2006/main">
            <a:r>
              <a:t>Ask which clock starts the two-second deadline and whether issue means place on an interface, receive acknowledgment, or complete the transition. Those questions prepare the team for the practice slides.</a:t>
            </a:r>
          </a:p>
          <a:p xmlns:a="http://schemas.openxmlformats.org/drawingml/2006/main">
            <a:r>
              <a:t/>
            </a:r>
          </a:p>
          <a:p xmlns:a="http://schemas.openxmlformats.org/drawingml/2006/main">
            <a:r>
              <a:t>TRANSITION</a:t>
            </a:r>
          </a:p>
          <a:p xmlns:a="http://schemas.openxmlformats.org/drawingml/2006/main">
            <a:r>
              <a:t>Let us apply the model to a sentence with several hidden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Practice turning vague words into specific review questions and discourage superficial rewrites that invent missing technical intent.</a:t>
            </a:r>
          </a:p>
          <a:p xmlns:a="http://schemas.openxmlformats.org/drawingml/2006/main">
            <a:r>
              <a:t/>
            </a:r>
          </a:p>
          <a:p xmlns:a="http://schemas.openxmlformats.org/drawingml/2006/main">
            <a:r>
              <a:t>SUGGESTED SCRIPT</a:t>
            </a:r>
          </a:p>
          <a:p xmlns:a="http://schemas.openxmlformats.org/drawingml/2006/main">
            <a:r>
              <a:t>This sentence hides several decisions. Normal operations needs mode or state scope. Periodically needs a frequency or trigger. Battery state needs a defined source, validity rule, units, and range. Appropriate action needs an observable response. We should not immediately replace periodically with a convenient number. First identify which source owns the decision: operations concept, interface specification, hazard control, or parent requirement.</a:t>
            </a:r>
          </a:p>
          <a:p xmlns:a="http://schemas.openxmlformats.org/drawingml/2006/main">
            <a:r>
              <a:t/>
            </a:r>
          </a:p>
          <a:p xmlns:a="http://schemas.openxmlformats.org/drawingml/2006/main">
            <a:r>
              <a:t>FACILITATION CUE</a:t>
            </a:r>
          </a:p>
          <a:p xmlns:a="http://schemas.openxmlformats.org/drawingml/2006/main">
            <a:r>
              <a:t>Give the team one minute to identify defects. Then ask which decision must be resolved first and why. Favor answers that establish data meaning and triggering conditions before wording.</a:t>
            </a:r>
          </a:p>
          <a:p xmlns:a="http://schemas.openxmlformats.org/drawingml/2006/main">
            <a:r>
              <a:t/>
            </a:r>
          </a:p>
          <a:p xmlns:a="http://schemas.openxmlformats.org/drawingml/2006/main">
            <a:r>
              <a:t>TRANSITION</a:t>
            </a:r>
          </a:p>
          <a:p xmlns:a="http://schemas.openxmlformats.org/drawingml/2006/main">
            <a:r>
              <a:t>The next example is more specific, but it carries several independent obligations.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Practice identifying independent obligations and questioning whether the named software element has authority for every action.</a:t>
            </a:r>
          </a:p>
          <a:p xmlns:a="http://schemas.openxmlformats.org/drawingml/2006/main">
            <a:r>
              <a:t/>
            </a:r>
          </a:p>
          <a:p xmlns:a="http://schemas.openxmlformats.org/drawingml/2006/main">
            <a:r>
              <a:t>SUGGESTED SCRIPT</a:t>
            </a:r>
          </a:p>
          <a:p xmlns:a="http://schemas.openxmlformats.org/drawingml/2006/main">
            <a:r>
              <a:t>The wording is more concrete than the previous example, but it contains at least three obligations. Setting a warning, shedding loads, and entering a mode can have different owners, interfaces, timing, and verification methods. The phrase state of charge is low is also undefined. Before splitting the sentence, validate allocation: perhaps Power Management requests load shedding while another application executes it, and perhaps software requests Survival Mode rather than entering it directly.</a:t>
            </a:r>
          </a:p>
          <a:p xmlns:a="http://schemas.openxmlformats.org/drawingml/2006/main">
            <a:r>
              <a:t/>
            </a:r>
          </a:p>
          <a:p xmlns:a="http://schemas.openxmlformats.org/drawingml/2006/main">
            <a:r>
              <a:t>FACILITATION CUE</a:t>
            </a:r>
          </a:p>
          <a:p xmlns:a="http://schemas.openxmlformats.org/drawingml/2006/main">
            <a:r>
              <a:t>Ask one group member to act as developer and another as tester. Have each describe the minimum information they need. Capture differences in ownership and pass/fail evidence.</a:t>
            </a:r>
          </a:p>
          <a:p xmlns:a="http://schemas.openxmlformats.org/drawingml/2006/main">
            <a:r>
              <a:t/>
            </a:r>
          </a:p>
          <a:p xmlns:a="http://schemas.openxmlformats.org/drawingml/2006/main">
            <a:r>
              <a:t>TRANSITION</a:t>
            </a:r>
          </a:p>
          <a:p xmlns:a="http://schemas.openxmlformats.org/drawingml/2006/main">
            <a:r>
              <a:t>Now we will write from a small set of agreed facts instead of guessing at missing intent.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Provide a constrained in-session writing exercise where the technical intent is supplied, allowing the team to focus on clarity and atomicity.</a:t>
            </a:r>
          </a:p>
          <a:p xmlns:a="http://schemas.openxmlformats.org/drawingml/2006/main">
            <a:r>
              <a:t/>
            </a:r>
          </a:p>
          <a:p xmlns:a="http://schemas.openxmlformats.org/drawingml/2006/main">
            <a:r>
              <a:t>SUGGESTED SCRIPT</a:t>
            </a:r>
          </a:p>
          <a:p xmlns:a="http://schemas.openxmlformats.org/drawingml/2006/main">
            <a:r>
              <a:t>For this exercise, the technical facts are already agreed. Write one requirement that preserves all six facts. Use the correct owner, one primary action, an explicit condition, and a measurable deadline. After the first sentence is proposed, someone else should review it. The reviewer should not rewrite immediately; first identify any alternate interpretation or missing pass/fail detail.</a:t>
            </a:r>
          </a:p>
          <a:p xmlns:a="http://schemas.openxmlformats.org/drawingml/2006/main">
            <a:r>
              <a:t/>
            </a:r>
          </a:p>
          <a:p xmlns:a="http://schemas.openxmlformats.org/drawingml/2006/main">
            <a:r>
              <a:t>FACILITATION CUE</a:t>
            </a:r>
          </a:p>
          <a:p xmlns:a="http://schemas.openxmlformats.org/drawingml/2006/main">
            <a:r>
              <a:t>Allow about three minutes. Capture the exact wording. Useful review questions include whether at or below is preserved, whether the third sample starts the clock, and whether issue means request generation or confirmed receipt.</a:t>
            </a:r>
          </a:p>
          <a:p xmlns:a="http://schemas.openxmlformats.org/drawingml/2006/main">
            <a:r>
              <a:t/>
            </a:r>
          </a:p>
          <a:p xmlns:a="http://schemas.openxmlformats.org/drawingml/2006/main">
            <a:r>
              <a:t>TRANSITION</a:t>
            </a:r>
          </a:p>
          <a:p xmlns:a="http://schemas.openxmlformats.org/drawingml/2006/main">
            <a:r>
              <a:t>Here is one defensible version and the questions it still does not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Debrief the exercise with a defensible answer while showing that clarity should reveal unresolved scope rather than silently invent it.</a:t>
            </a:r>
          </a:p>
          <a:p xmlns:a="http://schemas.openxmlformats.org/drawingml/2006/main">
            <a:r>
              <a:t/>
            </a:r>
          </a:p>
          <a:p xmlns:a="http://schemas.openxmlformats.org/drawingml/2006/main">
            <a:r>
              <a:t>SUGGESTED SCRIPT</a:t>
            </a:r>
          </a:p>
          <a:p xmlns:a="http://schemas.openxmlformats.org/drawingml/2006/main">
            <a:r>
              <a:t>This version preserves the supplied facts. It names the applicable mode, valid data, threshold, persistence rule, owner, primary action, clock start, and deadline. It also reveals what the exercise did not define: hysteresis and recovery, missing or invalid samples, acknowledgment, and failed transition behavior. Those may require other requirements or explicit decisions. A strong requirement narrows interpretation without pretending to answer questions outside its approved intent.</a:t>
            </a:r>
          </a:p>
          <a:p xmlns:a="http://schemas.openxmlformats.org/drawingml/2006/main">
            <a:r>
              <a:t/>
            </a:r>
          </a:p>
          <a:p xmlns:a="http://schemas.openxmlformats.org/drawingml/2006/main">
            <a:r>
              <a:t>FACILITATION CUE</a:t>
            </a:r>
          </a:p>
          <a:p xmlns:a="http://schemas.openxmlformats.org/drawingml/2006/main">
            <a:r>
              <a:t>Compare this wording with the team's version. Treat differences as review material, not a grading exercise. Ask whether any remaining item belongs in this requirement or in a separate atomic requirement.</a:t>
            </a:r>
          </a:p>
          <a:p xmlns:a="http://schemas.openxmlformats.org/drawingml/2006/main">
            <a:r>
              <a:t/>
            </a:r>
          </a:p>
          <a:p xmlns:a="http://schemas.openxmlformats.org/drawingml/2006/main">
            <a:r>
              <a:t>TRANSITION</a:t>
            </a:r>
          </a:p>
          <a:p xmlns:a="http://schemas.openxmlformats.org/drawingml/2006/main">
            <a:r>
              <a:t>We will close with five checks that fit on the edge of a real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Close with a short pre-review checklist that participants can apply without a formal worksheet.</a:t>
            </a:r>
          </a:p>
          <a:p xmlns:a="http://schemas.openxmlformats.org/drawingml/2006/main">
            <a:r>
              <a:t/>
            </a:r>
          </a:p>
          <a:p xmlns:a="http://schemas.openxmlformats.org/drawingml/2006/main">
            <a:r>
              <a:t>SUGGESTED SCRIPT</a:t>
            </a:r>
          </a:p>
          <a:p xmlns:a="http://schemas.openxmlformats.org/drawingml/2006/main">
            <a:r>
              <a:t>Before sending a requirement to review, check five things. Is the subject the element that owns the action? Is there one primary obligation? Are conditions, terms, units, and ranges defined? Is the behavior measurable where a limit matters? Can verification produce one coherent pass/fail result? These checks do not replace the full review checklist. They remove avoidable ambiguity before review time is spent.</a:t>
            </a:r>
          </a:p>
          <a:p xmlns:a="http://schemas.openxmlformats.org/drawingml/2006/main">
            <a:r>
              <a:t/>
            </a:r>
          </a:p>
          <a:p xmlns:a="http://schemas.openxmlformats.org/drawingml/2006/main">
            <a:r>
              <a:t>FACILITATION CUE</a:t>
            </a:r>
          </a:p>
          <a:p xmlns:a="http://schemas.openxmlformats.org/drawingml/2006/main">
            <a:r>
              <a:t>Ask each participant to choose the check they will consciously use in their next review. End without assigning homework; the commitment is optional and immediate.</a:t>
            </a:r>
          </a:p>
          <a:p xmlns:a="http://schemas.openxmlformats.org/drawingml/2006/main">
            <a:r>
              <a:t/>
            </a:r>
          </a:p>
          <a:p xmlns:a="http://schemas.openxmlformats.org/drawingml/2006/main">
            <a:r>
              <a:t>TRANSITION</a:t>
            </a:r>
          </a:p>
          <a:p xmlns:a="http://schemas.openxmlformats.org/drawingml/2006/main">
            <a:r>
              <a:t>Thank the team. Session 3 will focus on making requirements verifiable through measurable behavior and appropriate verification methods.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Provide an optional facilitator-only reference for timing, discussion management, and the 45-minute fallback.</a:t>
            </a:r>
          </a:p>
          <a:p xmlns:a="http://schemas.openxmlformats.org/drawingml/2006/main">
            <a:r>
              <a:t/>
            </a:r>
          </a:p>
          <a:p xmlns:a="http://schemas.openxmlformats.org/drawingml/2006/main">
            <a:r>
              <a:t>SUGGESTED SCRIPT</a:t>
            </a:r>
          </a:p>
          <a:p xmlns:a="http://schemas.openxmlformats.org/drawingml/2006/main">
            <a:r>
              <a:t>This slide is for preparation rather than normal presentation. Protect the practice section. The most useful facilitation move is to ask what technical decision a vague word hides before anyone proposes replacement text. Encourage participants to state alternate interpretations and verification consequences. Keep examples impersonal and treat disagreement as evidence that the requirement needs more context.</a:t>
            </a:r>
          </a:p>
          <a:p xmlns:a="http://schemas.openxmlformats.org/drawingml/2006/main">
            <a:r>
              <a:t/>
            </a:r>
          </a:p>
          <a:p xmlns:a="http://schemas.openxmlformats.org/drawingml/2006/main">
            <a:r>
              <a:t>FACILITATION CUE</a:t>
            </a:r>
          </a:p>
          <a:p xmlns:a="http://schemas.openxmlformats.org/drawingml/2006/main">
            <a:r>
              <a:t>Hide this slide before presenting if desired. For 45 minutes, compress slides 3, 6, and 9; retain slides 10 through 15.</a:t>
            </a:r>
          </a:p>
          <a:p xmlns:a="http://schemas.openxmlformats.org/drawingml/2006/main">
            <a:r>
              <a:t/>
            </a:r>
          </a:p>
          <a:p xmlns:a="http://schemas.openxmlformats.org/drawingml/2006/main">
            <a:r>
              <a:t>TRANSITION</a:t>
            </a:r>
          </a:p>
          <a:p xmlns:a="http://schemas.openxmlformats.org/drawingml/2006/main">
            <a:r>
              <a:t>End of facilitator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357afcab6044d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9653de726c42b8" /><Relationship Type="http://schemas.openxmlformats.org/officeDocument/2006/relationships/slideLayout" Target="/ppt/slideLayouts/slideLayout1.xml" Id="Rf3b965904c754c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3b965904c754c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72994070cf8486e" /><Relationship Type="http://schemas.openxmlformats.org/officeDocument/2006/relationships/notesSlide" Target="/ppt/notesSlides/notesSlide1.xml" Id="R94610c02819542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60a2ef7df66466a" /><Relationship Type="http://schemas.openxmlformats.org/officeDocument/2006/relationships/notesSlide" Target="/ppt/notesSlides/notesSlide2.xml" Id="R0418c8cbfd204f6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04f75db147d4962" /><Relationship Type="http://schemas.openxmlformats.org/officeDocument/2006/relationships/notesSlide" Target="/ppt/notesSlides/notesSlide3.xml" Id="Rd20a3a30144b47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e691c855cbf4c5b" /><Relationship Type="http://schemas.openxmlformats.org/officeDocument/2006/relationships/notesSlide" Target="/ppt/notesSlides/notesSlide4.xml" Id="Re45a4072b15242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bdaca8f5f7241cc" /><Relationship Type="http://schemas.openxmlformats.org/officeDocument/2006/relationships/notesSlide" Target="/ppt/notesSlides/notesSlide5.xml" Id="R384d4f1d55724f8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bcb1cfc04554d1f" /><Relationship Type="http://schemas.openxmlformats.org/officeDocument/2006/relationships/notesSlide" Target="/ppt/notesSlides/notesSlide6.xml" Id="Rc1d01f0284c3440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18ad605055843d8" /><Relationship Type="http://schemas.openxmlformats.org/officeDocument/2006/relationships/notesSlide" Target="/ppt/notesSlides/notesSlide7.xml" Id="Rb3edc55748a54b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ce28da1ecaf41cc" /><Relationship Type="http://schemas.openxmlformats.org/officeDocument/2006/relationships/notesSlide" Target="/ppt/notesSlides/notesSlide8.xml" Id="Rf8cddcf23dd24fd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a2b408450ed4d44" /><Relationship Type="http://schemas.openxmlformats.org/officeDocument/2006/relationships/notesSlide" Target="/ppt/notesSlides/notesSlide9.xml" Id="R122c1df8d97e441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8d304c0aad24c37" /><Relationship Type="http://schemas.openxmlformats.org/officeDocument/2006/relationships/notesSlide" Target="/ppt/notesSlides/notesSlide10.xml" Id="R281758e90fae421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f05d65fd9394fc8" /><Relationship Type="http://schemas.openxmlformats.org/officeDocument/2006/relationships/notesSlide" Target="/ppt/notesSlides/notesSlide11.xml" Id="R7ea27448f64b425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a5cde8fa7204383" /><Relationship Type="http://schemas.openxmlformats.org/officeDocument/2006/relationships/notesSlide" Target="/ppt/notesSlides/notesSlide12.xml" Id="Rdebc96583c04471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5f05f4306364339" /><Relationship Type="http://schemas.openxmlformats.org/officeDocument/2006/relationships/notesSlide" Target="/ppt/notesSlides/notesSlide13.xml" Id="R04b65c473d1b442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f8dea682d61422c" /><Relationship Type="http://schemas.openxmlformats.org/officeDocument/2006/relationships/notesSlide" Target="/ppt/notesSlides/notesSlide14.xml" Id="R2febc7178e5e4a6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7d2b7b3dbb44b6f" /><Relationship Type="http://schemas.openxmlformats.org/officeDocument/2006/relationships/notesSlide" Target="/ppt/notesSlides/notesSlide15.xml" Id="Rbb9f6549a18a442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105ef0d00954fc9" /><Relationship Type="http://schemas.openxmlformats.org/officeDocument/2006/relationships/notesSlide" Target="/ppt/notesSlides/notesSlide16.xml" Id="R964707849ddd4c6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E75A191-28CA-4E99-9F53-4D772F7ECBF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821"/>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71C4A87-6880-4D46-B8E0-DBFF2DB5C62E}"/>
              </a:ext>
            </a:extLst>
          </p:cNvPr>
          <p:cNvSpPr>
            <a:spLocks xmlns:a="http://schemas.openxmlformats.org/drawingml/2006/main" noGrp="1"/>
          </p:cNvSpPr>
          <p:nvPr/>
        </p:nvSpPr>
        <p:spPr>
          <a:xfrm xmlns:a="http://schemas.openxmlformats.org/drawingml/2006/main">
            <a:off x="685800" y="857250"/>
            <a:ext cx="9525" cy="4953000"/>
          </a:xfrm>
          <a:prstGeom xmlns:a="http://schemas.openxmlformats.org/drawingml/2006/main" prst="rect">
            <a:avLst/>
          </a:prstGeom>
          <a:solidFill xmlns:a="http://schemas.openxmlformats.org/drawingml/2006/main">
            <a:srgbClr val="16333F"/>
          </a:solidFill>
          <a:ln xmlns:a="http://schemas.openxmlformats.org/drawingml/2006/main" w="9525">
            <a:solidFill>
              <a:srgbClr val="16333F"/>
            </a:solidFill>
            <a:prstDash val="solid"/>
          </a:ln>
        </p:spPr>
      </p:sp>
      <p:sp>
        <p:nvSpPr>
          <p:cNvPr id="3" name="">
            <a:extLst xmlns:a="http://schemas.openxmlformats.org/drawingml/2006/main">
              <a:ext uri="{FF2B5EF4-FFF2-40B4-BE49-F238E27FC236}">
                <a16:creationId xmlns:a16="http://schemas.microsoft.com/office/drawing/2014/main" id="{E7333B83-E4AA-4D6C-BBE1-2A906AE53664}"/>
              </a:ext>
            </a:extLst>
          </p:cNvPr>
          <p:cNvSpPr>
            <a:spLocks xmlns:a="http://schemas.openxmlformats.org/drawingml/2006/main" noGrp="1"/>
          </p:cNvSpPr>
          <p:nvPr/>
        </p:nvSpPr>
        <p:spPr>
          <a:xfrm xmlns:a="http://schemas.openxmlformats.org/drawingml/2006/main">
            <a:off x="2114550" y="857250"/>
            <a:ext cx="9525" cy="4953000"/>
          </a:xfrm>
          <a:prstGeom xmlns:a="http://schemas.openxmlformats.org/drawingml/2006/main" prst="rect">
            <a:avLst/>
          </a:prstGeom>
          <a:solidFill xmlns:a="http://schemas.openxmlformats.org/drawingml/2006/main">
            <a:srgbClr val="16333F"/>
          </a:solidFill>
          <a:ln xmlns:a="http://schemas.openxmlformats.org/drawingml/2006/main" w="9525">
            <a:solidFill>
              <a:srgbClr val="16333F"/>
            </a:solidFill>
            <a:prstDash val="solid"/>
          </a:ln>
        </p:spPr>
      </p:sp>
      <p:sp>
        <p:nvSpPr>
          <p:cNvPr id="4" name="">
            <a:extLst xmlns:a="http://schemas.openxmlformats.org/drawingml/2006/main">
              <a:ext uri="{FF2B5EF4-FFF2-40B4-BE49-F238E27FC236}">
                <a16:creationId xmlns:a16="http://schemas.microsoft.com/office/drawing/2014/main" id="{75488EE5-689F-4987-8E15-745C0D992A62}"/>
              </a:ext>
            </a:extLst>
          </p:cNvPr>
          <p:cNvSpPr>
            <a:spLocks xmlns:a="http://schemas.openxmlformats.org/drawingml/2006/main" noGrp="1"/>
          </p:cNvSpPr>
          <p:nvPr/>
        </p:nvSpPr>
        <p:spPr>
          <a:xfrm xmlns:a="http://schemas.openxmlformats.org/drawingml/2006/main">
            <a:off x="3543300" y="857250"/>
            <a:ext cx="9525" cy="4953000"/>
          </a:xfrm>
          <a:prstGeom xmlns:a="http://schemas.openxmlformats.org/drawingml/2006/main" prst="rect">
            <a:avLst/>
          </a:prstGeom>
          <a:solidFill xmlns:a="http://schemas.openxmlformats.org/drawingml/2006/main">
            <a:srgbClr val="16333F"/>
          </a:solidFill>
          <a:ln xmlns:a="http://schemas.openxmlformats.org/drawingml/2006/main" w="9525">
            <a:solidFill>
              <a:srgbClr val="16333F"/>
            </a:solidFill>
            <a:prstDash val="solid"/>
          </a:ln>
        </p:spPr>
      </p:sp>
      <p:sp>
        <p:nvSpPr>
          <p:cNvPr id="5" name="">
            <a:extLst xmlns:a="http://schemas.openxmlformats.org/drawingml/2006/main">
              <a:ext uri="{FF2B5EF4-FFF2-40B4-BE49-F238E27FC236}">
                <a16:creationId xmlns:a16="http://schemas.microsoft.com/office/drawing/2014/main" id="{C375C88B-4C4A-42F3-A7FE-AD6821916AA6}"/>
              </a:ext>
            </a:extLst>
          </p:cNvPr>
          <p:cNvSpPr>
            <a:spLocks xmlns:a="http://schemas.openxmlformats.org/drawingml/2006/main" noGrp="1"/>
          </p:cNvSpPr>
          <p:nvPr/>
        </p:nvSpPr>
        <p:spPr>
          <a:xfrm xmlns:a="http://schemas.openxmlformats.org/drawingml/2006/main">
            <a:off x="4972050" y="857250"/>
            <a:ext cx="9525" cy="4953000"/>
          </a:xfrm>
          <a:prstGeom xmlns:a="http://schemas.openxmlformats.org/drawingml/2006/main" prst="rect">
            <a:avLst/>
          </a:prstGeom>
          <a:solidFill xmlns:a="http://schemas.openxmlformats.org/drawingml/2006/main">
            <a:srgbClr val="16333F"/>
          </a:solidFill>
          <a:ln xmlns:a="http://schemas.openxmlformats.org/drawingml/2006/main" w="9525">
            <a:solidFill>
              <a:srgbClr val="16333F"/>
            </a:solidFill>
            <a:prstDash val="solid"/>
          </a:ln>
        </p:spPr>
      </p:sp>
      <p:sp>
        <p:nvSpPr>
          <p:cNvPr id="6" name="">
            <a:extLst xmlns:a="http://schemas.openxmlformats.org/drawingml/2006/main">
              <a:ext uri="{FF2B5EF4-FFF2-40B4-BE49-F238E27FC236}">
                <a16:creationId xmlns:a16="http://schemas.microsoft.com/office/drawing/2014/main" id="{C1C70A81-B29E-4E36-A3AC-67ED9360AA0D}"/>
              </a:ext>
            </a:extLst>
          </p:cNvPr>
          <p:cNvSpPr>
            <a:spLocks xmlns:a="http://schemas.openxmlformats.org/drawingml/2006/main" noGrp="1"/>
          </p:cNvSpPr>
          <p:nvPr/>
        </p:nvSpPr>
        <p:spPr>
          <a:xfrm xmlns:a="http://schemas.openxmlformats.org/drawingml/2006/main">
            <a:off x="6400800" y="857250"/>
            <a:ext cx="9525" cy="4953000"/>
          </a:xfrm>
          <a:prstGeom xmlns:a="http://schemas.openxmlformats.org/drawingml/2006/main" prst="rect">
            <a:avLst/>
          </a:prstGeom>
          <a:solidFill xmlns:a="http://schemas.openxmlformats.org/drawingml/2006/main">
            <a:srgbClr val="16333F"/>
          </a:solidFill>
          <a:ln xmlns:a="http://schemas.openxmlformats.org/drawingml/2006/main" w="9525">
            <a:solidFill>
              <a:srgbClr val="16333F"/>
            </a:solidFill>
            <a:prstDash val="solid"/>
          </a:ln>
        </p:spPr>
      </p:sp>
      <p:sp>
        <p:nvSpPr>
          <p:cNvPr id="7" name="">
            <a:extLst xmlns:a="http://schemas.openxmlformats.org/drawingml/2006/main">
              <a:ext uri="{FF2B5EF4-FFF2-40B4-BE49-F238E27FC236}">
                <a16:creationId xmlns:a16="http://schemas.microsoft.com/office/drawing/2014/main" id="{1B17EEAE-A968-466B-ABEA-F0952759F2F4}"/>
              </a:ext>
            </a:extLst>
          </p:cNvPr>
          <p:cNvSpPr>
            <a:spLocks xmlns:a="http://schemas.openxmlformats.org/drawingml/2006/main" noGrp="1"/>
          </p:cNvSpPr>
          <p:nvPr/>
        </p:nvSpPr>
        <p:spPr>
          <a:xfrm xmlns:a="http://schemas.openxmlformats.org/drawingml/2006/main">
            <a:off x="7829550" y="857250"/>
            <a:ext cx="9525" cy="4953000"/>
          </a:xfrm>
          <a:prstGeom xmlns:a="http://schemas.openxmlformats.org/drawingml/2006/main" prst="rect">
            <a:avLst/>
          </a:prstGeom>
          <a:solidFill xmlns:a="http://schemas.openxmlformats.org/drawingml/2006/main">
            <a:srgbClr val="16333F"/>
          </a:solidFill>
          <a:ln xmlns:a="http://schemas.openxmlformats.org/drawingml/2006/main" w="9525">
            <a:solidFill>
              <a:srgbClr val="16333F"/>
            </a:solidFill>
            <a:prstDash val="solid"/>
          </a:ln>
        </p:spPr>
      </p:sp>
      <p:sp>
        <p:nvSpPr>
          <p:cNvPr id="8" name="">
            <a:extLst xmlns:a="http://schemas.openxmlformats.org/drawingml/2006/main">
              <a:ext uri="{FF2B5EF4-FFF2-40B4-BE49-F238E27FC236}">
                <a16:creationId xmlns:a16="http://schemas.microsoft.com/office/drawing/2014/main" id="{D84ED40E-DB6B-402F-ADE4-FD1C2D49ABFF}"/>
              </a:ext>
            </a:extLst>
          </p:cNvPr>
          <p:cNvSpPr>
            <a:spLocks xmlns:a="http://schemas.openxmlformats.org/drawingml/2006/main" noGrp="1"/>
          </p:cNvSpPr>
          <p:nvPr/>
        </p:nvSpPr>
        <p:spPr>
          <a:xfrm xmlns:a="http://schemas.openxmlformats.org/drawingml/2006/main">
            <a:off x="9258300" y="857250"/>
            <a:ext cx="9525" cy="4953000"/>
          </a:xfrm>
          <a:prstGeom xmlns:a="http://schemas.openxmlformats.org/drawingml/2006/main" prst="rect">
            <a:avLst/>
          </a:prstGeom>
          <a:solidFill xmlns:a="http://schemas.openxmlformats.org/drawingml/2006/main">
            <a:srgbClr val="16333F"/>
          </a:solidFill>
          <a:ln xmlns:a="http://schemas.openxmlformats.org/drawingml/2006/main" w="9525">
            <a:solidFill>
              <a:srgbClr val="16333F"/>
            </a:solidFill>
            <a:prstDash val="solid"/>
          </a:ln>
        </p:spPr>
      </p:sp>
      <p:sp>
        <p:nvSpPr>
          <p:cNvPr id="9" name="">
            <a:extLst xmlns:a="http://schemas.openxmlformats.org/drawingml/2006/main">
              <a:ext uri="{FF2B5EF4-FFF2-40B4-BE49-F238E27FC236}">
                <a16:creationId xmlns:a16="http://schemas.microsoft.com/office/drawing/2014/main" id="{96A91A20-D819-4CFE-8A9B-1EC5B3AB943B}"/>
              </a:ext>
            </a:extLst>
          </p:cNvPr>
          <p:cNvSpPr>
            <a:spLocks xmlns:a="http://schemas.openxmlformats.org/drawingml/2006/main" noGrp="1"/>
          </p:cNvSpPr>
          <p:nvPr/>
        </p:nvSpPr>
        <p:spPr>
          <a:xfrm xmlns:a="http://schemas.openxmlformats.org/drawingml/2006/main">
            <a:off x="10687050" y="857250"/>
            <a:ext cx="9525" cy="4953000"/>
          </a:xfrm>
          <a:prstGeom xmlns:a="http://schemas.openxmlformats.org/drawingml/2006/main" prst="rect">
            <a:avLst/>
          </a:prstGeom>
          <a:solidFill xmlns:a="http://schemas.openxmlformats.org/drawingml/2006/main">
            <a:srgbClr val="16333F"/>
          </a:solidFill>
          <a:ln xmlns:a="http://schemas.openxmlformats.org/drawingml/2006/main" w="9525">
            <a:solidFill>
              <a:srgbClr val="16333F"/>
            </a:solidFill>
            <a:prstDash val="solid"/>
          </a:ln>
        </p:spPr>
      </p:sp>
      <p:sp>
        <p:nvSpPr>
          <p:cNvPr id="10" name="">
            <a:extLst xmlns:a="http://schemas.openxmlformats.org/drawingml/2006/main">
              <a:ext uri="{FF2B5EF4-FFF2-40B4-BE49-F238E27FC236}">
                <a16:creationId xmlns:a16="http://schemas.microsoft.com/office/drawing/2014/main" id="{B4A6E347-D085-4683-8A5C-6E89224ED1A0}"/>
              </a:ext>
            </a:extLst>
          </p:cNvPr>
          <p:cNvSpPr>
            <a:spLocks xmlns:a="http://schemas.openxmlformats.org/drawingml/2006/main" noGrp="1"/>
          </p:cNvSpPr>
          <p:nvPr/>
        </p:nvSpPr>
        <p:spPr>
          <a:xfrm xmlns:a="http://schemas.openxmlformats.org/drawingml/2006/main">
            <a:off x="685800" y="1333500"/>
            <a:ext cx="10287000" cy="9525"/>
          </a:xfrm>
          <a:prstGeom xmlns:a="http://schemas.openxmlformats.org/drawingml/2006/main" prst="rect">
            <a:avLst/>
          </a:prstGeom>
          <a:solidFill xmlns:a="http://schemas.openxmlformats.org/drawingml/2006/main">
            <a:srgbClr val="16333F"/>
          </a:solidFill>
          <a:ln xmlns:a="http://schemas.openxmlformats.org/drawingml/2006/main" w="9525">
            <a:solidFill>
              <a:srgbClr val="16333F"/>
            </a:solidFill>
            <a:prstDash val="solid"/>
          </a:ln>
        </p:spPr>
      </p:sp>
      <p:sp>
        <p:nvSpPr>
          <p:cNvPr id="11" name="">
            <a:extLst xmlns:a="http://schemas.openxmlformats.org/drawingml/2006/main">
              <a:ext uri="{FF2B5EF4-FFF2-40B4-BE49-F238E27FC236}">
                <a16:creationId xmlns:a16="http://schemas.microsoft.com/office/drawing/2014/main" id="{C16FF73E-2E4D-42A0-9698-AB79668C1A55}"/>
              </a:ext>
            </a:extLst>
          </p:cNvPr>
          <p:cNvSpPr>
            <a:spLocks xmlns:a="http://schemas.openxmlformats.org/drawingml/2006/main" noGrp="1"/>
          </p:cNvSpPr>
          <p:nvPr/>
        </p:nvSpPr>
        <p:spPr>
          <a:xfrm xmlns:a="http://schemas.openxmlformats.org/drawingml/2006/main">
            <a:off x="685800" y="2286000"/>
            <a:ext cx="10287000" cy="9525"/>
          </a:xfrm>
          <a:prstGeom xmlns:a="http://schemas.openxmlformats.org/drawingml/2006/main" prst="rect">
            <a:avLst/>
          </a:prstGeom>
          <a:solidFill xmlns:a="http://schemas.openxmlformats.org/drawingml/2006/main">
            <a:srgbClr val="16333F"/>
          </a:solidFill>
          <a:ln xmlns:a="http://schemas.openxmlformats.org/drawingml/2006/main" w="9525">
            <a:solidFill>
              <a:srgbClr val="16333F"/>
            </a:solidFill>
            <a:prstDash val="solid"/>
          </a:ln>
        </p:spPr>
      </p:sp>
      <p:sp>
        <p:nvSpPr>
          <p:cNvPr id="12" name="">
            <a:extLst xmlns:a="http://schemas.openxmlformats.org/drawingml/2006/main">
              <a:ext uri="{FF2B5EF4-FFF2-40B4-BE49-F238E27FC236}">
                <a16:creationId xmlns:a16="http://schemas.microsoft.com/office/drawing/2014/main" id="{1BF14145-6FDA-4FC9-9EB4-AC6D5CA8E65E}"/>
              </a:ext>
            </a:extLst>
          </p:cNvPr>
          <p:cNvSpPr>
            <a:spLocks xmlns:a="http://schemas.openxmlformats.org/drawingml/2006/main" noGrp="1"/>
          </p:cNvSpPr>
          <p:nvPr/>
        </p:nvSpPr>
        <p:spPr>
          <a:xfrm xmlns:a="http://schemas.openxmlformats.org/drawingml/2006/main">
            <a:off x="685800" y="3238500"/>
            <a:ext cx="10287000" cy="9525"/>
          </a:xfrm>
          <a:prstGeom xmlns:a="http://schemas.openxmlformats.org/drawingml/2006/main" prst="rect">
            <a:avLst/>
          </a:prstGeom>
          <a:solidFill xmlns:a="http://schemas.openxmlformats.org/drawingml/2006/main">
            <a:srgbClr val="16333F"/>
          </a:solidFill>
          <a:ln xmlns:a="http://schemas.openxmlformats.org/drawingml/2006/main" w="9525">
            <a:solidFill>
              <a:srgbClr val="16333F"/>
            </a:solidFill>
            <a:prstDash val="solid"/>
          </a:ln>
        </p:spPr>
      </p:sp>
      <p:sp>
        <p:nvSpPr>
          <p:cNvPr id="13" name="">
            <a:extLst xmlns:a="http://schemas.openxmlformats.org/drawingml/2006/main">
              <a:ext uri="{FF2B5EF4-FFF2-40B4-BE49-F238E27FC236}">
                <a16:creationId xmlns:a16="http://schemas.microsoft.com/office/drawing/2014/main" id="{7269BA94-6047-4F43-B028-746282B19146}"/>
              </a:ext>
            </a:extLst>
          </p:cNvPr>
          <p:cNvSpPr>
            <a:spLocks xmlns:a="http://schemas.openxmlformats.org/drawingml/2006/main" noGrp="1"/>
          </p:cNvSpPr>
          <p:nvPr/>
        </p:nvSpPr>
        <p:spPr>
          <a:xfrm xmlns:a="http://schemas.openxmlformats.org/drawingml/2006/main">
            <a:off x="685800" y="4191000"/>
            <a:ext cx="10287000" cy="9525"/>
          </a:xfrm>
          <a:prstGeom xmlns:a="http://schemas.openxmlformats.org/drawingml/2006/main" prst="rect">
            <a:avLst/>
          </a:prstGeom>
          <a:solidFill xmlns:a="http://schemas.openxmlformats.org/drawingml/2006/main">
            <a:srgbClr val="16333F"/>
          </a:solidFill>
          <a:ln xmlns:a="http://schemas.openxmlformats.org/drawingml/2006/main" w="9525">
            <a:solidFill>
              <a:srgbClr val="16333F"/>
            </a:solidFill>
            <a:prstDash val="solid"/>
          </a:ln>
        </p:spPr>
      </p:sp>
      <p:sp>
        <p:nvSpPr>
          <p:cNvPr id="14" name="">
            <a:extLst xmlns:a="http://schemas.openxmlformats.org/drawingml/2006/main">
              <a:ext uri="{FF2B5EF4-FFF2-40B4-BE49-F238E27FC236}">
                <a16:creationId xmlns:a16="http://schemas.microsoft.com/office/drawing/2014/main" id="{3C9293D3-1BBA-4D47-8548-CC03042B0FA5}"/>
              </a:ext>
            </a:extLst>
          </p:cNvPr>
          <p:cNvSpPr>
            <a:spLocks xmlns:a="http://schemas.openxmlformats.org/drawingml/2006/main" noGrp="1"/>
          </p:cNvSpPr>
          <p:nvPr/>
        </p:nvSpPr>
        <p:spPr>
          <a:xfrm xmlns:a="http://schemas.openxmlformats.org/drawingml/2006/main">
            <a:off x="685800" y="5143500"/>
            <a:ext cx="10287000" cy="9525"/>
          </a:xfrm>
          <a:prstGeom xmlns:a="http://schemas.openxmlformats.org/drawingml/2006/main" prst="rect">
            <a:avLst/>
          </a:prstGeom>
          <a:solidFill xmlns:a="http://schemas.openxmlformats.org/drawingml/2006/main">
            <a:srgbClr val="16333F"/>
          </a:solidFill>
          <a:ln xmlns:a="http://schemas.openxmlformats.org/drawingml/2006/main" w="9525">
            <a:solidFill>
              <a:srgbClr val="16333F"/>
            </a:solidFill>
            <a:prstDash val="solid"/>
          </a:ln>
        </p:spPr>
      </p:sp>
      <p:sp>
        <p:nvSpPr>
          <p:cNvPr id="15" name="">
            <a:extLst xmlns:a="http://schemas.openxmlformats.org/drawingml/2006/main">
              <a:ext uri="{FF2B5EF4-FFF2-40B4-BE49-F238E27FC236}">
                <a16:creationId xmlns:a16="http://schemas.microsoft.com/office/drawing/2014/main" id="{81815F94-7919-41FE-9C0C-A64C90A207D8}"/>
              </a:ext>
            </a:extLst>
          </p:cNvPr>
          <p:cNvSpPr>
            <a:spLocks xmlns:a="http://schemas.openxmlformats.org/drawingml/2006/main" noGrp="1"/>
          </p:cNvSpPr>
          <p:nvPr/>
        </p:nvSpPr>
        <p:spPr>
          <a:xfrm xmlns:a="http://schemas.openxmlformats.org/drawingml/2006/main">
            <a:off x="685800" y="533400"/>
            <a:ext cx="2514600" cy="285750"/>
          </a:xfrm>
          <a:prstGeom xmlns:a="http://schemas.openxmlformats.org/drawingml/2006/main" prst="roundRect">
            <a:avLst>
              <a:gd name="adj" fmla="val 26667"/>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2A63FD9C-E771-4286-9991-6E74CD84B409}"/>
              </a:ext>
            </a:extLst>
          </p:cNvPr>
          <p:cNvSpPr>
            <a:spLocks xmlns:a="http://schemas.openxmlformats.org/drawingml/2006/main" noGrp="1"/>
          </p:cNvSpPr>
          <p:nvPr/>
        </p:nvSpPr>
        <p:spPr>
          <a:xfrm xmlns:a="http://schemas.openxmlformats.org/drawingml/2006/main">
            <a:off x="781050" y="581025"/>
            <a:ext cx="2324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071821"/>
                </a:solidFill>
                <a:latin typeface="Aptos"/>
                <a:ea typeface="Aptos"/>
                <a:cs typeface="Aptos"/>
              </a:defRPr>
            </a:pPr>
            <a:r>
              <a:rPr sz="900" b="1">
                <a:solidFill>
                  <a:srgbClr val="071821"/>
                </a:solidFill>
                <a:latin typeface="Aptos"/>
                <a:ea typeface="Aptos"/>
                <a:cs typeface="Aptos"/>
              </a:rPr>
              <a:t>BROWNBAG SERIES / SESSION 2</a:t>
            </a:r>
          </a:p>
        </p:txBody>
      </p:sp>
      <p:sp>
        <p:nvSpPr>
          <p:cNvPr id="17" name="">
            <a:extLst xmlns:a="http://schemas.openxmlformats.org/drawingml/2006/main">
              <a:ext uri="{FF2B5EF4-FFF2-40B4-BE49-F238E27FC236}">
                <a16:creationId xmlns:a16="http://schemas.microsoft.com/office/drawing/2014/main" id="{3B6C5F08-BBC9-4A2E-97C1-76300C375320}"/>
              </a:ext>
            </a:extLst>
          </p:cNvPr>
          <p:cNvSpPr>
            <a:spLocks xmlns:a="http://schemas.openxmlformats.org/drawingml/2006/main" noGrp="1"/>
          </p:cNvSpPr>
          <p:nvPr/>
        </p:nvSpPr>
        <p:spPr>
          <a:xfrm xmlns:a="http://schemas.openxmlformats.org/drawingml/2006/main">
            <a:off x="685800" y="1466850"/>
            <a:ext cx="6858000" cy="1619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3900" b="1">
                <a:solidFill>
                  <a:srgbClr val="FFFFFF"/>
                </a:solidFill>
                <a:latin typeface="Aptos Display"/>
                <a:ea typeface="Aptos Display"/>
                <a:cs typeface="Aptos Display"/>
              </a:defRPr>
            </a:pPr>
            <a:r>
              <a:rPr sz="3900" b="1">
                <a:solidFill>
                  <a:srgbClr val="FFFFFF"/>
                </a:solidFill>
                <a:latin typeface="Aptos Display"/>
                <a:ea typeface="Aptos Display"/>
                <a:cs typeface="Aptos Display"/>
              </a:rPr>
              <a:t>Clear requirements make</a:t>
            </a:r>
          </a:p>
          <a:p xmlns:a="http://schemas.openxmlformats.org/drawingml/2006/main">
            <a:pPr algn="l">
              <a:defRPr sz="3900" b="1">
                <a:solidFill>
                  <a:srgbClr val="FFFFFF"/>
                </a:solidFill>
                <a:latin typeface="Aptos Display"/>
                <a:ea typeface="Aptos Display"/>
                <a:cs typeface="Aptos Display"/>
              </a:defRPr>
            </a:pPr>
            <a:r>
              <a:rPr sz="3900" b="1">
                <a:solidFill>
                  <a:srgbClr val="FFFFFF"/>
                </a:solidFill>
                <a:latin typeface="Aptos Display"/>
                <a:ea typeface="Aptos Display"/>
                <a:cs typeface="Aptos Display"/>
              </a:rPr>
              <a:t>disagreement visible.</a:t>
            </a:r>
          </a:p>
        </p:txBody>
      </p:sp>
      <p:sp>
        <p:nvSpPr>
          <p:cNvPr id="18" name="">
            <a:extLst xmlns:a="http://schemas.openxmlformats.org/drawingml/2006/main">
              <a:ext uri="{FF2B5EF4-FFF2-40B4-BE49-F238E27FC236}">
                <a16:creationId xmlns:a16="http://schemas.microsoft.com/office/drawing/2014/main" id="{BC1C8D2E-E6FB-46E6-91AD-9D5AF66F6E26}"/>
              </a:ext>
            </a:extLst>
          </p:cNvPr>
          <p:cNvSpPr>
            <a:spLocks xmlns:a="http://schemas.openxmlformats.org/drawingml/2006/main" noGrp="1"/>
          </p:cNvSpPr>
          <p:nvPr/>
        </p:nvSpPr>
        <p:spPr>
          <a:xfrm xmlns:a="http://schemas.openxmlformats.org/drawingml/2006/main">
            <a:off x="723900" y="3333750"/>
            <a:ext cx="6477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BCEAF0"/>
                </a:solidFill>
                <a:latin typeface="Aptos"/>
                <a:ea typeface="Aptos"/>
                <a:cs typeface="Aptos"/>
              </a:defRPr>
            </a:pPr>
            <a:r>
              <a:rPr sz="1725" b="0">
                <a:solidFill>
                  <a:srgbClr val="BCEAF0"/>
                </a:solidFill>
                <a:latin typeface="Aptos"/>
                <a:ea typeface="Aptos"/>
                <a:cs typeface="Aptos"/>
              </a:rPr>
              <a:t>Writing clear, atomic flight-software requirements</a:t>
            </a:r>
          </a:p>
        </p:txBody>
      </p:sp>
      <p:sp>
        <p:nvSpPr>
          <p:cNvPr id="19" name="">
            <a:extLst xmlns:a="http://schemas.openxmlformats.org/drawingml/2006/main">
              <a:ext uri="{FF2B5EF4-FFF2-40B4-BE49-F238E27FC236}">
                <a16:creationId xmlns:a16="http://schemas.microsoft.com/office/drawing/2014/main" id="{2D3AE0A5-FE11-4EA2-AF62-38AEA35ACDE1}"/>
              </a:ext>
            </a:extLst>
          </p:cNvPr>
          <p:cNvSpPr>
            <a:spLocks xmlns:a="http://schemas.openxmlformats.org/drawingml/2006/main" noGrp="1"/>
          </p:cNvSpPr>
          <p:nvPr/>
        </p:nvSpPr>
        <p:spPr>
          <a:xfrm xmlns:a="http://schemas.openxmlformats.org/drawingml/2006/main">
            <a:off x="723900" y="3867150"/>
            <a:ext cx="6191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C9D8DC"/>
                </a:solidFill>
                <a:latin typeface="Aptos"/>
                <a:ea typeface="Aptos"/>
                <a:cs typeface="Aptos"/>
              </a:defRPr>
            </a:pPr>
            <a:r>
              <a:rPr sz="1125" b="1">
                <a:solidFill>
                  <a:srgbClr val="C9D8DC"/>
                </a:solidFill>
                <a:latin typeface="Aptos"/>
                <a:ea typeface="Aptos"/>
                <a:cs typeface="Aptos"/>
              </a:rPr>
              <a:t>45-60 minutes  |  no preparation  |  discussion-driven</a:t>
            </a:r>
          </a:p>
        </p:txBody>
      </p:sp>
      <p:sp>
        <p:nvSpPr>
          <p:cNvPr id="20" name="">
            <a:extLst xmlns:a="http://schemas.openxmlformats.org/drawingml/2006/main">
              <a:ext uri="{FF2B5EF4-FFF2-40B4-BE49-F238E27FC236}">
                <a16:creationId xmlns:a16="http://schemas.microsoft.com/office/drawing/2014/main" id="{5655D94B-6CF8-4E92-93F9-377AEA60C746}"/>
              </a:ext>
            </a:extLst>
          </p:cNvPr>
          <p:cNvSpPr>
            <a:spLocks xmlns:a="http://schemas.openxmlformats.org/drawingml/2006/main" noGrp="1"/>
          </p:cNvSpPr>
          <p:nvPr/>
        </p:nvSpPr>
        <p:spPr>
          <a:xfrm xmlns:a="http://schemas.openxmlformats.org/drawingml/2006/main">
            <a:off x="8001000" y="1466850"/>
            <a:ext cx="3048000" cy="3143250"/>
          </a:xfrm>
          <a:prstGeom xmlns:a="http://schemas.openxmlformats.org/drawingml/2006/main" prst="roundRect">
            <a:avLst>
              <a:gd name="adj" fmla="val 2500"/>
            </a:avLst>
          </a:prstGeom>
          <a:solidFill xmlns:a="http://schemas.openxmlformats.org/drawingml/2006/main">
            <a:srgbClr val="102A36"/>
          </a:solidFill>
          <a:ln xmlns:a="http://schemas.openxmlformats.org/drawingml/2006/main" w="9525">
            <a:solidFill>
              <a:srgbClr val="46616F"/>
            </a:solidFill>
            <a:prstDash val="solid"/>
          </a:ln>
        </p:spPr>
      </p:sp>
      <p:sp>
        <p:nvSpPr>
          <p:cNvPr id="21" name="">
            <a:extLst xmlns:a="http://schemas.openxmlformats.org/drawingml/2006/main">
              <a:ext uri="{FF2B5EF4-FFF2-40B4-BE49-F238E27FC236}">
                <a16:creationId xmlns:a16="http://schemas.microsoft.com/office/drawing/2014/main" id="{925C743E-2B2A-459B-89E5-8D4FDB6F5A5C}"/>
              </a:ext>
            </a:extLst>
          </p:cNvPr>
          <p:cNvSpPr>
            <a:spLocks xmlns:a="http://schemas.openxmlformats.org/drawingml/2006/main" noGrp="1"/>
          </p:cNvSpPr>
          <p:nvPr/>
        </p:nvSpPr>
        <p:spPr>
          <a:xfrm xmlns:a="http://schemas.openxmlformats.org/drawingml/2006/main">
            <a:off x="8477250" y="1752600"/>
            <a:ext cx="2095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C9D8DC"/>
                </a:solidFill>
                <a:latin typeface="Aptos"/>
                <a:ea typeface="Aptos"/>
                <a:cs typeface="Aptos"/>
              </a:defRPr>
            </a:pPr>
            <a:r>
              <a:rPr sz="975" b="1">
                <a:solidFill>
                  <a:srgbClr val="C9D8DC"/>
                </a:solidFill>
                <a:latin typeface="Aptos"/>
                <a:ea typeface="Aptos"/>
                <a:cs typeface="Aptos"/>
              </a:rPr>
              <a:t>ONE SENTENCE</a:t>
            </a:r>
          </a:p>
        </p:txBody>
      </p:sp>
      <p:sp>
        <p:nvSpPr>
          <p:cNvPr id="22" name="">
            <a:extLst xmlns:a="http://schemas.openxmlformats.org/drawingml/2006/main">
              <a:ext uri="{FF2B5EF4-FFF2-40B4-BE49-F238E27FC236}">
                <a16:creationId xmlns:a16="http://schemas.microsoft.com/office/drawing/2014/main" id="{201AF75C-3322-4298-B652-54CE30B07B07}"/>
              </a:ext>
            </a:extLst>
          </p:cNvPr>
          <p:cNvSpPr>
            <a:spLocks xmlns:a="http://schemas.openxmlformats.org/drawingml/2006/main" noGrp="1"/>
          </p:cNvSpPr>
          <p:nvPr/>
        </p:nvSpPr>
        <p:spPr>
          <a:xfrm xmlns:a="http://schemas.openxmlformats.org/drawingml/2006/main">
            <a:off x="8591550" y="2266950"/>
            <a:ext cx="1866900" cy="438150"/>
          </a:xfrm>
          <a:prstGeom xmlns:a="http://schemas.openxmlformats.org/drawingml/2006/main" prst="roundRect">
            <a:avLst>
              <a:gd name="adj" fmla="val 17391"/>
            </a:avLst>
          </a:prstGeom>
          <a:solidFill xmlns:a="http://schemas.openxmlformats.org/drawingml/2006/main">
            <a:srgbClr val="FFE0B8"/>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67B0F06D-A50E-4EDE-8C2B-A82FB79C7901}"/>
              </a:ext>
            </a:extLst>
          </p:cNvPr>
          <p:cNvSpPr>
            <a:spLocks xmlns:a="http://schemas.openxmlformats.org/drawingml/2006/main" noGrp="1"/>
          </p:cNvSpPr>
          <p:nvPr/>
        </p:nvSpPr>
        <p:spPr>
          <a:xfrm xmlns:a="http://schemas.openxmlformats.org/drawingml/2006/main">
            <a:off x="8763000" y="236220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071821"/>
                </a:solidFill>
                <a:latin typeface="Aptos"/>
                <a:ea typeface="Aptos"/>
                <a:cs typeface="Aptos"/>
              </a:defRPr>
            </a:pPr>
            <a:r>
              <a:rPr sz="1275" b="1">
                <a:solidFill>
                  <a:srgbClr val="071821"/>
                </a:solidFill>
                <a:latin typeface="Aptos"/>
                <a:ea typeface="Aptos"/>
                <a:cs typeface="Aptos"/>
              </a:rPr>
              <a:t>periodically</a:t>
            </a:r>
          </a:p>
        </p:txBody>
      </p:sp>
      <p:sp>
        <p:nvSpPr>
          <p:cNvPr id="24" name="">
            <a:extLst xmlns:a="http://schemas.openxmlformats.org/drawingml/2006/main">
              <a:ext uri="{FF2B5EF4-FFF2-40B4-BE49-F238E27FC236}">
                <a16:creationId xmlns:a16="http://schemas.microsoft.com/office/drawing/2014/main" id="{799A9385-1B4F-4848-8B80-D54DB0E09AD9}"/>
              </a:ext>
            </a:extLst>
          </p:cNvPr>
          <p:cNvSpPr>
            <a:spLocks xmlns:a="http://schemas.openxmlformats.org/drawingml/2006/main" noGrp="1"/>
          </p:cNvSpPr>
          <p:nvPr/>
        </p:nvSpPr>
        <p:spPr>
          <a:xfrm xmlns:a="http://schemas.openxmlformats.org/drawingml/2006/main">
            <a:off x="9525000" y="2762250"/>
            <a:ext cx="19050" cy="361950"/>
          </a:xfrm>
          <a:prstGeom xmlns:a="http://schemas.openxmlformats.org/drawingml/2006/main" prst="rect">
            <a:avLst/>
          </a:prstGeom>
          <a:solidFill xmlns:a="http://schemas.openxmlformats.org/drawingml/2006/main">
            <a:srgbClr val="FF9F43"/>
          </a:solidFill>
          <a:ln xmlns:a="http://schemas.openxmlformats.org/drawingml/2006/main" w="19050">
            <a:solidFill>
              <a:srgbClr val="FF9F43"/>
            </a:solidFill>
            <a:prstDash val="solid"/>
          </a:ln>
        </p:spPr>
      </p:sp>
      <p:sp>
        <p:nvSpPr>
          <p:cNvPr id="25" name="">
            <a:extLst xmlns:a="http://schemas.openxmlformats.org/drawingml/2006/main">
              <a:ext uri="{FF2B5EF4-FFF2-40B4-BE49-F238E27FC236}">
                <a16:creationId xmlns:a16="http://schemas.microsoft.com/office/drawing/2014/main" id="{00A92EB6-C270-4C8B-A1DB-32BC16394DB5}"/>
              </a:ext>
            </a:extLst>
          </p:cNvPr>
          <p:cNvSpPr>
            <a:spLocks xmlns:a="http://schemas.openxmlformats.org/drawingml/2006/main" noGrp="1"/>
          </p:cNvSpPr>
          <p:nvPr/>
        </p:nvSpPr>
        <p:spPr>
          <a:xfrm xmlns:a="http://schemas.openxmlformats.org/drawingml/2006/main">
            <a:off x="8286750" y="3238500"/>
            <a:ext cx="723900" cy="819150"/>
          </a:xfrm>
          <a:prstGeom xmlns:a="http://schemas.openxmlformats.org/drawingml/2006/main" prst="roundRect">
            <a:avLst>
              <a:gd name="adj" fmla="val 10526"/>
            </a:avLst>
          </a:prstGeom>
          <a:solidFill xmlns:a="http://schemas.openxmlformats.org/drawingml/2006/main">
            <a:srgbClr val="071821"/>
          </a:solidFill>
          <a:ln xmlns:a="http://schemas.openxmlformats.org/drawingml/2006/main" w="9525">
            <a:solidFill>
              <a:srgbClr val="46616F"/>
            </a:solidFill>
            <a:prstDash val="solid"/>
          </a:ln>
        </p:spPr>
      </p:sp>
      <p:sp>
        <p:nvSpPr>
          <p:cNvPr id="26" name="">
            <a:extLst xmlns:a="http://schemas.openxmlformats.org/drawingml/2006/main">
              <a:ext uri="{FF2B5EF4-FFF2-40B4-BE49-F238E27FC236}">
                <a16:creationId xmlns:a16="http://schemas.microsoft.com/office/drawing/2014/main" id="{621C1B7B-788B-4E9D-A904-66D1C8D5D6AF}"/>
              </a:ext>
            </a:extLst>
          </p:cNvPr>
          <p:cNvSpPr>
            <a:spLocks xmlns:a="http://schemas.openxmlformats.org/drawingml/2006/main" noGrp="1"/>
          </p:cNvSpPr>
          <p:nvPr/>
        </p:nvSpPr>
        <p:spPr>
          <a:xfrm xmlns:a="http://schemas.openxmlformats.org/drawingml/2006/main">
            <a:off x="8362950" y="3371850"/>
            <a:ext cx="57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2EC4D6"/>
                </a:solidFill>
                <a:latin typeface="Aptos"/>
                <a:ea typeface="Aptos"/>
                <a:cs typeface="Aptos"/>
              </a:defRPr>
            </a:pPr>
            <a:r>
              <a:rPr sz="825" b="1">
                <a:solidFill>
                  <a:srgbClr val="2EC4D6"/>
                </a:solidFill>
                <a:latin typeface="Aptos"/>
                <a:ea typeface="Aptos"/>
                <a:cs typeface="Aptos"/>
              </a:rPr>
              <a:t>DEV</a:t>
            </a:r>
          </a:p>
        </p:txBody>
      </p:sp>
      <p:sp>
        <p:nvSpPr>
          <p:cNvPr id="27" name="">
            <a:extLst xmlns:a="http://schemas.openxmlformats.org/drawingml/2006/main">
              <a:ext uri="{FF2B5EF4-FFF2-40B4-BE49-F238E27FC236}">
                <a16:creationId xmlns:a16="http://schemas.microsoft.com/office/drawing/2014/main" id="{04090CDF-1C66-4E47-A14E-E705704E87A3}"/>
              </a:ext>
            </a:extLst>
          </p:cNvPr>
          <p:cNvSpPr>
            <a:spLocks xmlns:a="http://schemas.openxmlformats.org/drawingml/2006/main" noGrp="1"/>
          </p:cNvSpPr>
          <p:nvPr/>
        </p:nvSpPr>
        <p:spPr>
          <a:xfrm xmlns:a="http://schemas.openxmlformats.org/drawingml/2006/main">
            <a:off x="8362950" y="3638550"/>
            <a:ext cx="57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FFFFFF"/>
                </a:solidFill>
                <a:latin typeface="Aptos"/>
                <a:ea typeface="Aptos"/>
                <a:cs typeface="Aptos"/>
              </a:defRPr>
            </a:pPr>
            <a:r>
              <a:rPr sz="900" b="0">
                <a:solidFill>
                  <a:srgbClr val="FFFFFF"/>
                </a:solidFill>
                <a:latin typeface="Aptos"/>
                <a:ea typeface="Aptos"/>
                <a:cs typeface="Aptos"/>
              </a:rPr>
              <a:t>every cycle</a:t>
            </a:r>
          </a:p>
        </p:txBody>
      </p:sp>
      <p:sp>
        <p:nvSpPr>
          <p:cNvPr id="28" name="">
            <a:extLst xmlns:a="http://schemas.openxmlformats.org/drawingml/2006/main">
              <a:ext uri="{FF2B5EF4-FFF2-40B4-BE49-F238E27FC236}">
                <a16:creationId xmlns:a16="http://schemas.microsoft.com/office/drawing/2014/main" id="{FD28D2B9-AE9B-4E5F-906C-C912D324977A}"/>
              </a:ext>
            </a:extLst>
          </p:cNvPr>
          <p:cNvSpPr>
            <a:spLocks xmlns:a="http://schemas.openxmlformats.org/drawingml/2006/main" noGrp="1"/>
          </p:cNvSpPr>
          <p:nvPr/>
        </p:nvSpPr>
        <p:spPr>
          <a:xfrm xmlns:a="http://schemas.openxmlformats.org/drawingml/2006/main">
            <a:off x="9105900" y="3238500"/>
            <a:ext cx="723900" cy="819150"/>
          </a:xfrm>
          <a:prstGeom xmlns:a="http://schemas.openxmlformats.org/drawingml/2006/main" prst="roundRect">
            <a:avLst>
              <a:gd name="adj" fmla="val 10526"/>
            </a:avLst>
          </a:prstGeom>
          <a:solidFill xmlns:a="http://schemas.openxmlformats.org/drawingml/2006/main">
            <a:srgbClr val="071821"/>
          </a:solidFill>
          <a:ln xmlns:a="http://schemas.openxmlformats.org/drawingml/2006/main" w="9525">
            <a:solidFill>
              <a:srgbClr val="46616F"/>
            </a:solidFill>
            <a:prstDash val="solid"/>
          </a:ln>
        </p:spPr>
      </p:sp>
      <p:sp>
        <p:nvSpPr>
          <p:cNvPr id="29" name="">
            <a:extLst xmlns:a="http://schemas.openxmlformats.org/drawingml/2006/main">
              <a:ext uri="{FF2B5EF4-FFF2-40B4-BE49-F238E27FC236}">
                <a16:creationId xmlns:a16="http://schemas.microsoft.com/office/drawing/2014/main" id="{8BDA192A-2F7F-498C-81A3-894FCF3F4D25}"/>
              </a:ext>
            </a:extLst>
          </p:cNvPr>
          <p:cNvSpPr>
            <a:spLocks xmlns:a="http://schemas.openxmlformats.org/drawingml/2006/main" noGrp="1"/>
          </p:cNvSpPr>
          <p:nvPr/>
        </p:nvSpPr>
        <p:spPr>
          <a:xfrm xmlns:a="http://schemas.openxmlformats.org/drawingml/2006/main">
            <a:off x="9182100" y="3371850"/>
            <a:ext cx="57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2EC4D6"/>
                </a:solidFill>
                <a:latin typeface="Aptos"/>
                <a:ea typeface="Aptos"/>
                <a:cs typeface="Aptos"/>
              </a:defRPr>
            </a:pPr>
            <a:r>
              <a:rPr sz="825" b="1">
                <a:solidFill>
                  <a:srgbClr val="2EC4D6"/>
                </a:solidFill>
                <a:latin typeface="Aptos"/>
                <a:ea typeface="Aptos"/>
                <a:cs typeface="Aptos"/>
              </a:rPr>
              <a:t>TEST</a:t>
            </a:r>
          </a:p>
        </p:txBody>
      </p:sp>
      <p:sp>
        <p:nvSpPr>
          <p:cNvPr id="30" name="">
            <a:extLst xmlns:a="http://schemas.openxmlformats.org/drawingml/2006/main">
              <a:ext uri="{FF2B5EF4-FFF2-40B4-BE49-F238E27FC236}">
                <a16:creationId xmlns:a16="http://schemas.microsoft.com/office/drawing/2014/main" id="{8E066F96-A406-47D3-BA68-970E1551B1CC}"/>
              </a:ext>
            </a:extLst>
          </p:cNvPr>
          <p:cNvSpPr>
            <a:spLocks xmlns:a="http://schemas.openxmlformats.org/drawingml/2006/main" noGrp="1"/>
          </p:cNvSpPr>
          <p:nvPr/>
        </p:nvSpPr>
        <p:spPr>
          <a:xfrm xmlns:a="http://schemas.openxmlformats.org/drawingml/2006/main">
            <a:off x="9182100" y="3638550"/>
            <a:ext cx="57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FFFFFF"/>
                </a:solidFill>
                <a:latin typeface="Aptos"/>
                <a:ea typeface="Aptos"/>
                <a:cs typeface="Aptos"/>
              </a:defRPr>
            </a:pPr>
            <a:r>
              <a:rPr sz="900" b="0">
                <a:solidFill>
                  <a:srgbClr val="FFFFFF"/>
                </a:solidFill>
                <a:latin typeface="Aptos"/>
                <a:ea typeface="Aptos"/>
                <a:cs typeface="Aptos"/>
              </a:rPr>
              <a:t>once/min</a:t>
            </a:r>
          </a:p>
        </p:txBody>
      </p:sp>
      <p:sp>
        <p:nvSpPr>
          <p:cNvPr id="31" name="">
            <a:extLst xmlns:a="http://schemas.openxmlformats.org/drawingml/2006/main">
              <a:ext uri="{FF2B5EF4-FFF2-40B4-BE49-F238E27FC236}">
                <a16:creationId xmlns:a16="http://schemas.microsoft.com/office/drawing/2014/main" id="{807C3BA9-DE36-4CDA-894E-87D3D2872264}"/>
              </a:ext>
            </a:extLst>
          </p:cNvPr>
          <p:cNvSpPr>
            <a:spLocks xmlns:a="http://schemas.openxmlformats.org/drawingml/2006/main" noGrp="1"/>
          </p:cNvSpPr>
          <p:nvPr/>
        </p:nvSpPr>
        <p:spPr>
          <a:xfrm xmlns:a="http://schemas.openxmlformats.org/drawingml/2006/main">
            <a:off x="9925050" y="3238500"/>
            <a:ext cx="723900" cy="819150"/>
          </a:xfrm>
          <a:prstGeom xmlns:a="http://schemas.openxmlformats.org/drawingml/2006/main" prst="roundRect">
            <a:avLst>
              <a:gd name="adj" fmla="val 10526"/>
            </a:avLst>
          </a:prstGeom>
          <a:solidFill xmlns:a="http://schemas.openxmlformats.org/drawingml/2006/main">
            <a:srgbClr val="071821"/>
          </a:solidFill>
          <a:ln xmlns:a="http://schemas.openxmlformats.org/drawingml/2006/main" w="9525">
            <a:solidFill>
              <a:srgbClr val="46616F"/>
            </a:solidFill>
            <a:prstDash val="solid"/>
          </a:ln>
        </p:spPr>
      </p:sp>
      <p:sp>
        <p:nvSpPr>
          <p:cNvPr id="32" name="">
            <a:extLst xmlns:a="http://schemas.openxmlformats.org/drawingml/2006/main">
              <a:ext uri="{FF2B5EF4-FFF2-40B4-BE49-F238E27FC236}">
                <a16:creationId xmlns:a16="http://schemas.microsoft.com/office/drawing/2014/main" id="{FA881075-3859-49DD-8AEA-EC18396D6CB9}"/>
              </a:ext>
            </a:extLst>
          </p:cNvPr>
          <p:cNvSpPr>
            <a:spLocks xmlns:a="http://schemas.openxmlformats.org/drawingml/2006/main" noGrp="1"/>
          </p:cNvSpPr>
          <p:nvPr/>
        </p:nvSpPr>
        <p:spPr>
          <a:xfrm xmlns:a="http://schemas.openxmlformats.org/drawingml/2006/main">
            <a:off x="10001250" y="3371850"/>
            <a:ext cx="57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2EC4D6"/>
                </a:solidFill>
                <a:latin typeface="Aptos"/>
                <a:ea typeface="Aptos"/>
                <a:cs typeface="Aptos"/>
              </a:defRPr>
            </a:pPr>
            <a:r>
              <a:rPr sz="825" b="1">
                <a:solidFill>
                  <a:srgbClr val="2EC4D6"/>
                </a:solidFill>
                <a:latin typeface="Aptos"/>
                <a:ea typeface="Aptos"/>
                <a:cs typeface="Aptos"/>
              </a:rPr>
              <a:t>OPS</a:t>
            </a:r>
          </a:p>
        </p:txBody>
      </p:sp>
      <p:sp>
        <p:nvSpPr>
          <p:cNvPr id="33" name="">
            <a:extLst xmlns:a="http://schemas.openxmlformats.org/drawingml/2006/main">
              <a:ext uri="{FF2B5EF4-FFF2-40B4-BE49-F238E27FC236}">
                <a16:creationId xmlns:a16="http://schemas.microsoft.com/office/drawing/2014/main" id="{E21CDD5A-3D47-476F-83C0-0A509F850176}"/>
              </a:ext>
            </a:extLst>
          </p:cNvPr>
          <p:cNvSpPr>
            <a:spLocks xmlns:a="http://schemas.openxmlformats.org/drawingml/2006/main" noGrp="1"/>
          </p:cNvSpPr>
          <p:nvPr/>
        </p:nvSpPr>
        <p:spPr>
          <a:xfrm xmlns:a="http://schemas.openxmlformats.org/drawingml/2006/main">
            <a:off x="10001250" y="3638550"/>
            <a:ext cx="57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FFFFFF"/>
                </a:solidFill>
                <a:latin typeface="Aptos"/>
                <a:ea typeface="Aptos"/>
                <a:cs typeface="Aptos"/>
              </a:defRPr>
            </a:pPr>
            <a:r>
              <a:rPr sz="900" b="0">
                <a:solidFill>
                  <a:srgbClr val="FFFFFF"/>
                </a:solidFill>
                <a:latin typeface="Aptos"/>
                <a:ea typeface="Aptos"/>
                <a:cs typeface="Aptos"/>
              </a:rPr>
              <a:t>on event</a:t>
            </a:r>
          </a:p>
        </p:txBody>
      </p:sp>
      <p:sp>
        <p:nvSpPr>
          <p:cNvPr id="34" name="">
            <a:extLst xmlns:a="http://schemas.openxmlformats.org/drawingml/2006/main">
              <a:ext uri="{FF2B5EF4-FFF2-40B4-BE49-F238E27FC236}">
                <a16:creationId xmlns:a16="http://schemas.microsoft.com/office/drawing/2014/main" id="{F6F449DD-117E-4110-B55A-9D501BF1EC46}"/>
              </a:ext>
            </a:extLst>
          </p:cNvPr>
          <p:cNvSpPr>
            <a:spLocks xmlns:a="http://schemas.openxmlformats.org/drawingml/2006/main" noGrp="1"/>
          </p:cNvSpPr>
          <p:nvPr/>
        </p:nvSpPr>
        <p:spPr>
          <a:xfrm xmlns:a="http://schemas.openxmlformats.org/drawingml/2006/main">
            <a:off x="685800" y="6334125"/>
            <a:ext cx="6667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C9D8DC"/>
                </a:solidFill>
                <a:latin typeface="Aptos"/>
                <a:ea typeface="Aptos"/>
                <a:cs typeface="Aptos"/>
              </a:defRPr>
            </a:pPr>
            <a:r>
              <a:rPr sz="900" b="1">
                <a:solidFill>
                  <a:srgbClr val="C9D8DC"/>
                </a:solidFill>
                <a:latin typeface="Aptos"/>
                <a:ea typeface="Aptos"/>
                <a:cs typeface="Aptos"/>
              </a:rPr>
              <a:t>Flight Software Requirements Writing &amp; Review</a:t>
            </a:r>
          </a:p>
        </p:txBody>
      </p:sp>
      <p:sp>
        <p:nvSpPr>
          <p:cNvPr id="35" name="">
            <a:extLst xmlns:a="http://schemas.openxmlformats.org/drawingml/2006/main">
              <a:ext uri="{FF2B5EF4-FFF2-40B4-BE49-F238E27FC236}">
                <a16:creationId xmlns:a16="http://schemas.microsoft.com/office/drawing/2014/main" id="{A91FCD42-EBB6-4453-9582-01F622C70FD6}"/>
              </a:ext>
            </a:extLst>
          </p:cNvPr>
          <p:cNvSpPr>
            <a:spLocks xmlns:a="http://schemas.openxmlformats.org/drawingml/2006/main" noGrp="1"/>
          </p:cNvSpPr>
          <p:nvPr/>
        </p:nvSpPr>
        <p:spPr>
          <a:xfrm xmlns:a="http://schemas.openxmlformats.org/drawingml/2006/main">
            <a:off x="10668000" y="6334125"/>
            <a:ext cx="304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C9D8DC"/>
                </a:solidFill>
                <a:latin typeface="Aptos"/>
                <a:ea typeface="Aptos"/>
                <a:cs typeface="Aptos"/>
              </a:defRPr>
            </a:pPr>
            <a:r>
              <a:rPr sz="900" b="1">
                <a:solidFill>
                  <a:srgbClr val="C9D8DC"/>
                </a:solidFill>
                <a:latin typeface="Aptos"/>
                <a:ea typeface="Aptos"/>
                <a:cs typeface="Aptos"/>
              </a:rPr>
              <a:t>01</a:t>
            </a:r>
          </a:p>
        </p:txBody>
      </p:sp>
    </p:spTree>
    <p:extLst>
      <p:ext uri="{BB962C8B-B14F-4D97-AF65-F5344CB8AC3E}">
        <p14:creationId xmlns:p14="http://schemas.microsoft.com/office/powerpoint/2010/main" val="35585746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8401BA1-A95D-447D-B88D-665CC7146CA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1E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90664A7-0E89-4E59-9C2E-86279D7F80CE}"/>
              </a:ext>
            </a:extLst>
          </p:cNvPr>
          <p:cNvSpPr>
            <a:spLocks xmlns:a="http://schemas.openxmlformats.org/drawingml/2006/main" noGrp="1"/>
          </p:cNvSpPr>
          <p:nvPr/>
        </p:nvSpPr>
        <p:spPr>
          <a:xfrm xmlns:a="http://schemas.openxmlformats.org/drawingml/2006/main">
            <a:off x="457200" y="361950"/>
            <a:ext cx="76200" cy="76200"/>
          </a:xfrm>
          <a:prstGeom xmlns:a="http://schemas.openxmlformats.org/drawingml/2006/main" prst="rect">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6A890FB-5F81-4DB7-B034-FD2E6CBF989F}"/>
              </a:ext>
            </a:extLst>
          </p:cNvPr>
          <p:cNvSpPr>
            <a:spLocks xmlns:a="http://schemas.openxmlformats.org/drawingml/2006/main" noGrp="1"/>
          </p:cNvSpPr>
          <p:nvPr/>
        </p:nvSpPr>
        <p:spPr>
          <a:xfrm xmlns:a="http://schemas.openxmlformats.org/drawingml/2006/main">
            <a:off x="64770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46616F"/>
                </a:solidFill>
                <a:latin typeface="Aptos"/>
                <a:ea typeface="Aptos"/>
                <a:cs typeface="Aptos"/>
              </a:defRPr>
            </a:pPr>
            <a:r>
              <a:rPr sz="1050" b="1">
                <a:solidFill>
                  <a:srgbClr val="46616F"/>
                </a:solidFill>
                <a:latin typeface="Aptos"/>
                <a:ea typeface="Aptos"/>
                <a:cs typeface="Aptos"/>
              </a:rPr>
              <a:t>SESSION MAP</a:t>
            </a:r>
          </a:p>
        </p:txBody>
      </p:sp>
      <p:sp>
        <p:nvSpPr>
          <p:cNvPr id="4" name="">
            <a:extLst xmlns:a="http://schemas.openxmlformats.org/drawingml/2006/main">
              <a:ext uri="{FF2B5EF4-FFF2-40B4-BE49-F238E27FC236}">
                <a16:creationId xmlns:a16="http://schemas.microsoft.com/office/drawing/2014/main" id="{A419A56C-C8EC-4555-92C1-F63329386FC4}"/>
              </a:ext>
            </a:extLst>
          </p:cNvPr>
          <p:cNvSpPr>
            <a:spLocks xmlns:a="http://schemas.openxmlformats.org/drawingml/2006/main" noGrp="1"/>
          </p:cNvSpPr>
          <p:nvPr/>
        </p:nvSpPr>
        <p:spPr>
          <a:xfrm xmlns:a="http://schemas.openxmlformats.org/drawingml/2006/main">
            <a:off x="457200" y="666750"/>
            <a:ext cx="11049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850" b="1">
                <a:solidFill>
                  <a:srgbClr val="071821"/>
                </a:solidFill>
                <a:latin typeface="Aptos Display"/>
                <a:ea typeface="Aptos Display"/>
                <a:cs typeface="Aptos Display"/>
              </a:defRPr>
            </a:pPr>
            <a:r>
              <a:rPr sz="2850" b="1">
                <a:solidFill>
                  <a:srgbClr val="071821"/>
                </a:solidFill>
                <a:latin typeface="Aptos Display"/>
                <a:ea typeface="Aptos Display"/>
                <a:cs typeface="Aptos Display"/>
              </a:rPr>
              <a:t>The hour moves from interpretation to atomic behavior.</a:t>
            </a:r>
          </a:p>
        </p:txBody>
      </p:sp>
      <p:sp>
        <p:nvSpPr>
          <p:cNvPr id="5" name="">
            <a:extLst xmlns:a="http://schemas.openxmlformats.org/drawingml/2006/main">
              <a:ext uri="{FF2B5EF4-FFF2-40B4-BE49-F238E27FC236}">
                <a16:creationId xmlns:a16="http://schemas.microsoft.com/office/drawing/2014/main" id="{3CC92326-49E4-42D1-85A0-0DAB6B6848E3}"/>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C9D8DC"/>
          </a:solidFill>
          <a:ln xmlns:a="http://schemas.openxmlformats.org/drawingml/2006/main" w="9525">
            <a:solidFill>
              <a:srgbClr val="C9D8DC"/>
            </a:solidFill>
            <a:prstDash val="solid"/>
          </a:ln>
        </p:spPr>
      </p:sp>
      <p:sp>
        <p:nvSpPr>
          <p:cNvPr id="6" name="">
            <a:extLst xmlns:a="http://schemas.openxmlformats.org/drawingml/2006/main">
              <a:ext uri="{FF2B5EF4-FFF2-40B4-BE49-F238E27FC236}">
                <a16:creationId xmlns:a16="http://schemas.microsoft.com/office/drawing/2014/main" id="{C20FF441-9C01-4EEA-97BC-E8501C0B4F7A}"/>
              </a:ext>
            </a:extLst>
          </p:cNvPr>
          <p:cNvSpPr>
            <a:spLocks xmlns:a="http://schemas.openxmlformats.org/drawingml/2006/main" noGrp="1"/>
          </p:cNvSpPr>
          <p:nvPr/>
        </p:nvSpPr>
        <p:spPr>
          <a:xfrm xmlns:a="http://schemas.openxmlformats.org/drawingml/2006/main">
            <a:off x="4572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46616F"/>
                </a:solidFill>
                <a:latin typeface="Aptos"/>
                <a:ea typeface="Aptos"/>
                <a:cs typeface="Aptos"/>
              </a:defRPr>
            </a:pPr>
            <a:r>
              <a:rPr sz="750" b="1">
                <a:solidFill>
                  <a:srgbClr val="46616F"/>
                </a:solidFill>
                <a:latin typeface="Aptos"/>
                <a:ea typeface="Aptos"/>
                <a:cs typeface="Aptos"/>
              </a:rPr>
              <a:t>SESSION 2</a:t>
            </a:r>
          </a:p>
        </p:txBody>
      </p:sp>
      <p:sp>
        <p:nvSpPr>
          <p:cNvPr id="7" name="">
            <a:extLst xmlns:a="http://schemas.openxmlformats.org/drawingml/2006/main">
              <a:ext uri="{FF2B5EF4-FFF2-40B4-BE49-F238E27FC236}">
                <a16:creationId xmlns:a16="http://schemas.microsoft.com/office/drawing/2014/main" id="{DB3851FB-1565-4946-8D5A-CB80DFA06215}"/>
              </a:ext>
            </a:extLst>
          </p:cNvPr>
          <p:cNvSpPr>
            <a:spLocks xmlns:a="http://schemas.openxmlformats.org/drawingml/2006/main" noGrp="1"/>
          </p:cNvSpPr>
          <p:nvPr/>
        </p:nvSpPr>
        <p:spPr>
          <a:xfrm xmlns:a="http://schemas.openxmlformats.org/drawingml/2006/main">
            <a:off x="11144250" y="6515100"/>
            <a:ext cx="590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46616F"/>
                </a:solidFill>
                <a:latin typeface="Aptos"/>
                <a:ea typeface="Aptos"/>
                <a:cs typeface="Aptos"/>
              </a:defRPr>
            </a:pPr>
            <a:r>
              <a:rPr sz="825" b="1">
                <a:solidFill>
                  <a:srgbClr val="46616F"/>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051C527F-8007-4A56-8DEB-462A7B3C095D}"/>
              </a:ext>
            </a:extLst>
          </p:cNvPr>
          <p:cNvSpPr>
            <a:spLocks xmlns:a="http://schemas.openxmlformats.org/drawingml/2006/main" noGrp="1"/>
          </p:cNvSpPr>
          <p:nvPr/>
        </p:nvSpPr>
        <p:spPr>
          <a:xfrm xmlns:a="http://schemas.openxmlformats.org/drawingml/2006/main">
            <a:off x="952500" y="3143250"/>
            <a:ext cx="10287000" cy="38100"/>
          </a:xfrm>
          <a:prstGeom xmlns:a="http://schemas.openxmlformats.org/drawingml/2006/main" prst="rect">
            <a:avLst/>
          </a:prstGeom>
          <a:solidFill xmlns:a="http://schemas.openxmlformats.org/drawingml/2006/main">
            <a:srgbClr val="46616F"/>
          </a:solidFill>
          <a:ln xmlns:a="http://schemas.openxmlformats.org/drawingml/2006/main" w="38100">
            <a:solidFill>
              <a:srgbClr val="46616F"/>
            </a:solidFill>
            <a:prstDash val="solid"/>
          </a:ln>
        </p:spPr>
      </p:sp>
      <p:sp>
        <p:nvSpPr>
          <p:cNvPr id="9" name="">
            <a:extLst xmlns:a="http://schemas.openxmlformats.org/drawingml/2006/main">
              <a:ext uri="{FF2B5EF4-FFF2-40B4-BE49-F238E27FC236}">
                <a16:creationId xmlns:a16="http://schemas.microsoft.com/office/drawing/2014/main" id="{8B18AC1D-CCE1-49C3-8095-D2B4A9D76333}"/>
              </a:ext>
            </a:extLst>
          </p:cNvPr>
          <p:cNvSpPr>
            <a:spLocks xmlns:a="http://schemas.openxmlformats.org/drawingml/2006/main" noGrp="1"/>
          </p:cNvSpPr>
          <p:nvPr/>
        </p:nvSpPr>
        <p:spPr>
          <a:xfrm xmlns:a="http://schemas.openxmlformats.org/drawingml/2006/main">
            <a:off x="876300" y="2981325"/>
            <a:ext cx="342900" cy="342900"/>
          </a:xfrm>
          <a:prstGeom xmlns:a="http://schemas.openxmlformats.org/drawingml/2006/main" prst="roundRect">
            <a:avLst>
              <a:gd name="adj" fmla="val 22222"/>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4F2F9896-DE93-443E-A8CD-C18905D77F95}"/>
              </a:ext>
            </a:extLst>
          </p:cNvPr>
          <p:cNvSpPr>
            <a:spLocks xmlns:a="http://schemas.openxmlformats.org/drawingml/2006/main" noGrp="1"/>
          </p:cNvSpPr>
          <p:nvPr/>
        </p:nvSpPr>
        <p:spPr>
          <a:xfrm xmlns:a="http://schemas.openxmlformats.org/drawingml/2006/main">
            <a:off x="781050" y="2419350"/>
            <a:ext cx="533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071821"/>
                </a:solidFill>
                <a:latin typeface="Aptos"/>
                <a:ea typeface="Aptos"/>
                <a:cs typeface="Aptos"/>
              </a:defRPr>
            </a:pPr>
            <a:r>
              <a:rPr sz="1200" b="1">
                <a:solidFill>
                  <a:srgbClr val="071821"/>
                </a:solidFill>
                <a:latin typeface="Aptos"/>
                <a:ea typeface="Aptos"/>
                <a:cs typeface="Aptos"/>
              </a:rPr>
              <a:t>0-5</a:t>
            </a:r>
          </a:p>
        </p:txBody>
      </p:sp>
      <p:sp>
        <p:nvSpPr>
          <p:cNvPr id="11" name="">
            <a:extLst xmlns:a="http://schemas.openxmlformats.org/drawingml/2006/main">
              <a:ext uri="{FF2B5EF4-FFF2-40B4-BE49-F238E27FC236}">
                <a16:creationId xmlns:a16="http://schemas.microsoft.com/office/drawing/2014/main" id="{69DA16DD-CA16-430B-B457-136A9D238A67}"/>
              </a:ext>
            </a:extLst>
          </p:cNvPr>
          <p:cNvSpPr>
            <a:spLocks xmlns:a="http://schemas.openxmlformats.org/drawingml/2006/main" noGrp="1"/>
          </p:cNvSpPr>
          <p:nvPr/>
        </p:nvSpPr>
        <p:spPr>
          <a:xfrm xmlns:a="http://schemas.openxmlformats.org/drawingml/2006/main">
            <a:off x="647700" y="3562350"/>
            <a:ext cx="800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46616F"/>
                </a:solidFill>
                <a:latin typeface="Aptos"/>
                <a:ea typeface="Aptos"/>
                <a:cs typeface="Aptos"/>
              </a:defRPr>
            </a:pPr>
            <a:r>
              <a:rPr sz="975" b="1">
                <a:solidFill>
                  <a:srgbClr val="46616F"/>
                </a:solidFill>
                <a:latin typeface="Aptos"/>
                <a:ea typeface="Aptos"/>
                <a:cs typeface="Aptos"/>
              </a:rPr>
              <a:t>RECAP</a:t>
            </a:r>
          </a:p>
        </p:txBody>
      </p:sp>
      <p:sp>
        <p:nvSpPr>
          <p:cNvPr id="12" name="">
            <a:extLst xmlns:a="http://schemas.openxmlformats.org/drawingml/2006/main">
              <a:ext uri="{FF2B5EF4-FFF2-40B4-BE49-F238E27FC236}">
                <a16:creationId xmlns:a16="http://schemas.microsoft.com/office/drawing/2014/main" id="{80F1A346-7A1E-4DB0-B33E-27AA56482272}"/>
              </a:ext>
            </a:extLst>
          </p:cNvPr>
          <p:cNvSpPr>
            <a:spLocks xmlns:a="http://schemas.openxmlformats.org/drawingml/2006/main" noGrp="1"/>
          </p:cNvSpPr>
          <p:nvPr/>
        </p:nvSpPr>
        <p:spPr>
          <a:xfrm xmlns:a="http://schemas.openxmlformats.org/drawingml/2006/main">
            <a:off x="342900" y="3905250"/>
            <a:ext cx="14287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071821"/>
                </a:solidFill>
                <a:latin typeface="Aptos"/>
                <a:ea typeface="Aptos"/>
                <a:cs typeface="Aptos"/>
              </a:defRPr>
            </a:pPr>
            <a:r>
              <a:rPr sz="1125" b="0">
                <a:solidFill>
                  <a:srgbClr val="071821"/>
                </a:solidFill>
                <a:latin typeface="Aptos"/>
                <a:ea typeface="Aptos"/>
                <a:cs typeface="Aptos"/>
              </a:rPr>
              <a:t>Why, What, Evidence</a:t>
            </a:r>
          </a:p>
        </p:txBody>
      </p:sp>
      <p:sp>
        <p:nvSpPr>
          <p:cNvPr id="13" name="">
            <a:extLst xmlns:a="http://schemas.openxmlformats.org/drawingml/2006/main">
              <a:ext uri="{FF2B5EF4-FFF2-40B4-BE49-F238E27FC236}">
                <a16:creationId xmlns:a16="http://schemas.microsoft.com/office/drawing/2014/main" id="{3728E323-E5C6-4585-8979-2F121B5A1929}"/>
              </a:ext>
            </a:extLst>
          </p:cNvPr>
          <p:cNvSpPr>
            <a:spLocks xmlns:a="http://schemas.openxmlformats.org/drawingml/2006/main" noGrp="1"/>
          </p:cNvSpPr>
          <p:nvPr/>
        </p:nvSpPr>
        <p:spPr>
          <a:xfrm xmlns:a="http://schemas.openxmlformats.org/drawingml/2006/main">
            <a:off x="2638425" y="2981325"/>
            <a:ext cx="342900" cy="342900"/>
          </a:xfrm>
          <a:prstGeom xmlns:a="http://schemas.openxmlformats.org/drawingml/2006/main" prst="roundRect">
            <a:avLst>
              <a:gd name="adj" fmla="val 22222"/>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507AB0D2-09EA-4501-BA19-4DE3298E5EA2}"/>
              </a:ext>
            </a:extLst>
          </p:cNvPr>
          <p:cNvSpPr>
            <a:spLocks xmlns:a="http://schemas.openxmlformats.org/drawingml/2006/main" noGrp="1"/>
          </p:cNvSpPr>
          <p:nvPr/>
        </p:nvSpPr>
        <p:spPr>
          <a:xfrm xmlns:a="http://schemas.openxmlformats.org/drawingml/2006/main">
            <a:off x="2543175" y="2419350"/>
            <a:ext cx="533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071821"/>
                </a:solidFill>
                <a:latin typeface="Aptos"/>
                <a:ea typeface="Aptos"/>
                <a:cs typeface="Aptos"/>
              </a:defRPr>
            </a:pPr>
            <a:r>
              <a:rPr sz="1200" b="1">
                <a:solidFill>
                  <a:srgbClr val="071821"/>
                </a:solidFill>
                <a:latin typeface="Aptos"/>
                <a:ea typeface="Aptos"/>
                <a:cs typeface="Aptos"/>
              </a:rPr>
              <a:t>5-15</a:t>
            </a:r>
          </a:p>
        </p:txBody>
      </p:sp>
      <p:sp>
        <p:nvSpPr>
          <p:cNvPr id="15" name="">
            <a:extLst xmlns:a="http://schemas.openxmlformats.org/drawingml/2006/main">
              <a:ext uri="{FF2B5EF4-FFF2-40B4-BE49-F238E27FC236}">
                <a16:creationId xmlns:a16="http://schemas.microsoft.com/office/drawing/2014/main" id="{8C172B7D-FC4A-4B15-A008-0D574FD0529F}"/>
              </a:ext>
            </a:extLst>
          </p:cNvPr>
          <p:cNvSpPr>
            <a:spLocks xmlns:a="http://schemas.openxmlformats.org/drawingml/2006/main" noGrp="1"/>
          </p:cNvSpPr>
          <p:nvPr/>
        </p:nvSpPr>
        <p:spPr>
          <a:xfrm xmlns:a="http://schemas.openxmlformats.org/drawingml/2006/main">
            <a:off x="2409825" y="3562350"/>
            <a:ext cx="800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46616F"/>
                </a:solidFill>
                <a:latin typeface="Aptos"/>
                <a:ea typeface="Aptos"/>
                <a:cs typeface="Aptos"/>
              </a:defRPr>
            </a:pPr>
            <a:r>
              <a:rPr sz="975" b="1">
                <a:solidFill>
                  <a:srgbClr val="46616F"/>
                </a:solidFill>
                <a:latin typeface="Aptos"/>
                <a:ea typeface="Aptos"/>
                <a:cs typeface="Aptos"/>
              </a:rPr>
              <a:t>OWN</a:t>
            </a:r>
          </a:p>
        </p:txBody>
      </p:sp>
      <p:sp>
        <p:nvSpPr>
          <p:cNvPr id="16" name="">
            <a:extLst xmlns:a="http://schemas.openxmlformats.org/drawingml/2006/main">
              <a:ext uri="{FF2B5EF4-FFF2-40B4-BE49-F238E27FC236}">
                <a16:creationId xmlns:a16="http://schemas.microsoft.com/office/drawing/2014/main" id="{D503377D-6B8B-4071-965E-F39F624C7780}"/>
              </a:ext>
            </a:extLst>
          </p:cNvPr>
          <p:cNvSpPr>
            <a:spLocks xmlns:a="http://schemas.openxmlformats.org/drawingml/2006/main" noGrp="1"/>
          </p:cNvSpPr>
          <p:nvPr/>
        </p:nvSpPr>
        <p:spPr>
          <a:xfrm xmlns:a="http://schemas.openxmlformats.org/drawingml/2006/main">
            <a:off x="2105025" y="3905250"/>
            <a:ext cx="14287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071821"/>
                </a:solidFill>
                <a:latin typeface="Aptos"/>
                <a:ea typeface="Aptos"/>
                <a:cs typeface="Aptos"/>
              </a:defRPr>
            </a:pPr>
            <a:r>
              <a:rPr sz="1125" b="0">
                <a:solidFill>
                  <a:srgbClr val="071821"/>
                </a:solidFill>
                <a:latin typeface="Aptos"/>
                <a:ea typeface="Aptos"/>
                <a:cs typeface="Aptos"/>
              </a:rPr>
              <a:t>Choose the correct subject</a:t>
            </a:r>
          </a:p>
        </p:txBody>
      </p:sp>
      <p:sp>
        <p:nvSpPr>
          <p:cNvPr id="17" name="">
            <a:extLst xmlns:a="http://schemas.openxmlformats.org/drawingml/2006/main">
              <a:ext uri="{FF2B5EF4-FFF2-40B4-BE49-F238E27FC236}">
                <a16:creationId xmlns:a16="http://schemas.microsoft.com/office/drawing/2014/main" id="{ED030DBB-F70D-4334-9DDE-F9415497CC3E}"/>
              </a:ext>
            </a:extLst>
          </p:cNvPr>
          <p:cNvSpPr>
            <a:spLocks xmlns:a="http://schemas.openxmlformats.org/drawingml/2006/main" noGrp="1"/>
          </p:cNvSpPr>
          <p:nvPr/>
        </p:nvSpPr>
        <p:spPr>
          <a:xfrm xmlns:a="http://schemas.openxmlformats.org/drawingml/2006/main">
            <a:off x="4400550" y="2981325"/>
            <a:ext cx="342900" cy="342900"/>
          </a:xfrm>
          <a:prstGeom xmlns:a="http://schemas.openxmlformats.org/drawingml/2006/main" prst="roundRect">
            <a:avLst>
              <a:gd name="adj" fmla="val 22222"/>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DF65DECD-C350-4796-AEEC-02EF61444AED}"/>
              </a:ext>
            </a:extLst>
          </p:cNvPr>
          <p:cNvSpPr>
            <a:spLocks xmlns:a="http://schemas.openxmlformats.org/drawingml/2006/main" noGrp="1"/>
          </p:cNvSpPr>
          <p:nvPr/>
        </p:nvSpPr>
        <p:spPr>
          <a:xfrm xmlns:a="http://schemas.openxmlformats.org/drawingml/2006/main">
            <a:off x="4305300" y="2419350"/>
            <a:ext cx="533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071821"/>
                </a:solidFill>
                <a:latin typeface="Aptos"/>
                <a:ea typeface="Aptos"/>
                <a:cs typeface="Aptos"/>
              </a:defRPr>
            </a:pPr>
            <a:r>
              <a:rPr sz="1200" b="1">
                <a:solidFill>
                  <a:srgbClr val="071821"/>
                </a:solidFill>
                <a:latin typeface="Aptos"/>
                <a:ea typeface="Aptos"/>
                <a:cs typeface="Aptos"/>
              </a:rPr>
              <a:t>15-25</a:t>
            </a:r>
          </a:p>
        </p:txBody>
      </p:sp>
      <p:sp>
        <p:nvSpPr>
          <p:cNvPr id="19" name="">
            <a:extLst xmlns:a="http://schemas.openxmlformats.org/drawingml/2006/main">
              <a:ext uri="{FF2B5EF4-FFF2-40B4-BE49-F238E27FC236}">
                <a16:creationId xmlns:a16="http://schemas.microsoft.com/office/drawing/2014/main" id="{4581691B-92A7-44D1-9ADB-FD8E32A7E66E}"/>
              </a:ext>
            </a:extLst>
          </p:cNvPr>
          <p:cNvSpPr>
            <a:spLocks xmlns:a="http://schemas.openxmlformats.org/drawingml/2006/main" noGrp="1"/>
          </p:cNvSpPr>
          <p:nvPr/>
        </p:nvSpPr>
        <p:spPr>
          <a:xfrm xmlns:a="http://schemas.openxmlformats.org/drawingml/2006/main">
            <a:off x="4171950" y="3562350"/>
            <a:ext cx="800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46616F"/>
                </a:solidFill>
                <a:latin typeface="Aptos"/>
                <a:ea typeface="Aptos"/>
                <a:cs typeface="Aptos"/>
              </a:defRPr>
            </a:pPr>
            <a:r>
              <a:rPr sz="975" b="1">
                <a:solidFill>
                  <a:srgbClr val="46616F"/>
                </a:solidFill>
                <a:latin typeface="Aptos"/>
                <a:ea typeface="Aptos"/>
                <a:cs typeface="Aptos"/>
              </a:rPr>
              <a:t>CLARIFY</a:t>
            </a:r>
          </a:p>
        </p:txBody>
      </p:sp>
      <p:sp>
        <p:nvSpPr>
          <p:cNvPr id="20" name="">
            <a:extLst xmlns:a="http://schemas.openxmlformats.org/drawingml/2006/main">
              <a:ext uri="{FF2B5EF4-FFF2-40B4-BE49-F238E27FC236}">
                <a16:creationId xmlns:a16="http://schemas.microsoft.com/office/drawing/2014/main" id="{574CCF6D-A1B3-4A3C-8D20-8D5C3DD5471E}"/>
              </a:ext>
            </a:extLst>
          </p:cNvPr>
          <p:cNvSpPr>
            <a:spLocks xmlns:a="http://schemas.openxmlformats.org/drawingml/2006/main" noGrp="1"/>
          </p:cNvSpPr>
          <p:nvPr/>
        </p:nvSpPr>
        <p:spPr>
          <a:xfrm xmlns:a="http://schemas.openxmlformats.org/drawingml/2006/main">
            <a:off x="3867150" y="3905250"/>
            <a:ext cx="14287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071821"/>
                </a:solidFill>
                <a:latin typeface="Aptos"/>
                <a:ea typeface="Aptos"/>
                <a:cs typeface="Aptos"/>
              </a:defRPr>
            </a:pPr>
            <a:r>
              <a:rPr sz="1125" b="0">
                <a:solidFill>
                  <a:srgbClr val="071821"/>
                </a:solidFill>
                <a:latin typeface="Aptos"/>
                <a:ea typeface="Aptos"/>
                <a:cs typeface="Aptos"/>
              </a:rPr>
              <a:t>Obligation words and vague terms</a:t>
            </a:r>
          </a:p>
        </p:txBody>
      </p:sp>
      <p:sp>
        <p:nvSpPr>
          <p:cNvPr id="21" name="">
            <a:extLst xmlns:a="http://schemas.openxmlformats.org/drawingml/2006/main">
              <a:ext uri="{FF2B5EF4-FFF2-40B4-BE49-F238E27FC236}">
                <a16:creationId xmlns:a16="http://schemas.microsoft.com/office/drawing/2014/main" id="{1D3F4CFF-2AE8-4312-8338-3C04395D728F}"/>
              </a:ext>
            </a:extLst>
          </p:cNvPr>
          <p:cNvSpPr>
            <a:spLocks xmlns:a="http://schemas.openxmlformats.org/drawingml/2006/main" noGrp="1"/>
          </p:cNvSpPr>
          <p:nvPr/>
        </p:nvSpPr>
        <p:spPr>
          <a:xfrm xmlns:a="http://schemas.openxmlformats.org/drawingml/2006/main">
            <a:off x="6162675" y="2981325"/>
            <a:ext cx="342900" cy="342900"/>
          </a:xfrm>
          <a:prstGeom xmlns:a="http://schemas.openxmlformats.org/drawingml/2006/main" prst="roundRect">
            <a:avLst>
              <a:gd name="adj" fmla="val 22222"/>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1C7F4642-172B-452B-B990-2FFB80D00E47}"/>
              </a:ext>
            </a:extLst>
          </p:cNvPr>
          <p:cNvSpPr>
            <a:spLocks xmlns:a="http://schemas.openxmlformats.org/drawingml/2006/main" noGrp="1"/>
          </p:cNvSpPr>
          <p:nvPr/>
        </p:nvSpPr>
        <p:spPr>
          <a:xfrm xmlns:a="http://schemas.openxmlformats.org/drawingml/2006/main">
            <a:off x="6067425" y="2419350"/>
            <a:ext cx="533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071821"/>
                </a:solidFill>
                <a:latin typeface="Aptos"/>
                <a:ea typeface="Aptos"/>
                <a:cs typeface="Aptos"/>
              </a:defRPr>
            </a:pPr>
            <a:r>
              <a:rPr sz="1200" b="1">
                <a:solidFill>
                  <a:srgbClr val="071821"/>
                </a:solidFill>
                <a:latin typeface="Aptos"/>
                <a:ea typeface="Aptos"/>
                <a:cs typeface="Aptos"/>
              </a:rPr>
              <a:t>25-35</a:t>
            </a:r>
          </a:p>
        </p:txBody>
      </p:sp>
      <p:sp>
        <p:nvSpPr>
          <p:cNvPr id="23" name="">
            <a:extLst xmlns:a="http://schemas.openxmlformats.org/drawingml/2006/main">
              <a:ext uri="{FF2B5EF4-FFF2-40B4-BE49-F238E27FC236}">
                <a16:creationId xmlns:a16="http://schemas.microsoft.com/office/drawing/2014/main" id="{21ECE65B-BA9E-40B6-A4A0-37D0E2EA4E6E}"/>
              </a:ext>
            </a:extLst>
          </p:cNvPr>
          <p:cNvSpPr>
            <a:spLocks xmlns:a="http://schemas.openxmlformats.org/drawingml/2006/main" noGrp="1"/>
          </p:cNvSpPr>
          <p:nvPr/>
        </p:nvSpPr>
        <p:spPr>
          <a:xfrm xmlns:a="http://schemas.openxmlformats.org/drawingml/2006/main">
            <a:off x="5934075" y="3562350"/>
            <a:ext cx="800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46616F"/>
                </a:solidFill>
                <a:latin typeface="Aptos"/>
                <a:ea typeface="Aptos"/>
                <a:cs typeface="Aptos"/>
              </a:defRPr>
            </a:pPr>
            <a:r>
              <a:rPr sz="975" b="1">
                <a:solidFill>
                  <a:srgbClr val="46616F"/>
                </a:solidFill>
                <a:latin typeface="Aptos"/>
                <a:ea typeface="Aptos"/>
                <a:cs typeface="Aptos"/>
              </a:rPr>
              <a:t>ATOMIZE</a:t>
            </a:r>
          </a:p>
        </p:txBody>
      </p:sp>
      <p:sp>
        <p:nvSpPr>
          <p:cNvPr id="24" name="">
            <a:extLst xmlns:a="http://schemas.openxmlformats.org/drawingml/2006/main">
              <a:ext uri="{FF2B5EF4-FFF2-40B4-BE49-F238E27FC236}">
                <a16:creationId xmlns:a16="http://schemas.microsoft.com/office/drawing/2014/main" id="{C4279315-4254-44FC-A8CE-2C6910752B66}"/>
              </a:ext>
            </a:extLst>
          </p:cNvPr>
          <p:cNvSpPr>
            <a:spLocks xmlns:a="http://schemas.openxmlformats.org/drawingml/2006/main" noGrp="1"/>
          </p:cNvSpPr>
          <p:nvPr/>
        </p:nvSpPr>
        <p:spPr>
          <a:xfrm xmlns:a="http://schemas.openxmlformats.org/drawingml/2006/main">
            <a:off x="5629275" y="3905250"/>
            <a:ext cx="14287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071821"/>
                </a:solidFill>
                <a:latin typeface="Aptos"/>
                <a:ea typeface="Aptos"/>
                <a:cs typeface="Aptos"/>
              </a:defRPr>
            </a:pPr>
            <a:r>
              <a:rPr sz="1125" b="0">
                <a:solidFill>
                  <a:srgbClr val="071821"/>
                </a:solidFill>
                <a:latin typeface="Aptos"/>
                <a:ea typeface="Aptos"/>
                <a:cs typeface="Aptos"/>
              </a:rPr>
              <a:t>One primary obligation</a:t>
            </a:r>
          </a:p>
        </p:txBody>
      </p:sp>
      <p:sp>
        <p:nvSpPr>
          <p:cNvPr id="25" name="">
            <a:extLst xmlns:a="http://schemas.openxmlformats.org/drawingml/2006/main">
              <a:ext uri="{FF2B5EF4-FFF2-40B4-BE49-F238E27FC236}">
                <a16:creationId xmlns:a16="http://schemas.microsoft.com/office/drawing/2014/main" id="{7AA4549A-69FA-4C39-9CB9-37A593D115E3}"/>
              </a:ext>
            </a:extLst>
          </p:cNvPr>
          <p:cNvSpPr>
            <a:spLocks xmlns:a="http://schemas.openxmlformats.org/drawingml/2006/main" noGrp="1"/>
          </p:cNvSpPr>
          <p:nvPr/>
        </p:nvSpPr>
        <p:spPr>
          <a:xfrm xmlns:a="http://schemas.openxmlformats.org/drawingml/2006/main">
            <a:off x="7924800" y="2981325"/>
            <a:ext cx="342900" cy="342900"/>
          </a:xfrm>
          <a:prstGeom xmlns:a="http://schemas.openxmlformats.org/drawingml/2006/main" prst="roundRect">
            <a:avLst>
              <a:gd name="adj" fmla="val 22222"/>
            </a:avLst>
          </a:prstGeom>
          <a:solidFill xmlns:a="http://schemas.openxmlformats.org/drawingml/2006/main">
            <a:srgbClr val="FF9F43"/>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153AA41A-D9C6-48B5-8C07-7E094D4437CE}"/>
              </a:ext>
            </a:extLst>
          </p:cNvPr>
          <p:cNvSpPr>
            <a:spLocks xmlns:a="http://schemas.openxmlformats.org/drawingml/2006/main" noGrp="1"/>
          </p:cNvSpPr>
          <p:nvPr/>
        </p:nvSpPr>
        <p:spPr>
          <a:xfrm xmlns:a="http://schemas.openxmlformats.org/drawingml/2006/main">
            <a:off x="7829550" y="2419350"/>
            <a:ext cx="533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071821"/>
                </a:solidFill>
                <a:latin typeface="Aptos"/>
                <a:ea typeface="Aptos"/>
                <a:cs typeface="Aptos"/>
              </a:defRPr>
            </a:pPr>
            <a:r>
              <a:rPr sz="1200" b="1">
                <a:solidFill>
                  <a:srgbClr val="071821"/>
                </a:solidFill>
                <a:latin typeface="Aptos"/>
                <a:ea typeface="Aptos"/>
                <a:cs typeface="Aptos"/>
              </a:rPr>
              <a:t>35-55</a:t>
            </a:r>
          </a:p>
        </p:txBody>
      </p:sp>
      <p:sp>
        <p:nvSpPr>
          <p:cNvPr id="27" name="">
            <a:extLst xmlns:a="http://schemas.openxmlformats.org/drawingml/2006/main">
              <a:ext uri="{FF2B5EF4-FFF2-40B4-BE49-F238E27FC236}">
                <a16:creationId xmlns:a16="http://schemas.microsoft.com/office/drawing/2014/main" id="{09E79C28-8C34-4D40-BAFB-9091C8D3092D}"/>
              </a:ext>
            </a:extLst>
          </p:cNvPr>
          <p:cNvSpPr>
            <a:spLocks xmlns:a="http://schemas.openxmlformats.org/drawingml/2006/main" noGrp="1"/>
          </p:cNvSpPr>
          <p:nvPr/>
        </p:nvSpPr>
        <p:spPr>
          <a:xfrm xmlns:a="http://schemas.openxmlformats.org/drawingml/2006/main">
            <a:off x="7696200" y="3562350"/>
            <a:ext cx="800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9F43"/>
                </a:solidFill>
                <a:latin typeface="Aptos"/>
                <a:ea typeface="Aptos"/>
                <a:cs typeface="Aptos"/>
              </a:defRPr>
            </a:pPr>
            <a:r>
              <a:rPr sz="975" b="1">
                <a:solidFill>
                  <a:srgbClr val="FF9F43"/>
                </a:solidFill>
                <a:latin typeface="Aptos"/>
                <a:ea typeface="Aptos"/>
                <a:cs typeface="Aptos"/>
              </a:rPr>
              <a:t>PRACTICE</a:t>
            </a:r>
          </a:p>
        </p:txBody>
      </p:sp>
      <p:sp>
        <p:nvSpPr>
          <p:cNvPr id="28" name="">
            <a:extLst xmlns:a="http://schemas.openxmlformats.org/drawingml/2006/main">
              <a:ext uri="{FF2B5EF4-FFF2-40B4-BE49-F238E27FC236}">
                <a16:creationId xmlns:a16="http://schemas.microsoft.com/office/drawing/2014/main" id="{79F71754-7769-4A79-9D7D-F904E8333B43}"/>
              </a:ext>
            </a:extLst>
          </p:cNvPr>
          <p:cNvSpPr>
            <a:spLocks xmlns:a="http://schemas.openxmlformats.org/drawingml/2006/main" noGrp="1"/>
          </p:cNvSpPr>
          <p:nvPr/>
        </p:nvSpPr>
        <p:spPr>
          <a:xfrm xmlns:a="http://schemas.openxmlformats.org/drawingml/2006/main">
            <a:off x="7391400" y="3905250"/>
            <a:ext cx="14287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071821"/>
                </a:solidFill>
                <a:latin typeface="Aptos"/>
                <a:ea typeface="Aptos"/>
                <a:cs typeface="Aptos"/>
              </a:defRPr>
            </a:pPr>
            <a:r>
              <a:rPr sz="1125" b="0">
                <a:solidFill>
                  <a:srgbClr val="071821"/>
                </a:solidFill>
                <a:latin typeface="Aptos"/>
                <a:ea typeface="Aptos"/>
                <a:cs typeface="Aptos"/>
              </a:rPr>
              <a:t>Review and rewrite together</a:t>
            </a:r>
          </a:p>
        </p:txBody>
      </p:sp>
      <p:sp>
        <p:nvSpPr>
          <p:cNvPr id="29" name="">
            <a:extLst xmlns:a="http://schemas.openxmlformats.org/drawingml/2006/main">
              <a:ext uri="{FF2B5EF4-FFF2-40B4-BE49-F238E27FC236}">
                <a16:creationId xmlns:a16="http://schemas.microsoft.com/office/drawing/2014/main" id="{8495421D-5888-4AC6-96F0-C81D70BE6D4C}"/>
              </a:ext>
            </a:extLst>
          </p:cNvPr>
          <p:cNvSpPr>
            <a:spLocks xmlns:a="http://schemas.openxmlformats.org/drawingml/2006/main" noGrp="1"/>
          </p:cNvSpPr>
          <p:nvPr/>
        </p:nvSpPr>
        <p:spPr>
          <a:xfrm xmlns:a="http://schemas.openxmlformats.org/drawingml/2006/main">
            <a:off x="9686925" y="2981325"/>
            <a:ext cx="342900" cy="342900"/>
          </a:xfrm>
          <a:prstGeom xmlns:a="http://schemas.openxmlformats.org/drawingml/2006/main" prst="roundRect">
            <a:avLst>
              <a:gd name="adj" fmla="val 22222"/>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E2C5BB18-357B-44A1-8759-3F60C3962105}"/>
              </a:ext>
            </a:extLst>
          </p:cNvPr>
          <p:cNvSpPr>
            <a:spLocks xmlns:a="http://schemas.openxmlformats.org/drawingml/2006/main" noGrp="1"/>
          </p:cNvSpPr>
          <p:nvPr/>
        </p:nvSpPr>
        <p:spPr>
          <a:xfrm xmlns:a="http://schemas.openxmlformats.org/drawingml/2006/main">
            <a:off x="9591675" y="2419350"/>
            <a:ext cx="533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071821"/>
                </a:solidFill>
                <a:latin typeface="Aptos"/>
                <a:ea typeface="Aptos"/>
                <a:cs typeface="Aptos"/>
              </a:defRPr>
            </a:pPr>
            <a:r>
              <a:rPr sz="1200" b="1">
                <a:solidFill>
                  <a:srgbClr val="071821"/>
                </a:solidFill>
                <a:latin typeface="Aptos"/>
                <a:ea typeface="Aptos"/>
                <a:cs typeface="Aptos"/>
              </a:rPr>
              <a:t>55-60</a:t>
            </a:r>
          </a:p>
        </p:txBody>
      </p:sp>
      <p:sp>
        <p:nvSpPr>
          <p:cNvPr id="31" name="">
            <a:extLst xmlns:a="http://schemas.openxmlformats.org/drawingml/2006/main">
              <a:ext uri="{FF2B5EF4-FFF2-40B4-BE49-F238E27FC236}">
                <a16:creationId xmlns:a16="http://schemas.microsoft.com/office/drawing/2014/main" id="{9527077F-FB3D-4641-B879-2EC25C89CE82}"/>
              </a:ext>
            </a:extLst>
          </p:cNvPr>
          <p:cNvSpPr>
            <a:spLocks xmlns:a="http://schemas.openxmlformats.org/drawingml/2006/main" noGrp="1"/>
          </p:cNvSpPr>
          <p:nvPr/>
        </p:nvSpPr>
        <p:spPr>
          <a:xfrm xmlns:a="http://schemas.openxmlformats.org/drawingml/2006/main">
            <a:off x="9458325" y="3562350"/>
            <a:ext cx="800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46616F"/>
                </a:solidFill>
                <a:latin typeface="Aptos"/>
                <a:ea typeface="Aptos"/>
                <a:cs typeface="Aptos"/>
              </a:defRPr>
            </a:pPr>
            <a:r>
              <a:rPr sz="975" b="1">
                <a:solidFill>
                  <a:srgbClr val="46616F"/>
                </a:solidFill>
                <a:latin typeface="Aptos"/>
                <a:ea typeface="Aptos"/>
                <a:cs typeface="Aptos"/>
              </a:rPr>
              <a:t>CLOSE</a:t>
            </a:r>
          </a:p>
        </p:txBody>
      </p:sp>
      <p:sp>
        <p:nvSpPr>
          <p:cNvPr id="32" name="">
            <a:extLst xmlns:a="http://schemas.openxmlformats.org/drawingml/2006/main">
              <a:ext uri="{FF2B5EF4-FFF2-40B4-BE49-F238E27FC236}">
                <a16:creationId xmlns:a16="http://schemas.microsoft.com/office/drawing/2014/main" id="{3D1FEE8D-2F60-4128-B5E3-5A5005C6031C}"/>
              </a:ext>
            </a:extLst>
          </p:cNvPr>
          <p:cNvSpPr>
            <a:spLocks xmlns:a="http://schemas.openxmlformats.org/drawingml/2006/main" noGrp="1"/>
          </p:cNvSpPr>
          <p:nvPr/>
        </p:nvSpPr>
        <p:spPr>
          <a:xfrm xmlns:a="http://schemas.openxmlformats.org/drawingml/2006/main">
            <a:off x="9153525" y="3905250"/>
            <a:ext cx="14287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071821"/>
                </a:solidFill>
                <a:latin typeface="Aptos"/>
                <a:ea typeface="Aptos"/>
                <a:cs typeface="Aptos"/>
              </a:defRPr>
            </a:pPr>
            <a:r>
              <a:rPr sz="1125" b="0">
                <a:solidFill>
                  <a:srgbClr val="071821"/>
                </a:solidFill>
                <a:latin typeface="Aptos"/>
                <a:ea typeface="Aptos"/>
                <a:cs typeface="Aptos"/>
              </a:rPr>
              <a:t>Five checks before review</a:t>
            </a:r>
          </a:p>
        </p:txBody>
      </p:sp>
      <p:sp>
        <p:nvSpPr>
          <p:cNvPr id="33" name="">
            <a:extLst xmlns:a="http://schemas.openxmlformats.org/drawingml/2006/main">
              <a:ext uri="{FF2B5EF4-FFF2-40B4-BE49-F238E27FC236}">
                <a16:creationId xmlns:a16="http://schemas.microsoft.com/office/drawing/2014/main" id="{57FF3944-91F9-42EF-8FD4-52AFF9AFB331}"/>
              </a:ext>
            </a:extLst>
          </p:cNvPr>
          <p:cNvSpPr>
            <a:spLocks xmlns:a="http://schemas.openxmlformats.org/drawingml/2006/main" noGrp="1"/>
          </p:cNvSpPr>
          <p:nvPr/>
        </p:nvSpPr>
        <p:spPr>
          <a:xfrm xmlns:a="http://schemas.openxmlformats.org/drawingml/2006/main">
            <a:off x="2381250" y="5219700"/>
            <a:ext cx="7429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500" b="1">
                <a:solidFill>
                  <a:srgbClr val="46616F"/>
                </a:solidFill>
                <a:latin typeface="Aptos"/>
                <a:ea typeface="Aptos"/>
                <a:cs typeface="Aptos"/>
              </a:defRPr>
            </a:pPr>
            <a:r>
              <a:rPr sz="1500" b="1">
                <a:solidFill>
                  <a:srgbClr val="46616F"/>
                </a:solidFill>
                <a:latin typeface="Aptos"/>
                <a:ea typeface="Aptos"/>
                <a:cs typeface="Aptos"/>
              </a:rPr>
              <a:t>Protect the practice time: that is where the writing habits become usable.</a:t>
            </a:r>
          </a:p>
        </p:txBody>
      </p:sp>
    </p:spTree>
    <p:extLst>
      <p:ext uri="{BB962C8B-B14F-4D97-AF65-F5344CB8AC3E}">
        <p14:creationId xmlns:p14="http://schemas.microsoft.com/office/powerpoint/2010/main" val="167390611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6591258-A604-43D9-B70D-DE04BC03795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821"/>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F492BC5-44F1-4EA7-8199-1346616718E7}"/>
              </a:ext>
            </a:extLst>
          </p:cNvPr>
          <p:cNvSpPr>
            <a:spLocks xmlns:a="http://schemas.openxmlformats.org/drawingml/2006/main" noGrp="1"/>
          </p:cNvSpPr>
          <p:nvPr/>
        </p:nvSpPr>
        <p:spPr>
          <a:xfrm xmlns:a="http://schemas.openxmlformats.org/drawingml/2006/main">
            <a:off x="457200" y="361950"/>
            <a:ext cx="76200" cy="76200"/>
          </a:xfrm>
          <a:prstGeom xmlns:a="http://schemas.openxmlformats.org/drawingml/2006/main" prst="rect">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EE5B687-53E2-49F3-A94C-18D772949BBA}"/>
              </a:ext>
            </a:extLst>
          </p:cNvPr>
          <p:cNvSpPr>
            <a:spLocks xmlns:a="http://schemas.openxmlformats.org/drawingml/2006/main" noGrp="1"/>
          </p:cNvSpPr>
          <p:nvPr/>
        </p:nvSpPr>
        <p:spPr>
          <a:xfrm xmlns:a="http://schemas.openxmlformats.org/drawingml/2006/main">
            <a:off x="64770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BCEAF0"/>
                </a:solidFill>
                <a:latin typeface="Aptos"/>
                <a:ea typeface="Aptos"/>
                <a:cs typeface="Aptos"/>
              </a:defRPr>
            </a:pPr>
            <a:r>
              <a:rPr sz="1050" b="1">
                <a:solidFill>
                  <a:srgbClr val="BCEAF0"/>
                </a:solidFill>
                <a:latin typeface="Aptos"/>
                <a:ea typeface="Aptos"/>
                <a:cs typeface="Aptos"/>
              </a:rPr>
              <a:t>WEEK 1 RECAP</a:t>
            </a:r>
          </a:p>
        </p:txBody>
      </p:sp>
      <p:sp>
        <p:nvSpPr>
          <p:cNvPr id="4" name="">
            <a:extLst xmlns:a="http://schemas.openxmlformats.org/drawingml/2006/main">
              <a:ext uri="{FF2B5EF4-FFF2-40B4-BE49-F238E27FC236}">
                <a16:creationId xmlns:a16="http://schemas.microsoft.com/office/drawing/2014/main" id="{9CFE2D10-9F7C-4F58-B13D-A025AB351373}"/>
              </a:ext>
            </a:extLst>
          </p:cNvPr>
          <p:cNvSpPr>
            <a:spLocks xmlns:a="http://schemas.openxmlformats.org/drawingml/2006/main" noGrp="1"/>
          </p:cNvSpPr>
          <p:nvPr/>
        </p:nvSpPr>
        <p:spPr>
          <a:xfrm xmlns:a="http://schemas.openxmlformats.org/drawingml/2006/main">
            <a:off x="457200" y="666750"/>
            <a:ext cx="11049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850" b="1">
                <a:solidFill>
                  <a:srgbClr val="FFFFFF"/>
                </a:solidFill>
                <a:latin typeface="Aptos Display"/>
                <a:ea typeface="Aptos Display"/>
                <a:cs typeface="Aptos Display"/>
              </a:defRPr>
            </a:pPr>
            <a:r>
              <a:rPr sz="2850" b="1">
                <a:solidFill>
                  <a:srgbClr val="FFFFFF"/>
                </a:solidFill>
                <a:latin typeface="Aptos Display"/>
                <a:ea typeface="Aptos Display"/>
                <a:cs typeface="Aptos Display"/>
              </a:rPr>
              <a:t>Clear and atomic strengthens the What without losing Why or Evidence.</a:t>
            </a:r>
          </a:p>
        </p:txBody>
      </p:sp>
      <p:sp>
        <p:nvSpPr>
          <p:cNvPr id="5" name="">
            <a:extLst xmlns:a="http://schemas.openxmlformats.org/drawingml/2006/main">
              <a:ext uri="{FF2B5EF4-FFF2-40B4-BE49-F238E27FC236}">
                <a16:creationId xmlns:a16="http://schemas.microsoft.com/office/drawing/2014/main" id="{10F502DD-C412-4138-B885-4DCDAD6D2AE4}"/>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46616F"/>
          </a:solidFill>
          <a:ln xmlns:a="http://schemas.openxmlformats.org/drawingml/2006/main" w="9525">
            <a:solidFill>
              <a:srgbClr val="46616F"/>
            </a:solidFill>
            <a:prstDash val="solid"/>
          </a:ln>
        </p:spPr>
      </p:sp>
      <p:sp>
        <p:nvSpPr>
          <p:cNvPr id="6" name="">
            <a:extLst xmlns:a="http://schemas.openxmlformats.org/drawingml/2006/main">
              <a:ext uri="{FF2B5EF4-FFF2-40B4-BE49-F238E27FC236}">
                <a16:creationId xmlns:a16="http://schemas.microsoft.com/office/drawing/2014/main" id="{68F0C98F-0A40-45CD-86F5-60064E035EC3}"/>
              </a:ext>
            </a:extLst>
          </p:cNvPr>
          <p:cNvSpPr>
            <a:spLocks xmlns:a="http://schemas.openxmlformats.org/drawingml/2006/main" noGrp="1"/>
          </p:cNvSpPr>
          <p:nvPr/>
        </p:nvSpPr>
        <p:spPr>
          <a:xfrm xmlns:a="http://schemas.openxmlformats.org/drawingml/2006/main">
            <a:off x="4572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C9D8DC"/>
                </a:solidFill>
                <a:latin typeface="Aptos"/>
                <a:ea typeface="Aptos"/>
                <a:cs typeface="Aptos"/>
              </a:defRPr>
            </a:pPr>
            <a:r>
              <a:rPr sz="750" b="1">
                <a:solidFill>
                  <a:srgbClr val="C9D8DC"/>
                </a:solidFill>
                <a:latin typeface="Aptos"/>
                <a:ea typeface="Aptos"/>
                <a:cs typeface="Aptos"/>
              </a:rPr>
              <a:t>SESSION 2</a:t>
            </a:r>
          </a:p>
        </p:txBody>
      </p:sp>
      <p:sp>
        <p:nvSpPr>
          <p:cNvPr id="7" name="">
            <a:extLst xmlns:a="http://schemas.openxmlformats.org/drawingml/2006/main">
              <a:ext uri="{FF2B5EF4-FFF2-40B4-BE49-F238E27FC236}">
                <a16:creationId xmlns:a16="http://schemas.microsoft.com/office/drawing/2014/main" id="{DA6949D8-BD5A-48B1-ADF5-EB31527E8EE0}"/>
              </a:ext>
            </a:extLst>
          </p:cNvPr>
          <p:cNvSpPr>
            <a:spLocks xmlns:a="http://schemas.openxmlformats.org/drawingml/2006/main" noGrp="1"/>
          </p:cNvSpPr>
          <p:nvPr/>
        </p:nvSpPr>
        <p:spPr>
          <a:xfrm xmlns:a="http://schemas.openxmlformats.org/drawingml/2006/main">
            <a:off x="11144250" y="6515100"/>
            <a:ext cx="590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C9D8DC"/>
                </a:solidFill>
                <a:latin typeface="Aptos"/>
                <a:ea typeface="Aptos"/>
                <a:cs typeface="Aptos"/>
              </a:defRPr>
            </a:pPr>
            <a:r>
              <a:rPr sz="825" b="1">
                <a:solidFill>
                  <a:srgbClr val="C9D8DC"/>
                </a:solidFill>
                <a:latin typeface="Aptos"/>
                <a:ea typeface="Aptos"/>
                <a:cs typeface="Aptos"/>
              </a:rPr>
              <a:t>03</a:t>
            </a:r>
          </a:p>
        </p:txBody>
      </p:sp>
      <p:sp>
        <p:nvSpPr>
          <p:cNvPr id="8" name="">
            <a:extLst xmlns:a="http://schemas.openxmlformats.org/drawingml/2006/main">
              <a:ext uri="{FF2B5EF4-FFF2-40B4-BE49-F238E27FC236}">
                <a16:creationId xmlns:a16="http://schemas.microsoft.com/office/drawing/2014/main" id="{55BADC56-149C-475F-8DE7-81700CFDCEDF}"/>
              </a:ext>
            </a:extLst>
          </p:cNvPr>
          <p:cNvSpPr>
            <a:spLocks xmlns:a="http://schemas.openxmlformats.org/drawingml/2006/main" noGrp="1"/>
          </p:cNvSpPr>
          <p:nvPr/>
        </p:nvSpPr>
        <p:spPr>
          <a:xfrm xmlns:a="http://schemas.openxmlformats.org/drawingml/2006/main">
            <a:off x="666750" y="2095500"/>
            <a:ext cx="3333750" cy="1676400"/>
          </a:xfrm>
          <a:prstGeom xmlns:a="http://schemas.openxmlformats.org/drawingml/2006/main" prst="roundRect">
            <a:avLst>
              <a:gd name="adj" fmla="val 4545"/>
            </a:avLst>
          </a:prstGeom>
          <a:solidFill xmlns:a="http://schemas.openxmlformats.org/drawingml/2006/main">
            <a:srgbClr val="102A36"/>
          </a:solidFill>
          <a:ln xmlns:a="http://schemas.openxmlformats.org/drawingml/2006/main" w="9525">
            <a:solidFill>
              <a:srgbClr val="2EC4D6"/>
            </a:solidFill>
            <a:prstDash val="solid"/>
          </a:ln>
        </p:spPr>
      </p:sp>
      <p:sp>
        <p:nvSpPr>
          <p:cNvPr id="9" name="">
            <a:extLst xmlns:a="http://schemas.openxmlformats.org/drawingml/2006/main">
              <a:ext uri="{FF2B5EF4-FFF2-40B4-BE49-F238E27FC236}">
                <a16:creationId xmlns:a16="http://schemas.microsoft.com/office/drawing/2014/main" id="{3014CDFC-5178-45DA-8872-5456DC800B31}"/>
              </a:ext>
            </a:extLst>
          </p:cNvPr>
          <p:cNvSpPr>
            <a:spLocks xmlns:a="http://schemas.openxmlformats.org/drawingml/2006/main" noGrp="1"/>
          </p:cNvSpPr>
          <p:nvPr/>
        </p:nvSpPr>
        <p:spPr>
          <a:xfrm xmlns:a="http://schemas.openxmlformats.org/drawingml/2006/main">
            <a:off x="895350" y="2324100"/>
            <a:ext cx="2876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2EC4D6"/>
                </a:solidFill>
                <a:latin typeface="Aptos"/>
                <a:ea typeface="Aptos"/>
                <a:cs typeface="Aptos"/>
              </a:defRPr>
            </a:pPr>
            <a:r>
              <a:rPr sz="975" b="1">
                <a:solidFill>
                  <a:srgbClr val="2EC4D6"/>
                </a:solidFill>
                <a:latin typeface="Aptos"/>
                <a:ea typeface="Aptos"/>
                <a:cs typeface="Aptos"/>
              </a:rPr>
              <a:t>WHY</a:t>
            </a:r>
          </a:p>
        </p:txBody>
      </p:sp>
      <p:sp>
        <p:nvSpPr>
          <p:cNvPr id="10" name="">
            <a:extLst xmlns:a="http://schemas.openxmlformats.org/drawingml/2006/main">
              <a:ext uri="{FF2B5EF4-FFF2-40B4-BE49-F238E27FC236}">
                <a16:creationId xmlns:a16="http://schemas.microsoft.com/office/drawing/2014/main" id="{AB52B973-FA53-446B-A1EB-822DA561A8BA}"/>
              </a:ext>
            </a:extLst>
          </p:cNvPr>
          <p:cNvSpPr>
            <a:spLocks xmlns:a="http://schemas.openxmlformats.org/drawingml/2006/main" noGrp="1"/>
          </p:cNvSpPr>
          <p:nvPr/>
        </p:nvSpPr>
        <p:spPr>
          <a:xfrm xmlns:a="http://schemas.openxmlformats.org/drawingml/2006/main">
            <a:off x="952500" y="2857500"/>
            <a:ext cx="276225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725" b="1">
                <a:solidFill>
                  <a:srgbClr val="FFFFFF"/>
                </a:solidFill>
                <a:latin typeface="Aptos"/>
                <a:ea typeface="Aptos"/>
                <a:cs typeface="Aptos"/>
              </a:defRPr>
            </a:pPr>
            <a:r>
              <a:rPr sz="1725" b="1">
                <a:solidFill>
                  <a:srgbClr val="FFFFFF"/>
                </a:solidFill>
                <a:latin typeface="Aptos"/>
                <a:ea typeface="Aptos"/>
                <a:cs typeface="Aptos"/>
              </a:rPr>
              <a:t>Why is this behavior necessary?</a:t>
            </a:r>
          </a:p>
        </p:txBody>
      </p:sp>
      <p:sp>
        <p:nvSpPr>
          <p:cNvPr id="11" name="">
            <a:extLst xmlns:a="http://schemas.openxmlformats.org/drawingml/2006/main">
              <a:ext uri="{FF2B5EF4-FFF2-40B4-BE49-F238E27FC236}">
                <a16:creationId xmlns:a16="http://schemas.microsoft.com/office/drawing/2014/main" id="{D00CA535-4286-43AE-A176-4A8568946513}"/>
              </a:ext>
            </a:extLst>
          </p:cNvPr>
          <p:cNvSpPr>
            <a:spLocks xmlns:a="http://schemas.openxmlformats.org/drawingml/2006/main" noGrp="1"/>
          </p:cNvSpPr>
          <p:nvPr/>
        </p:nvSpPr>
        <p:spPr>
          <a:xfrm xmlns:a="http://schemas.openxmlformats.org/drawingml/2006/main">
            <a:off x="4457700" y="2095500"/>
            <a:ext cx="3333750" cy="1676400"/>
          </a:xfrm>
          <a:prstGeom xmlns:a="http://schemas.openxmlformats.org/drawingml/2006/main" prst="roundRect">
            <a:avLst>
              <a:gd name="adj" fmla="val 4545"/>
            </a:avLst>
          </a:prstGeom>
          <a:solidFill xmlns:a="http://schemas.openxmlformats.org/drawingml/2006/main">
            <a:srgbClr val="3B2A18"/>
          </a:solidFill>
          <a:ln xmlns:a="http://schemas.openxmlformats.org/drawingml/2006/main" w="19050">
            <a:solidFill>
              <a:srgbClr val="FF9F43"/>
            </a:solidFill>
            <a:prstDash val="solid"/>
          </a:ln>
        </p:spPr>
      </p:sp>
      <p:sp>
        <p:nvSpPr>
          <p:cNvPr id="12" name="">
            <a:extLst xmlns:a="http://schemas.openxmlformats.org/drawingml/2006/main">
              <a:ext uri="{FF2B5EF4-FFF2-40B4-BE49-F238E27FC236}">
                <a16:creationId xmlns:a16="http://schemas.microsoft.com/office/drawing/2014/main" id="{E14EE707-D9EF-4E2A-97CC-99C398F93D23}"/>
              </a:ext>
            </a:extLst>
          </p:cNvPr>
          <p:cNvSpPr>
            <a:spLocks xmlns:a="http://schemas.openxmlformats.org/drawingml/2006/main" noGrp="1"/>
          </p:cNvSpPr>
          <p:nvPr/>
        </p:nvSpPr>
        <p:spPr>
          <a:xfrm xmlns:a="http://schemas.openxmlformats.org/drawingml/2006/main">
            <a:off x="4686300" y="2324100"/>
            <a:ext cx="2876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9F43"/>
                </a:solidFill>
                <a:latin typeface="Aptos"/>
                <a:ea typeface="Aptos"/>
                <a:cs typeface="Aptos"/>
              </a:defRPr>
            </a:pPr>
            <a:r>
              <a:rPr sz="975" b="1">
                <a:solidFill>
                  <a:srgbClr val="FF9F43"/>
                </a:solidFill>
                <a:latin typeface="Aptos"/>
                <a:ea typeface="Aptos"/>
                <a:cs typeface="Aptos"/>
              </a:rPr>
              <a:t>WHAT</a:t>
            </a:r>
          </a:p>
        </p:txBody>
      </p:sp>
      <p:sp>
        <p:nvSpPr>
          <p:cNvPr id="13" name="">
            <a:extLst xmlns:a="http://schemas.openxmlformats.org/drawingml/2006/main">
              <a:ext uri="{FF2B5EF4-FFF2-40B4-BE49-F238E27FC236}">
                <a16:creationId xmlns:a16="http://schemas.microsoft.com/office/drawing/2014/main" id="{5E38EEE2-C4D1-498C-A036-DFAC7E05492A}"/>
              </a:ext>
            </a:extLst>
          </p:cNvPr>
          <p:cNvSpPr>
            <a:spLocks xmlns:a="http://schemas.openxmlformats.org/drawingml/2006/main" noGrp="1"/>
          </p:cNvSpPr>
          <p:nvPr/>
        </p:nvSpPr>
        <p:spPr>
          <a:xfrm xmlns:a="http://schemas.openxmlformats.org/drawingml/2006/main">
            <a:off x="4743450" y="2857500"/>
            <a:ext cx="276225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725" b="1">
                <a:solidFill>
                  <a:srgbClr val="FFFFFF"/>
                </a:solidFill>
                <a:latin typeface="Aptos"/>
                <a:ea typeface="Aptos"/>
                <a:cs typeface="Aptos"/>
              </a:defRPr>
            </a:pPr>
            <a:r>
              <a:rPr sz="1725" b="1">
                <a:solidFill>
                  <a:srgbClr val="FFFFFF"/>
                </a:solidFill>
                <a:latin typeface="Aptos"/>
                <a:ea typeface="Aptos"/>
                <a:cs typeface="Aptos"/>
              </a:rPr>
              <a:t>Exactly what must happen?</a:t>
            </a:r>
          </a:p>
        </p:txBody>
      </p:sp>
      <p:sp>
        <p:nvSpPr>
          <p:cNvPr id="14" name="">
            <a:extLst xmlns:a="http://schemas.openxmlformats.org/drawingml/2006/main">
              <a:ext uri="{FF2B5EF4-FFF2-40B4-BE49-F238E27FC236}">
                <a16:creationId xmlns:a16="http://schemas.microsoft.com/office/drawing/2014/main" id="{6125DBC4-8A38-444E-A889-8E0C1E6872E6}"/>
              </a:ext>
            </a:extLst>
          </p:cNvPr>
          <p:cNvSpPr>
            <a:spLocks xmlns:a="http://schemas.openxmlformats.org/drawingml/2006/main" noGrp="1"/>
          </p:cNvSpPr>
          <p:nvPr/>
        </p:nvSpPr>
        <p:spPr>
          <a:xfrm xmlns:a="http://schemas.openxmlformats.org/drawingml/2006/main">
            <a:off x="8248650" y="2095500"/>
            <a:ext cx="3333750" cy="1676400"/>
          </a:xfrm>
          <a:prstGeom xmlns:a="http://schemas.openxmlformats.org/drawingml/2006/main" prst="roundRect">
            <a:avLst>
              <a:gd name="adj" fmla="val 4545"/>
            </a:avLst>
          </a:prstGeom>
          <a:solidFill xmlns:a="http://schemas.openxmlformats.org/drawingml/2006/main">
            <a:srgbClr val="102A36"/>
          </a:solidFill>
          <a:ln xmlns:a="http://schemas.openxmlformats.org/drawingml/2006/main" w="9525">
            <a:solidFill>
              <a:srgbClr val="2EC4D6"/>
            </a:solidFill>
            <a:prstDash val="solid"/>
          </a:ln>
        </p:spPr>
      </p:sp>
      <p:sp>
        <p:nvSpPr>
          <p:cNvPr id="15" name="">
            <a:extLst xmlns:a="http://schemas.openxmlformats.org/drawingml/2006/main">
              <a:ext uri="{FF2B5EF4-FFF2-40B4-BE49-F238E27FC236}">
                <a16:creationId xmlns:a16="http://schemas.microsoft.com/office/drawing/2014/main" id="{8800F893-A23F-4468-8CFC-128DEAC0429B}"/>
              </a:ext>
            </a:extLst>
          </p:cNvPr>
          <p:cNvSpPr>
            <a:spLocks xmlns:a="http://schemas.openxmlformats.org/drawingml/2006/main" noGrp="1"/>
          </p:cNvSpPr>
          <p:nvPr/>
        </p:nvSpPr>
        <p:spPr>
          <a:xfrm xmlns:a="http://schemas.openxmlformats.org/drawingml/2006/main">
            <a:off x="8477250" y="2324100"/>
            <a:ext cx="2876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2EC4D6"/>
                </a:solidFill>
                <a:latin typeface="Aptos"/>
                <a:ea typeface="Aptos"/>
                <a:cs typeface="Aptos"/>
              </a:defRPr>
            </a:pPr>
            <a:r>
              <a:rPr sz="975" b="1">
                <a:solidFill>
                  <a:srgbClr val="2EC4D6"/>
                </a:solidFill>
                <a:latin typeface="Aptos"/>
                <a:ea typeface="Aptos"/>
                <a:cs typeface="Aptos"/>
              </a:rPr>
              <a:t>EVIDENCE</a:t>
            </a:r>
          </a:p>
        </p:txBody>
      </p:sp>
      <p:sp>
        <p:nvSpPr>
          <p:cNvPr id="16" name="">
            <a:extLst xmlns:a="http://schemas.openxmlformats.org/drawingml/2006/main">
              <a:ext uri="{FF2B5EF4-FFF2-40B4-BE49-F238E27FC236}">
                <a16:creationId xmlns:a16="http://schemas.microsoft.com/office/drawing/2014/main" id="{5F65DD8C-BEFD-4CC7-AAEE-5D9CBED5EDCD}"/>
              </a:ext>
            </a:extLst>
          </p:cNvPr>
          <p:cNvSpPr>
            <a:spLocks xmlns:a="http://schemas.openxmlformats.org/drawingml/2006/main" noGrp="1"/>
          </p:cNvSpPr>
          <p:nvPr/>
        </p:nvSpPr>
        <p:spPr>
          <a:xfrm xmlns:a="http://schemas.openxmlformats.org/drawingml/2006/main">
            <a:off x="8534400" y="2857500"/>
            <a:ext cx="276225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725" b="1">
                <a:solidFill>
                  <a:srgbClr val="FFFFFF"/>
                </a:solidFill>
                <a:latin typeface="Aptos"/>
                <a:ea typeface="Aptos"/>
                <a:cs typeface="Aptos"/>
              </a:defRPr>
            </a:pPr>
            <a:r>
              <a:rPr sz="1725" b="1">
                <a:solidFill>
                  <a:srgbClr val="FFFFFF"/>
                </a:solidFill>
                <a:latin typeface="Aptos"/>
                <a:ea typeface="Aptos"/>
                <a:cs typeface="Aptos"/>
              </a:rPr>
              <a:t>How will we objectively verify it?</a:t>
            </a:r>
          </a:p>
        </p:txBody>
      </p:sp>
      <p:sp>
        <p:nvSpPr>
          <p:cNvPr id="17" name="">
            <a:extLst xmlns:a="http://schemas.openxmlformats.org/drawingml/2006/main">
              <a:ext uri="{FF2B5EF4-FFF2-40B4-BE49-F238E27FC236}">
                <a16:creationId xmlns:a16="http://schemas.microsoft.com/office/drawing/2014/main" id="{25838100-56CC-4770-B9C6-489267369C08}"/>
              </a:ext>
            </a:extLst>
          </p:cNvPr>
          <p:cNvSpPr>
            <a:spLocks xmlns:a="http://schemas.openxmlformats.org/drawingml/2006/main" noGrp="1"/>
          </p:cNvSpPr>
          <p:nvPr/>
        </p:nvSpPr>
        <p:spPr>
          <a:xfrm xmlns:a="http://schemas.openxmlformats.org/drawingml/2006/main">
            <a:off x="4457700" y="3943350"/>
            <a:ext cx="3333750" cy="38100"/>
          </a:xfrm>
          <a:prstGeom xmlns:a="http://schemas.openxmlformats.org/drawingml/2006/main" prst="rect">
            <a:avLst/>
          </a:prstGeom>
          <a:solidFill xmlns:a="http://schemas.openxmlformats.org/drawingml/2006/main">
            <a:srgbClr val="FF9F43"/>
          </a:solidFill>
          <a:ln xmlns:a="http://schemas.openxmlformats.org/drawingml/2006/main" w="38100">
            <a:solidFill>
              <a:srgbClr val="FF9F43"/>
            </a:solidFill>
            <a:prstDash val="solid"/>
          </a:ln>
        </p:spPr>
      </p:sp>
      <p:sp>
        <p:nvSpPr>
          <p:cNvPr id="18" name="">
            <a:extLst xmlns:a="http://schemas.openxmlformats.org/drawingml/2006/main">
              <a:ext uri="{FF2B5EF4-FFF2-40B4-BE49-F238E27FC236}">
                <a16:creationId xmlns:a16="http://schemas.microsoft.com/office/drawing/2014/main" id="{A4811A28-425D-4CBA-AFEB-942379F098F2}"/>
              </a:ext>
            </a:extLst>
          </p:cNvPr>
          <p:cNvSpPr>
            <a:spLocks xmlns:a="http://schemas.openxmlformats.org/drawingml/2006/main" noGrp="1"/>
          </p:cNvSpPr>
          <p:nvPr/>
        </p:nvSpPr>
        <p:spPr>
          <a:xfrm xmlns:a="http://schemas.openxmlformats.org/drawingml/2006/main">
            <a:off x="5257800" y="4171950"/>
            <a:ext cx="1733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9F43"/>
                </a:solidFill>
                <a:latin typeface="Aptos"/>
                <a:ea typeface="Aptos"/>
                <a:cs typeface="Aptos"/>
              </a:defRPr>
            </a:pPr>
            <a:r>
              <a:rPr sz="975" b="1">
                <a:solidFill>
                  <a:srgbClr val="FF9F43"/>
                </a:solidFill>
                <a:latin typeface="Aptos"/>
                <a:ea typeface="Aptos"/>
                <a:cs typeface="Aptos"/>
              </a:rPr>
              <a:t>TODAY'S FOCUS</a:t>
            </a:r>
          </a:p>
        </p:txBody>
      </p:sp>
      <p:sp>
        <p:nvSpPr>
          <p:cNvPr id="19" name="">
            <a:extLst xmlns:a="http://schemas.openxmlformats.org/drawingml/2006/main">
              <a:ext uri="{FF2B5EF4-FFF2-40B4-BE49-F238E27FC236}">
                <a16:creationId xmlns:a16="http://schemas.microsoft.com/office/drawing/2014/main" id="{7E1D3F36-BA4B-4B6B-87D3-2336FB1881D3}"/>
              </a:ext>
            </a:extLst>
          </p:cNvPr>
          <p:cNvSpPr>
            <a:spLocks xmlns:a="http://schemas.openxmlformats.org/drawingml/2006/main" noGrp="1"/>
          </p:cNvSpPr>
          <p:nvPr/>
        </p:nvSpPr>
        <p:spPr>
          <a:xfrm xmlns:a="http://schemas.openxmlformats.org/drawingml/2006/main">
            <a:off x="2857500" y="4610100"/>
            <a:ext cx="6477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025" b="1">
                <a:solidFill>
                  <a:srgbClr val="FFFFFF"/>
                </a:solidFill>
                <a:latin typeface="Aptos Display"/>
                <a:ea typeface="Aptos Display"/>
                <a:cs typeface="Aptos Display"/>
              </a:defRPr>
            </a:pPr>
            <a:r>
              <a:rPr sz="2025" b="1">
                <a:solidFill>
                  <a:srgbClr val="FFFFFF"/>
                </a:solidFill>
                <a:latin typeface="Aptos Display"/>
                <a:ea typeface="Aptos Display"/>
                <a:cs typeface="Aptos Display"/>
              </a:rPr>
              <a:t>One defensible interpretation. One primary obligation.</a:t>
            </a:r>
          </a:p>
        </p:txBody>
      </p:sp>
    </p:spTree>
    <p:extLst>
      <p:ext uri="{BB962C8B-B14F-4D97-AF65-F5344CB8AC3E}">
        <p14:creationId xmlns:p14="http://schemas.microsoft.com/office/powerpoint/2010/main" val="77208593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AEF594A-8886-4B58-ACEC-887900C5B0F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1E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835D434-8911-4816-9A2D-B356C0C6D100}"/>
              </a:ext>
            </a:extLst>
          </p:cNvPr>
          <p:cNvSpPr>
            <a:spLocks xmlns:a="http://schemas.openxmlformats.org/drawingml/2006/main" noGrp="1"/>
          </p:cNvSpPr>
          <p:nvPr/>
        </p:nvSpPr>
        <p:spPr>
          <a:xfrm xmlns:a="http://schemas.openxmlformats.org/drawingml/2006/main">
            <a:off x="457200" y="361950"/>
            <a:ext cx="76200" cy="76200"/>
          </a:xfrm>
          <a:prstGeom xmlns:a="http://schemas.openxmlformats.org/drawingml/2006/main" prst="rect">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C21A4AD-6419-441E-A4C7-218006A737BF}"/>
              </a:ext>
            </a:extLst>
          </p:cNvPr>
          <p:cNvSpPr>
            <a:spLocks xmlns:a="http://schemas.openxmlformats.org/drawingml/2006/main" noGrp="1"/>
          </p:cNvSpPr>
          <p:nvPr/>
        </p:nvSpPr>
        <p:spPr>
          <a:xfrm xmlns:a="http://schemas.openxmlformats.org/drawingml/2006/main">
            <a:off x="64770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46616F"/>
                </a:solidFill>
                <a:latin typeface="Aptos"/>
                <a:ea typeface="Aptos"/>
                <a:cs typeface="Aptos"/>
              </a:defRPr>
            </a:pPr>
            <a:r>
              <a:rPr sz="1050" b="1">
                <a:solidFill>
                  <a:srgbClr val="46616F"/>
                </a:solidFill>
                <a:latin typeface="Aptos"/>
                <a:ea typeface="Aptos"/>
                <a:cs typeface="Aptos"/>
              </a:rPr>
              <a:t>CLARITY</a:t>
            </a:r>
          </a:p>
        </p:txBody>
      </p:sp>
      <p:sp>
        <p:nvSpPr>
          <p:cNvPr id="4" name="">
            <a:extLst xmlns:a="http://schemas.openxmlformats.org/drawingml/2006/main">
              <a:ext uri="{FF2B5EF4-FFF2-40B4-BE49-F238E27FC236}">
                <a16:creationId xmlns:a16="http://schemas.microsoft.com/office/drawing/2014/main" id="{322AA8A0-0BCF-436B-B317-F6C7659BC289}"/>
              </a:ext>
            </a:extLst>
          </p:cNvPr>
          <p:cNvSpPr>
            <a:spLocks xmlns:a="http://schemas.openxmlformats.org/drawingml/2006/main" noGrp="1"/>
          </p:cNvSpPr>
          <p:nvPr/>
        </p:nvSpPr>
        <p:spPr>
          <a:xfrm xmlns:a="http://schemas.openxmlformats.org/drawingml/2006/main">
            <a:off x="457200" y="666750"/>
            <a:ext cx="11049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850" b="1">
                <a:solidFill>
                  <a:srgbClr val="071821"/>
                </a:solidFill>
                <a:latin typeface="Aptos Display"/>
                <a:ea typeface="Aptos Display"/>
                <a:cs typeface="Aptos Display"/>
              </a:defRPr>
            </a:pPr>
            <a:r>
              <a:rPr sz="2850" b="1">
                <a:solidFill>
                  <a:srgbClr val="071821"/>
                </a:solidFill>
                <a:latin typeface="Aptos Display"/>
                <a:ea typeface="Aptos Display"/>
                <a:cs typeface="Aptos Display"/>
              </a:rPr>
              <a:t>Clear means one technically defensible interpretation.</a:t>
            </a:r>
          </a:p>
        </p:txBody>
      </p:sp>
      <p:sp>
        <p:nvSpPr>
          <p:cNvPr id="5" name="">
            <a:extLst xmlns:a="http://schemas.openxmlformats.org/drawingml/2006/main">
              <a:ext uri="{FF2B5EF4-FFF2-40B4-BE49-F238E27FC236}">
                <a16:creationId xmlns:a16="http://schemas.microsoft.com/office/drawing/2014/main" id="{877247CB-2BE9-4AF7-A4AB-8B41F55FD12A}"/>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C9D8DC"/>
          </a:solidFill>
          <a:ln xmlns:a="http://schemas.openxmlformats.org/drawingml/2006/main" w="9525">
            <a:solidFill>
              <a:srgbClr val="C9D8DC"/>
            </a:solidFill>
            <a:prstDash val="solid"/>
          </a:ln>
        </p:spPr>
      </p:sp>
      <p:sp>
        <p:nvSpPr>
          <p:cNvPr id="6" name="">
            <a:extLst xmlns:a="http://schemas.openxmlformats.org/drawingml/2006/main">
              <a:ext uri="{FF2B5EF4-FFF2-40B4-BE49-F238E27FC236}">
                <a16:creationId xmlns:a16="http://schemas.microsoft.com/office/drawing/2014/main" id="{08F31F99-F178-4F5D-8FF9-E7F559A01257}"/>
              </a:ext>
            </a:extLst>
          </p:cNvPr>
          <p:cNvSpPr>
            <a:spLocks xmlns:a="http://schemas.openxmlformats.org/drawingml/2006/main" noGrp="1"/>
          </p:cNvSpPr>
          <p:nvPr/>
        </p:nvSpPr>
        <p:spPr>
          <a:xfrm xmlns:a="http://schemas.openxmlformats.org/drawingml/2006/main">
            <a:off x="4572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46616F"/>
                </a:solidFill>
                <a:latin typeface="Aptos"/>
                <a:ea typeface="Aptos"/>
                <a:cs typeface="Aptos"/>
              </a:defRPr>
            </a:pPr>
            <a:r>
              <a:rPr sz="750" b="1">
                <a:solidFill>
                  <a:srgbClr val="46616F"/>
                </a:solidFill>
                <a:latin typeface="Aptos"/>
                <a:ea typeface="Aptos"/>
                <a:cs typeface="Aptos"/>
              </a:rPr>
              <a:t>SESSION 2</a:t>
            </a:r>
          </a:p>
        </p:txBody>
      </p:sp>
      <p:sp>
        <p:nvSpPr>
          <p:cNvPr id="7" name="">
            <a:extLst xmlns:a="http://schemas.openxmlformats.org/drawingml/2006/main">
              <a:ext uri="{FF2B5EF4-FFF2-40B4-BE49-F238E27FC236}">
                <a16:creationId xmlns:a16="http://schemas.microsoft.com/office/drawing/2014/main" id="{17993302-BEAF-4A93-B49B-BAB9A6386AD7}"/>
              </a:ext>
            </a:extLst>
          </p:cNvPr>
          <p:cNvSpPr>
            <a:spLocks xmlns:a="http://schemas.openxmlformats.org/drawingml/2006/main" noGrp="1"/>
          </p:cNvSpPr>
          <p:nvPr/>
        </p:nvSpPr>
        <p:spPr>
          <a:xfrm xmlns:a="http://schemas.openxmlformats.org/drawingml/2006/main">
            <a:off x="11144250" y="6515100"/>
            <a:ext cx="590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46616F"/>
                </a:solidFill>
                <a:latin typeface="Aptos"/>
                <a:ea typeface="Aptos"/>
                <a:cs typeface="Aptos"/>
              </a:defRPr>
            </a:pPr>
            <a:r>
              <a:rPr sz="825" b="1">
                <a:solidFill>
                  <a:srgbClr val="46616F"/>
                </a:solidFill>
                <a:latin typeface="Aptos"/>
                <a:ea typeface="Aptos"/>
                <a:cs typeface="Aptos"/>
              </a:rPr>
              <a:t>04</a:t>
            </a:r>
          </a:p>
        </p:txBody>
      </p:sp>
      <p:sp>
        <p:nvSpPr>
          <p:cNvPr id="8" name="">
            <a:extLst xmlns:a="http://schemas.openxmlformats.org/drawingml/2006/main">
              <a:ext uri="{FF2B5EF4-FFF2-40B4-BE49-F238E27FC236}">
                <a16:creationId xmlns:a16="http://schemas.microsoft.com/office/drawing/2014/main" id="{8D2F9BE0-8DFF-4E6D-8641-896C8CC9E945}"/>
              </a:ext>
            </a:extLst>
          </p:cNvPr>
          <p:cNvSpPr>
            <a:spLocks xmlns:a="http://schemas.openxmlformats.org/drawingml/2006/main" noGrp="1"/>
          </p:cNvSpPr>
          <p:nvPr/>
        </p:nvSpPr>
        <p:spPr>
          <a:xfrm xmlns:a="http://schemas.openxmlformats.org/drawingml/2006/main">
            <a:off x="685800" y="1657350"/>
            <a:ext cx="1447800" cy="285750"/>
          </a:xfrm>
          <a:prstGeom xmlns:a="http://schemas.openxmlformats.org/drawingml/2006/main" prst="roundRect">
            <a:avLst>
              <a:gd name="adj" fmla="val 26667"/>
            </a:avLst>
          </a:prstGeom>
          <a:solidFill xmlns:a="http://schemas.openxmlformats.org/drawingml/2006/main">
            <a:srgbClr val="071821"/>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5BB9F7EB-C81A-43ED-AEFB-2AEC083CB6CE}"/>
              </a:ext>
            </a:extLst>
          </p:cNvPr>
          <p:cNvSpPr>
            <a:spLocks xmlns:a="http://schemas.openxmlformats.org/drawingml/2006/main" noGrp="1"/>
          </p:cNvSpPr>
          <p:nvPr/>
        </p:nvSpPr>
        <p:spPr>
          <a:xfrm xmlns:a="http://schemas.openxmlformats.org/drawingml/2006/main">
            <a:off x="781050" y="1704975"/>
            <a:ext cx="1257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SOURCE STATEMENT</a:t>
            </a:r>
          </a:p>
        </p:txBody>
      </p:sp>
      <p:sp>
        <p:nvSpPr>
          <p:cNvPr id="10" name="">
            <a:extLst xmlns:a="http://schemas.openxmlformats.org/drawingml/2006/main">
              <a:ext uri="{FF2B5EF4-FFF2-40B4-BE49-F238E27FC236}">
                <a16:creationId xmlns:a16="http://schemas.microsoft.com/office/drawing/2014/main" id="{38E4426A-AFC6-4599-9F3A-F23A1C6E05B9}"/>
              </a:ext>
            </a:extLst>
          </p:cNvPr>
          <p:cNvSpPr>
            <a:spLocks xmlns:a="http://schemas.openxmlformats.org/drawingml/2006/main" noGrp="1"/>
          </p:cNvSpPr>
          <p:nvPr/>
        </p:nvSpPr>
        <p:spPr>
          <a:xfrm xmlns:a="http://schemas.openxmlformats.org/drawingml/2006/main">
            <a:off x="685800" y="2114550"/>
            <a:ext cx="1082040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14288">
            <a:solidFill>
              <a:srgbClr val="FF9F43"/>
            </a:solidFill>
            <a:prstDash val="solid"/>
          </a:ln>
        </p:spPr>
      </p:sp>
      <p:sp>
        <p:nvSpPr>
          <p:cNvPr id="11" name="">
            <a:extLst xmlns:a="http://schemas.openxmlformats.org/drawingml/2006/main">
              <a:ext uri="{FF2B5EF4-FFF2-40B4-BE49-F238E27FC236}">
                <a16:creationId xmlns:a16="http://schemas.microsoft.com/office/drawing/2014/main" id="{DEF669D5-8377-47CD-84EA-15A25C8D594A}"/>
              </a:ext>
            </a:extLst>
          </p:cNvPr>
          <p:cNvSpPr>
            <a:spLocks xmlns:a="http://schemas.openxmlformats.org/drawingml/2006/main" noGrp="1"/>
          </p:cNvSpPr>
          <p:nvPr/>
        </p:nvSpPr>
        <p:spPr>
          <a:xfrm xmlns:a="http://schemas.openxmlformats.org/drawingml/2006/main">
            <a:off x="933450" y="2305050"/>
            <a:ext cx="103251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725" b="1">
                <a:solidFill>
                  <a:srgbClr val="071821"/>
                </a:solidFill>
                <a:latin typeface="Aptos Mono"/>
                <a:ea typeface="Aptos Mono"/>
                <a:cs typeface="Aptos Mono"/>
              </a:defRPr>
            </a:pPr>
            <a:r>
              <a:rPr sz="1725" b="1">
                <a:solidFill>
                  <a:srgbClr val="071821"/>
                </a:solidFill>
                <a:latin typeface="Aptos Mono"/>
                <a:ea typeface="Aptos Mono"/>
                <a:cs typeface="Aptos Mono"/>
              </a:rPr>
              <a:t>The Flight Software shall periodically validate ephemeris data.</a:t>
            </a:r>
          </a:p>
        </p:txBody>
      </p:sp>
      <p:sp>
        <p:nvSpPr>
          <p:cNvPr id="12" name="">
            <a:extLst xmlns:a="http://schemas.openxmlformats.org/drawingml/2006/main">
              <a:ext uri="{FF2B5EF4-FFF2-40B4-BE49-F238E27FC236}">
                <a16:creationId xmlns:a16="http://schemas.microsoft.com/office/drawing/2014/main" id="{E1F3DB69-C919-4D99-854A-8BF188FA4FD3}"/>
              </a:ext>
            </a:extLst>
          </p:cNvPr>
          <p:cNvSpPr>
            <a:spLocks xmlns:a="http://schemas.openxmlformats.org/drawingml/2006/main" noGrp="1"/>
          </p:cNvSpPr>
          <p:nvPr/>
        </p:nvSpPr>
        <p:spPr>
          <a:xfrm xmlns:a="http://schemas.openxmlformats.org/drawingml/2006/main">
            <a:off x="2305050" y="2838450"/>
            <a:ext cx="19050" cy="457200"/>
          </a:xfrm>
          <a:prstGeom xmlns:a="http://schemas.openxmlformats.org/drawingml/2006/main" prst="rect">
            <a:avLst/>
          </a:prstGeom>
          <a:solidFill xmlns:a="http://schemas.openxmlformats.org/drawingml/2006/main">
            <a:srgbClr val="46616F"/>
          </a:solidFill>
          <a:ln xmlns:a="http://schemas.openxmlformats.org/drawingml/2006/main" w="19050">
            <a:solidFill>
              <a:srgbClr val="46616F"/>
            </a:solidFill>
            <a:prstDash val="solid"/>
          </a:ln>
        </p:spPr>
      </p:sp>
      <p:sp>
        <p:nvSpPr>
          <p:cNvPr id="13" name="">
            <a:extLst xmlns:a="http://schemas.openxmlformats.org/drawingml/2006/main">
              <a:ext uri="{FF2B5EF4-FFF2-40B4-BE49-F238E27FC236}">
                <a16:creationId xmlns:a16="http://schemas.microsoft.com/office/drawing/2014/main" id="{BFB393A9-3AB8-485C-BAA5-6415F88C7E99}"/>
              </a:ext>
            </a:extLst>
          </p:cNvPr>
          <p:cNvSpPr>
            <a:spLocks xmlns:a="http://schemas.openxmlformats.org/drawingml/2006/main" noGrp="1"/>
          </p:cNvSpPr>
          <p:nvPr/>
        </p:nvSpPr>
        <p:spPr>
          <a:xfrm xmlns:a="http://schemas.openxmlformats.org/drawingml/2006/main">
            <a:off x="685800" y="3409950"/>
            <a:ext cx="3333750" cy="1390650"/>
          </a:xfrm>
          <a:prstGeom xmlns:a="http://schemas.openxmlformats.org/drawingml/2006/main" prst="roundRect">
            <a:avLst>
              <a:gd name="adj" fmla="val 5479"/>
            </a:avLst>
          </a:prstGeom>
          <a:solidFill xmlns:a="http://schemas.openxmlformats.org/drawingml/2006/main">
            <a:srgbClr val="BCEAF0"/>
          </a:solidFill>
          <a:ln xmlns:a="http://schemas.openxmlformats.org/drawingml/2006/main" w="9525">
            <a:solidFill>
              <a:srgbClr val="C9D8DC"/>
            </a:solidFill>
            <a:prstDash val="solid"/>
          </a:ln>
        </p:spPr>
      </p:sp>
      <p:sp>
        <p:nvSpPr>
          <p:cNvPr id="14" name="">
            <a:extLst xmlns:a="http://schemas.openxmlformats.org/drawingml/2006/main">
              <a:ext uri="{FF2B5EF4-FFF2-40B4-BE49-F238E27FC236}">
                <a16:creationId xmlns:a16="http://schemas.microsoft.com/office/drawing/2014/main" id="{B173C42A-970F-4B11-A97A-90EFC5359DFD}"/>
              </a:ext>
            </a:extLst>
          </p:cNvPr>
          <p:cNvSpPr>
            <a:spLocks xmlns:a="http://schemas.openxmlformats.org/drawingml/2006/main" noGrp="1"/>
          </p:cNvSpPr>
          <p:nvPr/>
        </p:nvSpPr>
        <p:spPr>
          <a:xfrm xmlns:a="http://schemas.openxmlformats.org/drawingml/2006/main">
            <a:off x="895350" y="3619500"/>
            <a:ext cx="2914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46616F"/>
                </a:solidFill>
                <a:latin typeface="Aptos"/>
                <a:ea typeface="Aptos"/>
                <a:cs typeface="Aptos"/>
              </a:defRPr>
            </a:pPr>
            <a:r>
              <a:rPr sz="975" b="1">
                <a:solidFill>
                  <a:srgbClr val="46616F"/>
                </a:solidFill>
                <a:latin typeface="Aptos"/>
                <a:ea typeface="Aptos"/>
                <a:cs typeface="Aptos"/>
              </a:rPr>
              <a:t>DEVELOPER</a:t>
            </a:r>
          </a:p>
        </p:txBody>
      </p:sp>
      <p:sp>
        <p:nvSpPr>
          <p:cNvPr id="15" name="">
            <a:extLst xmlns:a="http://schemas.openxmlformats.org/drawingml/2006/main">
              <a:ext uri="{FF2B5EF4-FFF2-40B4-BE49-F238E27FC236}">
                <a16:creationId xmlns:a16="http://schemas.microsoft.com/office/drawing/2014/main" id="{DFB74B7F-7BEE-4FDA-BBDA-4EC19D1338AD}"/>
              </a:ext>
            </a:extLst>
          </p:cNvPr>
          <p:cNvSpPr>
            <a:spLocks xmlns:a="http://schemas.openxmlformats.org/drawingml/2006/main" noGrp="1"/>
          </p:cNvSpPr>
          <p:nvPr/>
        </p:nvSpPr>
        <p:spPr>
          <a:xfrm xmlns:a="http://schemas.openxmlformats.org/drawingml/2006/main">
            <a:off x="952500" y="4057650"/>
            <a:ext cx="28003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575" b="1">
                <a:solidFill>
                  <a:srgbClr val="071821"/>
                </a:solidFill>
                <a:latin typeface="Aptos"/>
                <a:ea typeface="Aptos"/>
                <a:cs typeface="Aptos"/>
              </a:defRPr>
            </a:pPr>
            <a:r>
              <a:rPr sz="1575" b="1">
                <a:solidFill>
                  <a:srgbClr val="071821"/>
                </a:solidFill>
                <a:latin typeface="Aptos"/>
                <a:ea typeface="Aptos"/>
                <a:cs typeface="Aptos"/>
              </a:rPr>
              <a:t>Validate every execution cycle</a:t>
            </a:r>
          </a:p>
        </p:txBody>
      </p:sp>
      <p:sp>
        <p:nvSpPr>
          <p:cNvPr id="16" name="">
            <a:extLst xmlns:a="http://schemas.openxmlformats.org/drawingml/2006/main">
              <a:ext uri="{FF2B5EF4-FFF2-40B4-BE49-F238E27FC236}">
                <a16:creationId xmlns:a16="http://schemas.microsoft.com/office/drawing/2014/main" id="{5FB6D8E1-5525-40B0-8FBE-865B2136B34E}"/>
              </a:ext>
            </a:extLst>
          </p:cNvPr>
          <p:cNvSpPr>
            <a:spLocks xmlns:a="http://schemas.openxmlformats.org/drawingml/2006/main" noGrp="1"/>
          </p:cNvSpPr>
          <p:nvPr/>
        </p:nvSpPr>
        <p:spPr>
          <a:xfrm xmlns:a="http://schemas.openxmlformats.org/drawingml/2006/main">
            <a:off x="5943600" y="2838450"/>
            <a:ext cx="19050" cy="457200"/>
          </a:xfrm>
          <a:prstGeom xmlns:a="http://schemas.openxmlformats.org/drawingml/2006/main" prst="rect">
            <a:avLst/>
          </a:prstGeom>
          <a:solidFill xmlns:a="http://schemas.openxmlformats.org/drawingml/2006/main">
            <a:srgbClr val="46616F"/>
          </a:solidFill>
          <a:ln xmlns:a="http://schemas.openxmlformats.org/drawingml/2006/main" w="19050">
            <a:solidFill>
              <a:srgbClr val="46616F"/>
            </a:solidFill>
            <a:prstDash val="solid"/>
          </a:ln>
        </p:spPr>
      </p:sp>
      <p:sp>
        <p:nvSpPr>
          <p:cNvPr id="17" name="">
            <a:extLst xmlns:a="http://schemas.openxmlformats.org/drawingml/2006/main">
              <a:ext uri="{FF2B5EF4-FFF2-40B4-BE49-F238E27FC236}">
                <a16:creationId xmlns:a16="http://schemas.microsoft.com/office/drawing/2014/main" id="{E9BFC054-7F9B-48C3-99B0-0C4F41686CEC}"/>
              </a:ext>
            </a:extLst>
          </p:cNvPr>
          <p:cNvSpPr>
            <a:spLocks xmlns:a="http://schemas.openxmlformats.org/drawingml/2006/main" noGrp="1"/>
          </p:cNvSpPr>
          <p:nvPr/>
        </p:nvSpPr>
        <p:spPr>
          <a:xfrm xmlns:a="http://schemas.openxmlformats.org/drawingml/2006/main">
            <a:off x="4324350" y="3409950"/>
            <a:ext cx="3333750" cy="1390650"/>
          </a:xfrm>
          <a:prstGeom xmlns:a="http://schemas.openxmlformats.org/drawingml/2006/main" prst="roundRect">
            <a:avLst>
              <a:gd name="adj" fmla="val 5479"/>
            </a:avLst>
          </a:prstGeom>
          <a:solidFill xmlns:a="http://schemas.openxmlformats.org/drawingml/2006/main">
            <a:srgbClr val="FFFFFF"/>
          </a:solidFill>
          <a:ln xmlns:a="http://schemas.openxmlformats.org/drawingml/2006/main" w="9525">
            <a:solidFill>
              <a:srgbClr val="C9D8DC"/>
            </a:solidFill>
            <a:prstDash val="solid"/>
          </a:ln>
        </p:spPr>
      </p:sp>
      <p:sp>
        <p:nvSpPr>
          <p:cNvPr id="18" name="">
            <a:extLst xmlns:a="http://schemas.openxmlformats.org/drawingml/2006/main">
              <a:ext uri="{FF2B5EF4-FFF2-40B4-BE49-F238E27FC236}">
                <a16:creationId xmlns:a16="http://schemas.microsoft.com/office/drawing/2014/main" id="{7A7CDB4F-9BEA-4ED3-832D-9BCDD03F6177}"/>
              </a:ext>
            </a:extLst>
          </p:cNvPr>
          <p:cNvSpPr>
            <a:spLocks xmlns:a="http://schemas.openxmlformats.org/drawingml/2006/main" noGrp="1"/>
          </p:cNvSpPr>
          <p:nvPr/>
        </p:nvSpPr>
        <p:spPr>
          <a:xfrm xmlns:a="http://schemas.openxmlformats.org/drawingml/2006/main">
            <a:off x="4533900" y="3619500"/>
            <a:ext cx="2914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46616F"/>
                </a:solidFill>
                <a:latin typeface="Aptos"/>
                <a:ea typeface="Aptos"/>
                <a:cs typeface="Aptos"/>
              </a:defRPr>
            </a:pPr>
            <a:r>
              <a:rPr sz="975" b="1">
                <a:solidFill>
                  <a:srgbClr val="46616F"/>
                </a:solidFill>
                <a:latin typeface="Aptos"/>
                <a:ea typeface="Aptos"/>
                <a:cs typeface="Aptos"/>
              </a:rPr>
              <a:t>TESTER</a:t>
            </a:r>
          </a:p>
        </p:txBody>
      </p:sp>
      <p:sp>
        <p:nvSpPr>
          <p:cNvPr id="19" name="">
            <a:extLst xmlns:a="http://schemas.openxmlformats.org/drawingml/2006/main">
              <a:ext uri="{FF2B5EF4-FFF2-40B4-BE49-F238E27FC236}">
                <a16:creationId xmlns:a16="http://schemas.microsoft.com/office/drawing/2014/main" id="{4E8AD30F-A486-466C-9117-BCE24476592B}"/>
              </a:ext>
            </a:extLst>
          </p:cNvPr>
          <p:cNvSpPr>
            <a:spLocks xmlns:a="http://schemas.openxmlformats.org/drawingml/2006/main" noGrp="1"/>
          </p:cNvSpPr>
          <p:nvPr/>
        </p:nvSpPr>
        <p:spPr>
          <a:xfrm xmlns:a="http://schemas.openxmlformats.org/drawingml/2006/main">
            <a:off x="4591050" y="4057650"/>
            <a:ext cx="28003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575" b="1">
                <a:solidFill>
                  <a:srgbClr val="071821"/>
                </a:solidFill>
                <a:latin typeface="Aptos"/>
                <a:ea typeface="Aptos"/>
                <a:cs typeface="Aptos"/>
              </a:defRPr>
            </a:pPr>
            <a:r>
              <a:rPr sz="1575" b="1">
                <a:solidFill>
                  <a:srgbClr val="071821"/>
                </a:solidFill>
                <a:latin typeface="Aptos"/>
                <a:ea typeface="Aptos"/>
                <a:cs typeface="Aptos"/>
              </a:rPr>
              <a:t>Validate at a fixed time interval</a:t>
            </a:r>
          </a:p>
        </p:txBody>
      </p:sp>
      <p:sp>
        <p:nvSpPr>
          <p:cNvPr id="20" name="">
            <a:extLst xmlns:a="http://schemas.openxmlformats.org/drawingml/2006/main">
              <a:ext uri="{FF2B5EF4-FFF2-40B4-BE49-F238E27FC236}">
                <a16:creationId xmlns:a16="http://schemas.microsoft.com/office/drawing/2014/main" id="{F5A89DF1-CA03-4DFB-8C85-B1FE43C9191F}"/>
              </a:ext>
            </a:extLst>
          </p:cNvPr>
          <p:cNvSpPr>
            <a:spLocks xmlns:a="http://schemas.openxmlformats.org/drawingml/2006/main" noGrp="1"/>
          </p:cNvSpPr>
          <p:nvPr/>
        </p:nvSpPr>
        <p:spPr>
          <a:xfrm xmlns:a="http://schemas.openxmlformats.org/drawingml/2006/main">
            <a:off x="9582150" y="2838450"/>
            <a:ext cx="19050" cy="457200"/>
          </a:xfrm>
          <a:prstGeom xmlns:a="http://schemas.openxmlformats.org/drawingml/2006/main" prst="rect">
            <a:avLst/>
          </a:prstGeom>
          <a:solidFill xmlns:a="http://schemas.openxmlformats.org/drawingml/2006/main">
            <a:srgbClr val="FF9F43"/>
          </a:solidFill>
          <a:ln xmlns:a="http://schemas.openxmlformats.org/drawingml/2006/main" w="19050">
            <a:solidFill>
              <a:srgbClr val="FF9F43"/>
            </a:solidFill>
            <a:prstDash val="solid"/>
          </a:ln>
        </p:spPr>
      </p:sp>
      <p:sp>
        <p:nvSpPr>
          <p:cNvPr id="21" name="">
            <a:extLst xmlns:a="http://schemas.openxmlformats.org/drawingml/2006/main">
              <a:ext uri="{FF2B5EF4-FFF2-40B4-BE49-F238E27FC236}">
                <a16:creationId xmlns:a16="http://schemas.microsoft.com/office/drawing/2014/main" id="{82603EDF-FA2E-45DB-8F20-51FBD68F6A64}"/>
              </a:ext>
            </a:extLst>
          </p:cNvPr>
          <p:cNvSpPr>
            <a:spLocks xmlns:a="http://schemas.openxmlformats.org/drawingml/2006/main" noGrp="1"/>
          </p:cNvSpPr>
          <p:nvPr/>
        </p:nvSpPr>
        <p:spPr>
          <a:xfrm xmlns:a="http://schemas.openxmlformats.org/drawingml/2006/main">
            <a:off x="7962900" y="3409950"/>
            <a:ext cx="3333750" cy="1390650"/>
          </a:xfrm>
          <a:prstGeom xmlns:a="http://schemas.openxmlformats.org/drawingml/2006/main" prst="roundRect">
            <a:avLst>
              <a:gd name="adj" fmla="val 5479"/>
            </a:avLst>
          </a:prstGeom>
          <a:solidFill xmlns:a="http://schemas.openxmlformats.org/drawingml/2006/main">
            <a:srgbClr val="FFE0B8"/>
          </a:solidFill>
          <a:ln xmlns:a="http://schemas.openxmlformats.org/drawingml/2006/main" w="9525">
            <a:solidFill>
              <a:srgbClr val="FF9F43"/>
            </a:solidFill>
            <a:prstDash val="solid"/>
          </a:ln>
        </p:spPr>
      </p:sp>
      <p:sp>
        <p:nvSpPr>
          <p:cNvPr id="22" name="">
            <a:extLst xmlns:a="http://schemas.openxmlformats.org/drawingml/2006/main">
              <a:ext uri="{FF2B5EF4-FFF2-40B4-BE49-F238E27FC236}">
                <a16:creationId xmlns:a16="http://schemas.microsoft.com/office/drawing/2014/main" id="{20033B63-E82F-4508-824C-EA3D5C2F0F53}"/>
              </a:ext>
            </a:extLst>
          </p:cNvPr>
          <p:cNvSpPr>
            <a:spLocks xmlns:a="http://schemas.openxmlformats.org/drawingml/2006/main" noGrp="1"/>
          </p:cNvSpPr>
          <p:nvPr/>
        </p:nvSpPr>
        <p:spPr>
          <a:xfrm xmlns:a="http://schemas.openxmlformats.org/drawingml/2006/main">
            <a:off x="8172450" y="3619500"/>
            <a:ext cx="2914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46616F"/>
                </a:solidFill>
                <a:latin typeface="Aptos"/>
                <a:ea typeface="Aptos"/>
                <a:cs typeface="Aptos"/>
              </a:defRPr>
            </a:pPr>
            <a:r>
              <a:rPr sz="975" b="1">
                <a:solidFill>
                  <a:srgbClr val="46616F"/>
                </a:solidFill>
                <a:latin typeface="Aptos"/>
                <a:ea typeface="Aptos"/>
                <a:cs typeface="Aptos"/>
              </a:rPr>
              <a:t>OPERATOR</a:t>
            </a:r>
          </a:p>
        </p:txBody>
      </p:sp>
      <p:sp>
        <p:nvSpPr>
          <p:cNvPr id="23" name="">
            <a:extLst xmlns:a="http://schemas.openxmlformats.org/drawingml/2006/main">
              <a:ext uri="{FF2B5EF4-FFF2-40B4-BE49-F238E27FC236}">
                <a16:creationId xmlns:a16="http://schemas.microsoft.com/office/drawing/2014/main" id="{DC5B83EE-64D9-4FFE-BE35-485DB0FEC7F6}"/>
              </a:ext>
            </a:extLst>
          </p:cNvPr>
          <p:cNvSpPr>
            <a:spLocks xmlns:a="http://schemas.openxmlformats.org/drawingml/2006/main" noGrp="1"/>
          </p:cNvSpPr>
          <p:nvPr/>
        </p:nvSpPr>
        <p:spPr>
          <a:xfrm xmlns:a="http://schemas.openxmlformats.org/drawingml/2006/main">
            <a:off x="8229600" y="4057650"/>
            <a:ext cx="28003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575" b="1">
                <a:solidFill>
                  <a:srgbClr val="071821"/>
                </a:solidFill>
                <a:latin typeface="Aptos"/>
                <a:ea typeface="Aptos"/>
                <a:cs typeface="Aptos"/>
              </a:defRPr>
            </a:pPr>
            <a:r>
              <a:rPr sz="1575" b="1">
                <a:solidFill>
                  <a:srgbClr val="071821"/>
                </a:solidFill>
                <a:latin typeface="Aptos"/>
                <a:ea typeface="Aptos"/>
                <a:cs typeface="Aptos"/>
              </a:rPr>
              <a:t>Validate when new data arrives</a:t>
            </a:r>
          </a:p>
        </p:txBody>
      </p:sp>
      <p:sp>
        <p:nvSpPr>
          <p:cNvPr id="24" name="">
            <a:extLst xmlns:a="http://schemas.openxmlformats.org/drawingml/2006/main">
              <a:ext uri="{FF2B5EF4-FFF2-40B4-BE49-F238E27FC236}">
                <a16:creationId xmlns:a16="http://schemas.microsoft.com/office/drawing/2014/main" id="{0602769F-9CAF-4F6B-8D01-2B79528BD800}"/>
              </a:ext>
            </a:extLst>
          </p:cNvPr>
          <p:cNvSpPr>
            <a:spLocks xmlns:a="http://schemas.openxmlformats.org/drawingml/2006/main" noGrp="1"/>
          </p:cNvSpPr>
          <p:nvPr/>
        </p:nvSpPr>
        <p:spPr>
          <a:xfrm xmlns:a="http://schemas.openxmlformats.org/drawingml/2006/main">
            <a:off x="1809750" y="5314950"/>
            <a:ext cx="8572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46616F"/>
                </a:solidFill>
                <a:latin typeface="Aptos"/>
                <a:ea typeface="Aptos"/>
                <a:cs typeface="Aptos"/>
              </a:defRPr>
            </a:pPr>
            <a:r>
              <a:rPr sz="1350" b="1">
                <a:solidFill>
                  <a:srgbClr val="46616F"/>
                </a:solidFill>
                <a:latin typeface="Aptos"/>
                <a:ea typeface="Aptos"/>
                <a:cs typeface="Aptos"/>
              </a:rPr>
              <a:t>If multiple interpretations are reasonable, the requirement is carrying an unresolved decision.</a:t>
            </a:r>
          </a:p>
        </p:txBody>
      </p:sp>
    </p:spTree>
    <p:extLst>
      <p:ext uri="{BB962C8B-B14F-4D97-AF65-F5344CB8AC3E}">
        <p14:creationId xmlns:p14="http://schemas.microsoft.com/office/powerpoint/2010/main" val="181739757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A6E7F88-09A3-4586-B095-2D48829B6BB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821"/>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9026764-728A-4C51-8044-CE945F02F2D1}"/>
              </a:ext>
            </a:extLst>
          </p:cNvPr>
          <p:cNvSpPr>
            <a:spLocks xmlns:a="http://schemas.openxmlformats.org/drawingml/2006/main" noGrp="1"/>
          </p:cNvSpPr>
          <p:nvPr/>
        </p:nvSpPr>
        <p:spPr>
          <a:xfrm xmlns:a="http://schemas.openxmlformats.org/drawingml/2006/main">
            <a:off x="457200" y="361950"/>
            <a:ext cx="76200" cy="76200"/>
          </a:xfrm>
          <a:prstGeom xmlns:a="http://schemas.openxmlformats.org/drawingml/2006/main" prst="rect">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9AE3AE7-275F-4D62-8A7A-3C848B0DD0ED}"/>
              </a:ext>
            </a:extLst>
          </p:cNvPr>
          <p:cNvSpPr>
            <a:spLocks xmlns:a="http://schemas.openxmlformats.org/drawingml/2006/main" noGrp="1"/>
          </p:cNvSpPr>
          <p:nvPr/>
        </p:nvSpPr>
        <p:spPr>
          <a:xfrm xmlns:a="http://schemas.openxmlformats.org/drawingml/2006/main">
            <a:off x="64770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BCEAF0"/>
                </a:solidFill>
                <a:latin typeface="Aptos"/>
                <a:ea typeface="Aptos"/>
                <a:cs typeface="Aptos"/>
              </a:defRPr>
            </a:pPr>
            <a:r>
              <a:rPr sz="1050" b="1">
                <a:solidFill>
                  <a:srgbClr val="BCEAF0"/>
                </a:solidFill>
                <a:latin typeface="Aptos"/>
                <a:ea typeface="Aptos"/>
                <a:cs typeface="Aptos"/>
              </a:rPr>
              <a:t>OWNERSHIP</a:t>
            </a:r>
          </a:p>
        </p:txBody>
      </p:sp>
      <p:sp>
        <p:nvSpPr>
          <p:cNvPr id="4" name="">
            <a:extLst xmlns:a="http://schemas.openxmlformats.org/drawingml/2006/main">
              <a:ext uri="{FF2B5EF4-FFF2-40B4-BE49-F238E27FC236}">
                <a16:creationId xmlns:a16="http://schemas.microsoft.com/office/drawing/2014/main" id="{F70F3E22-B1CA-4F08-B7FC-473DCD043173}"/>
              </a:ext>
            </a:extLst>
          </p:cNvPr>
          <p:cNvSpPr>
            <a:spLocks xmlns:a="http://schemas.openxmlformats.org/drawingml/2006/main" noGrp="1"/>
          </p:cNvSpPr>
          <p:nvPr/>
        </p:nvSpPr>
        <p:spPr>
          <a:xfrm xmlns:a="http://schemas.openxmlformats.org/drawingml/2006/main">
            <a:off x="457200" y="666750"/>
            <a:ext cx="11049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850" b="1">
                <a:solidFill>
                  <a:srgbClr val="FFFFFF"/>
                </a:solidFill>
                <a:latin typeface="Aptos Display"/>
                <a:ea typeface="Aptos Display"/>
                <a:cs typeface="Aptos Display"/>
              </a:defRPr>
            </a:pPr>
            <a:r>
              <a:rPr sz="2850" b="1">
                <a:solidFill>
                  <a:srgbClr val="FFFFFF"/>
                </a:solidFill>
                <a:latin typeface="Aptos Display"/>
                <a:ea typeface="Aptos Display"/>
                <a:cs typeface="Aptos Display"/>
              </a:rPr>
              <a:t>Put the shall on the element that owns the action.</a:t>
            </a:r>
          </a:p>
        </p:txBody>
      </p:sp>
      <p:sp>
        <p:nvSpPr>
          <p:cNvPr id="5" name="">
            <a:extLst xmlns:a="http://schemas.openxmlformats.org/drawingml/2006/main">
              <a:ext uri="{FF2B5EF4-FFF2-40B4-BE49-F238E27FC236}">
                <a16:creationId xmlns:a16="http://schemas.microsoft.com/office/drawing/2014/main" id="{03532015-A4E8-40FB-A8B8-855A7F1620FE}"/>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46616F"/>
          </a:solidFill>
          <a:ln xmlns:a="http://schemas.openxmlformats.org/drawingml/2006/main" w="9525">
            <a:solidFill>
              <a:srgbClr val="46616F"/>
            </a:solidFill>
            <a:prstDash val="solid"/>
          </a:ln>
        </p:spPr>
      </p:sp>
      <p:sp>
        <p:nvSpPr>
          <p:cNvPr id="6" name="">
            <a:extLst xmlns:a="http://schemas.openxmlformats.org/drawingml/2006/main">
              <a:ext uri="{FF2B5EF4-FFF2-40B4-BE49-F238E27FC236}">
                <a16:creationId xmlns:a16="http://schemas.microsoft.com/office/drawing/2014/main" id="{A87A95DC-E452-4D0F-9DC0-FBA07122D250}"/>
              </a:ext>
            </a:extLst>
          </p:cNvPr>
          <p:cNvSpPr>
            <a:spLocks xmlns:a="http://schemas.openxmlformats.org/drawingml/2006/main" noGrp="1"/>
          </p:cNvSpPr>
          <p:nvPr/>
        </p:nvSpPr>
        <p:spPr>
          <a:xfrm xmlns:a="http://schemas.openxmlformats.org/drawingml/2006/main">
            <a:off x="4572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C9D8DC"/>
                </a:solidFill>
                <a:latin typeface="Aptos"/>
                <a:ea typeface="Aptos"/>
                <a:cs typeface="Aptos"/>
              </a:defRPr>
            </a:pPr>
            <a:r>
              <a:rPr sz="750" b="1">
                <a:solidFill>
                  <a:srgbClr val="C9D8DC"/>
                </a:solidFill>
                <a:latin typeface="Aptos"/>
                <a:ea typeface="Aptos"/>
                <a:cs typeface="Aptos"/>
              </a:rPr>
              <a:t>SESSION 2</a:t>
            </a:r>
          </a:p>
        </p:txBody>
      </p:sp>
      <p:sp>
        <p:nvSpPr>
          <p:cNvPr id="7" name="">
            <a:extLst xmlns:a="http://schemas.openxmlformats.org/drawingml/2006/main">
              <a:ext uri="{FF2B5EF4-FFF2-40B4-BE49-F238E27FC236}">
                <a16:creationId xmlns:a16="http://schemas.microsoft.com/office/drawing/2014/main" id="{CBC34616-6918-4265-A5E3-0F63FB4B6C51}"/>
              </a:ext>
            </a:extLst>
          </p:cNvPr>
          <p:cNvSpPr>
            <a:spLocks xmlns:a="http://schemas.openxmlformats.org/drawingml/2006/main" noGrp="1"/>
          </p:cNvSpPr>
          <p:nvPr/>
        </p:nvSpPr>
        <p:spPr>
          <a:xfrm xmlns:a="http://schemas.openxmlformats.org/drawingml/2006/main">
            <a:off x="11144250" y="6515100"/>
            <a:ext cx="590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C9D8DC"/>
                </a:solidFill>
                <a:latin typeface="Aptos"/>
                <a:ea typeface="Aptos"/>
                <a:cs typeface="Aptos"/>
              </a:defRPr>
            </a:pPr>
            <a:r>
              <a:rPr sz="825" b="1">
                <a:solidFill>
                  <a:srgbClr val="C9D8DC"/>
                </a:solidFill>
                <a:latin typeface="Aptos"/>
                <a:ea typeface="Aptos"/>
                <a:cs typeface="Aptos"/>
              </a:rPr>
              <a:t>05</a:t>
            </a:r>
          </a:p>
        </p:txBody>
      </p:sp>
      <p:sp>
        <p:nvSpPr>
          <p:cNvPr id="8" name="">
            <a:extLst xmlns:a="http://schemas.openxmlformats.org/drawingml/2006/main">
              <a:ext uri="{FF2B5EF4-FFF2-40B4-BE49-F238E27FC236}">
                <a16:creationId xmlns:a16="http://schemas.microsoft.com/office/drawing/2014/main" id="{AEF9C7E2-C1BB-4C97-9E44-894476F2A4AE}"/>
              </a:ext>
            </a:extLst>
          </p:cNvPr>
          <p:cNvSpPr>
            <a:spLocks xmlns:a="http://schemas.openxmlformats.org/drawingml/2006/main" noGrp="1"/>
          </p:cNvSpPr>
          <p:nvPr/>
        </p:nvSpPr>
        <p:spPr>
          <a:xfrm xmlns:a="http://schemas.openxmlformats.org/drawingml/2006/main">
            <a:off x="723900" y="1695450"/>
            <a:ext cx="1066800" cy="285750"/>
          </a:xfrm>
          <a:prstGeom xmlns:a="http://schemas.openxmlformats.org/drawingml/2006/main" prst="roundRect">
            <a:avLst>
              <a:gd name="adj" fmla="val 26667"/>
            </a:avLst>
          </a:prstGeom>
          <a:solidFill xmlns:a="http://schemas.openxmlformats.org/drawingml/2006/main">
            <a:srgbClr val="FF9F4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1A4928D3-08D5-49B7-85D6-A7D0B120900B}"/>
              </a:ext>
            </a:extLst>
          </p:cNvPr>
          <p:cNvSpPr>
            <a:spLocks xmlns:a="http://schemas.openxmlformats.org/drawingml/2006/main" noGrp="1"/>
          </p:cNvSpPr>
          <p:nvPr/>
        </p:nvSpPr>
        <p:spPr>
          <a:xfrm xmlns:a="http://schemas.openxmlformats.org/drawingml/2006/main">
            <a:off x="819150" y="1743075"/>
            <a:ext cx="876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071821"/>
                </a:solidFill>
                <a:latin typeface="Aptos"/>
                <a:ea typeface="Aptos"/>
                <a:cs typeface="Aptos"/>
              </a:defRPr>
            </a:pPr>
            <a:r>
              <a:rPr sz="900" b="1">
                <a:solidFill>
                  <a:srgbClr val="071821"/>
                </a:solidFill>
                <a:latin typeface="Aptos"/>
                <a:ea typeface="Aptos"/>
                <a:cs typeface="Aptos"/>
              </a:rPr>
              <a:t>TOO BROAD</a:t>
            </a:r>
          </a:p>
        </p:txBody>
      </p:sp>
      <p:sp>
        <p:nvSpPr>
          <p:cNvPr id="10" name="">
            <a:extLst xmlns:a="http://schemas.openxmlformats.org/drawingml/2006/main">
              <a:ext uri="{FF2B5EF4-FFF2-40B4-BE49-F238E27FC236}">
                <a16:creationId xmlns:a16="http://schemas.microsoft.com/office/drawing/2014/main" id="{0FBDF37D-58B0-4592-B951-FE7C7AF5D5F3}"/>
              </a:ext>
            </a:extLst>
          </p:cNvPr>
          <p:cNvSpPr>
            <a:spLocks xmlns:a="http://schemas.openxmlformats.org/drawingml/2006/main" noGrp="1"/>
          </p:cNvSpPr>
          <p:nvPr/>
        </p:nvSpPr>
        <p:spPr>
          <a:xfrm xmlns:a="http://schemas.openxmlformats.org/drawingml/2006/main">
            <a:off x="723900" y="2133600"/>
            <a:ext cx="10744200" cy="800100"/>
          </a:xfrm>
          <a:prstGeom xmlns:a="http://schemas.openxmlformats.org/drawingml/2006/main" prst="roundRect">
            <a:avLst>
              <a:gd name="adj" fmla="val 9524"/>
            </a:avLst>
          </a:prstGeom>
          <a:solidFill xmlns:a="http://schemas.openxmlformats.org/drawingml/2006/main">
            <a:srgbClr val="102A36"/>
          </a:solidFill>
          <a:ln xmlns:a="http://schemas.openxmlformats.org/drawingml/2006/main" w="14288">
            <a:solidFill>
              <a:srgbClr val="FF9F43"/>
            </a:solidFill>
            <a:prstDash val="solid"/>
          </a:ln>
        </p:spPr>
      </p:sp>
      <p:sp>
        <p:nvSpPr>
          <p:cNvPr id="11" name="">
            <a:extLst xmlns:a="http://schemas.openxmlformats.org/drawingml/2006/main">
              <a:ext uri="{FF2B5EF4-FFF2-40B4-BE49-F238E27FC236}">
                <a16:creationId xmlns:a16="http://schemas.microsoft.com/office/drawing/2014/main" id="{3CD29F21-2D4B-4453-8E04-A2AB781EA10C}"/>
              </a:ext>
            </a:extLst>
          </p:cNvPr>
          <p:cNvSpPr>
            <a:spLocks xmlns:a="http://schemas.openxmlformats.org/drawingml/2006/main" noGrp="1"/>
          </p:cNvSpPr>
          <p:nvPr/>
        </p:nvSpPr>
        <p:spPr>
          <a:xfrm xmlns:a="http://schemas.openxmlformats.org/drawingml/2006/main">
            <a:off x="990600" y="2352675"/>
            <a:ext cx="102108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0">
                <a:solidFill>
                  <a:srgbClr val="FFFFFF"/>
                </a:solidFill>
                <a:latin typeface="Aptos Mono"/>
                <a:ea typeface="Aptos Mono"/>
                <a:cs typeface="Aptos Mono"/>
              </a:defRPr>
            </a:pPr>
            <a:r>
              <a:rPr sz="1800" b="0">
                <a:solidFill>
                  <a:srgbClr val="FFFFFF"/>
                </a:solidFill>
                <a:latin typeface="Aptos Mono"/>
                <a:ea typeface="Aptos Mono"/>
                <a:cs typeface="Aptos Mono"/>
              </a:rPr>
              <a:t>The spacecraft shall reject an invalid command.</a:t>
            </a:r>
          </a:p>
        </p:txBody>
      </p:sp>
      <p:sp>
        <p:nvSpPr>
          <p:cNvPr id="12" name="">
            <a:extLst xmlns:a="http://schemas.openxmlformats.org/drawingml/2006/main">
              <a:ext uri="{FF2B5EF4-FFF2-40B4-BE49-F238E27FC236}">
                <a16:creationId xmlns:a16="http://schemas.microsoft.com/office/drawing/2014/main" id="{A63AF380-B8B8-4B96-B667-182ADD91A256}"/>
              </a:ext>
            </a:extLst>
          </p:cNvPr>
          <p:cNvSpPr>
            <a:spLocks xmlns:a="http://schemas.openxmlformats.org/drawingml/2006/main" noGrp="1"/>
          </p:cNvSpPr>
          <p:nvPr/>
        </p:nvSpPr>
        <p:spPr>
          <a:xfrm xmlns:a="http://schemas.openxmlformats.org/drawingml/2006/main">
            <a:off x="1104900" y="3638550"/>
            <a:ext cx="2381250" cy="990600"/>
          </a:xfrm>
          <a:prstGeom xmlns:a="http://schemas.openxmlformats.org/drawingml/2006/main" prst="roundRect">
            <a:avLst>
              <a:gd name="adj" fmla="val 7692"/>
            </a:avLst>
          </a:prstGeom>
          <a:solidFill xmlns:a="http://schemas.openxmlformats.org/drawingml/2006/main">
            <a:srgbClr val="102A36"/>
          </a:solidFill>
          <a:ln xmlns:a="http://schemas.openxmlformats.org/drawingml/2006/main" w="9525">
            <a:solidFill>
              <a:srgbClr val="46616F"/>
            </a:solidFill>
            <a:prstDash val="solid"/>
          </a:ln>
        </p:spPr>
      </p:sp>
      <p:sp>
        <p:nvSpPr>
          <p:cNvPr id="13" name="">
            <a:extLst xmlns:a="http://schemas.openxmlformats.org/drawingml/2006/main">
              <a:ext uri="{FF2B5EF4-FFF2-40B4-BE49-F238E27FC236}">
                <a16:creationId xmlns:a16="http://schemas.microsoft.com/office/drawing/2014/main" id="{72A95BC2-4AE5-4AB6-92AC-0B90AC652EE7}"/>
              </a:ext>
            </a:extLst>
          </p:cNvPr>
          <p:cNvSpPr>
            <a:spLocks xmlns:a="http://schemas.openxmlformats.org/drawingml/2006/main" noGrp="1"/>
          </p:cNvSpPr>
          <p:nvPr/>
        </p:nvSpPr>
        <p:spPr>
          <a:xfrm xmlns:a="http://schemas.openxmlformats.org/drawingml/2006/main">
            <a:off x="1276350" y="3810000"/>
            <a:ext cx="2038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C9D8DC"/>
                </a:solidFill>
                <a:latin typeface="Aptos"/>
                <a:ea typeface="Aptos"/>
                <a:cs typeface="Aptos"/>
              </a:defRPr>
            </a:pPr>
            <a:r>
              <a:rPr sz="1050" b="1">
                <a:solidFill>
                  <a:srgbClr val="C9D8DC"/>
                </a:solidFill>
                <a:latin typeface="Aptos"/>
                <a:ea typeface="Aptos"/>
                <a:cs typeface="Aptos"/>
              </a:rPr>
              <a:t>SPACECRAFT</a:t>
            </a:r>
          </a:p>
        </p:txBody>
      </p:sp>
      <p:sp>
        <p:nvSpPr>
          <p:cNvPr id="14" name="">
            <a:extLst xmlns:a="http://schemas.openxmlformats.org/drawingml/2006/main">
              <a:ext uri="{FF2B5EF4-FFF2-40B4-BE49-F238E27FC236}">
                <a16:creationId xmlns:a16="http://schemas.microsoft.com/office/drawing/2014/main" id="{9EE14599-0E68-4699-A5CA-769490DA4528}"/>
              </a:ext>
            </a:extLst>
          </p:cNvPr>
          <p:cNvSpPr>
            <a:spLocks xmlns:a="http://schemas.openxmlformats.org/drawingml/2006/main" noGrp="1"/>
          </p:cNvSpPr>
          <p:nvPr/>
        </p:nvSpPr>
        <p:spPr>
          <a:xfrm xmlns:a="http://schemas.openxmlformats.org/drawingml/2006/main">
            <a:off x="1276350" y="4191000"/>
            <a:ext cx="2038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0">
                <a:solidFill>
                  <a:srgbClr val="FFFFFF"/>
                </a:solidFill>
                <a:latin typeface="Aptos"/>
                <a:ea typeface="Aptos"/>
                <a:cs typeface="Aptos"/>
              </a:defRPr>
            </a:pPr>
            <a:r>
              <a:rPr sz="1200" b="0">
                <a:solidFill>
                  <a:srgbClr val="FFFFFF"/>
                </a:solidFill>
                <a:latin typeface="Aptos"/>
                <a:ea typeface="Aptos"/>
                <a:cs typeface="Aptos"/>
              </a:rPr>
              <a:t>System behavior</a:t>
            </a:r>
          </a:p>
        </p:txBody>
      </p:sp>
      <p:sp>
        <p:nvSpPr>
          <p:cNvPr id="15" name="">
            <a:extLst xmlns:a="http://schemas.openxmlformats.org/drawingml/2006/main">
              <a:ext uri="{FF2B5EF4-FFF2-40B4-BE49-F238E27FC236}">
                <a16:creationId xmlns:a16="http://schemas.microsoft.com/office/drawing/2014/main" id="{114D3506-6327-4737-B75B-1839FE4A8970}"/>
              </a:ext>
            </a:extLst>
          </p:cNvPr>
          <p:cNvSpPr>
            <a:spLocks xmlns:a="http://schemas.openxmlformats.org/drawingml/2006/main" noGrp="1"/>
          </p:cNvSpPr>
          <p:nvPr/>
        </p:nvSpPr>
        <p:spPr>
          <a:xfrm xmlns:a="http://schemas.openxmlformats.org/drawingml/2006/main">
            <a:off x="3486150" y="4114800"/>
            <a:ext cx="762000" cy="28575"/>
          </a:xfrm>
          <a:prstGeom xmlns:a="http://schemas.openxmlformats.org/drawingml/2006/main" prst="rect">
            <a:avLst/>
          </a:prstGeom>
          <a:solidFill xmlns:a="http://schemas.openxmlformats.org/drawingml/2006/main">
            <a:srgbClr val="46616F"/>
          </a:solidFill>
          <a:ln xmlns:a="http://schemas.openxmlformats.org/drawingml/2006/main" w="28575">
            <a:solidFill>
              <a:srgbClr val="46616F"/>
            </a:solidFill>
            <a:prstDash val="solid"/>
          </a:ln>
        </p:spPr>
      </p:sp>
      <p:sp>
        <p:nvSpPr>
          <p:cNvPr id="16" name="">
            <a:extLst xmlns:a="http://schemas.openxmlformats.org/drawingml/2006/main">
              <a:ext uri="{FF2B5EF4-FFF2-40B4-BE49-F238E27FC236}">
                <a16:creationId xmlns:a16="http://schemas.microsoft.com/office/drawing/2014/main" id="{FEBBFAEC-FE63-4C20-B416-D7FF0E429287}"/>
              </a:ext>
            </a:extLst>
          </p:cNvPr>
          <p:cNvSpPr>
            <a:spLocks xmlns:a="http://schemas.openxmlformats.org/drawingml/2006/main" noGrp="1"/>
          </p:cNvSpPr>
          <p:nvPr/>
        </p:nvSpPr>
        <p:spPr>
          <a:xfrm xmlns:a="http://schemas.openxmlformats.org/drawingml/2006/main">
            <a:off x="4248150" y="3638550"/>
            <a:ext cx="2381250" cy="990600"/>
          </a:xfrm>
          <a:prstGeom xmlns:a="http://schemas.openxmlformats.org/drawingml/2006/main" prst="roundRect">
            <a:avLst>
              <a:gd name="adj" fmla="val 7692"/>
            </a:avLst>
          </a:prstGeom>
          <a:solidFill xmlns:a="http://schemas.openxmlformats.org/drawingml/2006/main">
            <a:srgbClr val="102A36"/>
          </a:solidFill>
          <a:ln xmlns:a="http://schemas.openxmlformats.org/drawingml/2006/main" w="9525">
            <a:solidFill>
              <a:srgbClr val="46616F"/>
            </a:solidFill>
            <a:prstDash val="solid"/>
          </a:ln>
        </p:spPr>
      </p:sp>
      <p:sp>
        <p:nvSpPr>
          <p:cNvPr id="17" name="">
            <a:extLst xmlns:a="http://schemas.openxmlformats.org/drawingml/2006/main">
              <a:ext uri="{FF2B5EF4-FFF2-40B4-BE49-F238E27FC236}">
                <a16:creationId xmlns:a16="http://schemas.microsoft.com/office/drawing/2014/main" id="{18F36674-74B7-4D7F-A215-EE24AAAC4B8D}"/>
              </a:ext>
            </a:extLst>
          </p:cNvPr>
          <p:cNvSpPr>
            <a:spLocks xmlns:a="http://schemas.openxmlformats.org/drawingml/2006/main" noGrp="1"/>
          </p:cNvSpPr>
          <p:nvPr/>
        </p:nvSpPr>
        <p:spPr>
          <a:xfrm xmlns:a="http://schemas.openxmlformats.org/drawingml/2006/main">
            <a:off x="4419600" y="3810000"/>
            <a:ext cx="2038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C9D8DC"/>
                </a:solidFill>
                <a:latin typeface="Aptos"/>
                <a:ea typeface="Aptos"/>
                <a:cs typeface="Aptos"/>
              </a:defRPr>
            </a:pPr>
            <a:r>
              <a:rPr sz="1050" b="1">
                <a:solidFill>
                  <a:srgbClr val="C9D8DC"/>
                </a:solidFill>
                <a:latin typeface="Aptos"/>
                <a:ea typeface="Aptos"/>
                <a:cs typeface="Aptos"/>
              </a:rPr>
              <a:t>FLIGHT SOFTWARE</a:t>
            </a:r>
          </a:p>
        </p:txBody>
      </p:sp>
      <p:sp>
        <p:nvSpPr>
          <p:cNvPr id="18" name="">
            <a:extLst xmlns:a="http://schemas.openxmlformats.org/drawingml/2006/main">
              <a:ext uri="{FF2B5EF4-FFF2-40B4-BE49-F238E27FC236}">
                <a16:creationId xmlns:a16="http://schemas.microsoft.com/office/drawing/2014/main" id="{BBFF658E-B00F-4DE5-9089-53EBB140B03A}"/>
              </a:ext>
            </a:extLst>
          </p:cNvPr>
          <p:cNvSpPr>
            <a:spLocks xmlns:a="http://schemas.openxmlformats.org/drawingml/2006/main" noGrp="1"/>
          </p:cNvSpPr>
          <p:nvPr/>
        </p:nvSpPr>
        <p:spPr>
          <a:xfrm xmlns:a="http://schemas.openxmlformats.org/drawingml/2006/main">
            <a:off x="4419600" y="4191000"/>
            <a:ext cx="2038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0">
                <a:solidFill>
                  <a:srgbClr val="FFFFFF"/>
                </a:solidFill>
                <a:latin typeface="Aptos"/>
                <a:ea typeface="Aptos"/>
                <a:cs typeface="Aptos"/>
              </a:defRPr>
            </a:pPr>
            <a:r>
              <a:rPr sz="1200" b="0">
                <a:solidFill>
                  <a:srgbClr val="FFFFFF"/>
                </a:solidFill>
                <a:latin typeface="Aptos"/>
                <a:ea typeface="Aptos"/>
                <a:cs typeface="Aptos"/>
              </a:rPr>
              <a:t>Software allocation</a:t>
            </a:r>
          </a:p>
        </p:txBody>
      </p:sp>
      <p:sp>
        <p:nvSpPr>
          <p:cNvPr id="19" name="">
            <a:extLst xmlns:a="http://schemas.openxmlformats.org/drawingml/2006/main">
              <a:ext uri="{FF2B5EF4-FFF2-40B4-BE49-F238E27FC236}">
                <a16:creationId xmlns:a16="http://schemas.microsoft.com/office/drawing/2014/main" id="{8E45A1DD-5378-4713-A88C-5427D6C870E5}"/>
              </a:ext>
            </a:extLst>
          </p:cNvPr>
          <p:cNvSpPr>
            <a:spLocks xmlns:a="http://schemas.openxmlformats.org/drawingml/2006/main" noGrp="1"/>
          </p:cNvSpPr>
          <p:nvPr/>
        </p:nvSpPr>
        <p:spPr>
          <a:xfrm xmlns:a="http://schemas.openxmlformats.org/drawingml/2006/main">
            <a:off x="6629400" y="4114800"/>
            <a:ext cx="762000" cy="28575"/>
          </a:xfrm>
          <a:prstGeom xmlns:a="http://schemas.openxmlformats.org/drawingml/2006/main" prst="rect">
            <a:avLst/>
          </a:prstGeom>
          <a:solidFill xmlns:a="http://schemas.openxmlformats.org/drawingml/2006/main">
            <a:srgbClr val="46616F"/>
          </a:solidFill>
          <a:ln xmlns:a="http://schemas.openxmlformats.org/drawingml/2006/main" w="28575">
            <a:solidFill>
              <a:srgbClr val="46616F"/>
            </a:solidFill>
            <a:prstDash val="solid"/>
          </a:ln>
        </p:spPr>
      </p:sp>
      <p:sp>
        <p:nvSpPr>
          <p:cNvPr id="20" name="">
            <a:extLst xmlns:a="http://schemas.openxmlformats.org/drawingml/2006/main">
              <a:ext uri="{FF2B5EF4-FFF2-40B4-BE49-F238E27FC236}">
                <a16:creationId xmlns:a16="http://schemas.microsoft.com/office/drawing/2014/main" id="{D9719EA4-77BB-47C8-BEC0-3C1B226856DA}"/>
              </a:ext>
            </a:extLst>
          </p:cNvPr>
          <p:cNvSpPr>
            <a:spLocks xmlns:a="http://schemas.openxmlformats.org/drawingml/2006/main" noGrp="1"/>
          </p:cNvSpPr>
          <p:nvPr/>
        </p:nvSpPr>
        <p:spPr>
          <a:xfrm xmlns:a="http://schemas.openxmlformats.org/drawingml/2006/main">
            <a:off x="7391400" y="3638550"/>
            <a:ext cx="3238500" cy="990600"/>
          </a:xfrm>
          <a:prstGeom xmlns:a="http://schemas.openxmlformats.org/drawingml/2006/main" prst="roundRect">
            <a:avLst>
              <a:gd name="adj" fmla="val 7692"/>
            </a:avLst>
          </a:prstGeom>
          <a:solidFill xmlns:a="http://schemas.openxmlformats.org/drawingml/2006/main">
            <a:srgbClr val="123B46"/>
          </a:solidFill>
          <a:ln xmlns:a="http://schemas.openxmlformats.org/drawingml/2006/main" w="19050">
            <a:solidFill>
              <a:srgbClr val="2EC4D6"/>
            </a:solidFill>
            <a:prstDash val="solid"/>
          </a:ln>
        </p:spPr>
      </p:sp>
      <p:sp>
        <p:nvSpPr>
          <p:cNvPr id="21" name="">
            <a:extLst xmlns:a="http://schemas.openxmlformats.org/drawingml/2006/main">
              <a:ext uri="{FF2B5EF4-FFF2-40B4-BE49-F238E27FC236}">
                <a16:creationId xmlns:a16="http://schemas.microsoft.com/office/drawing/2014/main" id="{5D0FA400-3C61-46A1-8FAB-280722939E1E}"/>
              </a:ext>
            </a:extLst>
          </p:cNvPr>
          <p:cNvSpPr>
            <a:spLocks xmlns:a="http://schemas.openxmlformats.org/drawingml/2006/main" noGrp="1"/>
          </p:cNvSpPr>
          <p:nvPr/>
        </p:nvSpPr>
        <p:spPr>
          <a:xfrm xmlns:a="http://schemas.openxmlformats.org/drawingml/2006/main">
            <a:off x="7562850" y="3810000"/>
            <a:ext cx="2895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2EC4D6"/>
                </a:solidFill>
                <a:latin typeface="Aptos"/>
                <a:ea typeface="Aptos"/>
                <a:cs typeface="Aptos"/>
              </a:defRPr>
            </a:pPr>
            <a:r>
              <a:rPr sz="1050" b="1">
                <a:solidFill>
                  <a:srgbClr val="2EC4D6"/>
                </a:solidFill>
                <a:latin typeface="Aptos"/>
                <a:ea typeface="Aptos"/>
                <a:cs typeface="Aptos"/>
              </a:rPr>
              <a:t>COMMAND INGEST</a:t>
            </a:r>
          </a:p>
        </p:txBody>
      </p:sp>
      <p:sp>
        <p:nvSpPr>
          <p:cNvPr id="22" name="">
            <a:extLst xmlns:a="http://schemas.openxmlformats.org/drawingml/2006/main">
              <a:ext uri="{FF2B5EF4-FFF2-40B4-BE49-F238E27FC236}">
                <a16:creationId xmlns:a16="http://schemas.microsoft.com/office/drawing/2014/main" id="{86117C05-72CE-47D1-9A46-FF9FF8425D69}"/>
              </a:ext>
            </a:extLst>
          </p:cNvPr>
          <p:cNvSpPr>
            <a:spLocks xmlns:a="http://schemas.openxmlformats.org/drawingml/2006/main" noGrp="1"/>
          </p:cNvSpPr>
          <p:nvPr/>
        </p:nvSpPr>
        <p:spPr>
          <a:xfrm xmlns:a="http://schemas.openxmlformats.org/drawingml/2006/main">
            <a:off x="7562850" y="4191000"/>
            <a:ext cx="2895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0">
                <a:solidFill>
                  <a:srgbClr val="FFFFFF"/>
                </a:solidFill>
                <a:latin typeface="Aptos"/>
                <a:ea typeface="Aptos"/>
                <a:cs typeface="Aptos"/>
              </a:defRPr>
            </a:pPr>
            <a:r>
              <a:rPr sz="1200" b="0">
                <a:solidFill>
                  <a:srgbClr val="FFFFFF"/>
                </a:solidFill>
                <a:latin typeface="Aptos"/>
                <a:ea typeface="Aptos"/>
                <a:cs typeface="Aptos"/>
              </a:rPr>
              <a:t>Owning software element</a:t>
            </a:r>
          </a:p>
        </p:txBody>
      </p:sp>
      <p:sp>
        <p:nvSpPr>
          <p:cNvPr id="23" name="">
            <a:extLst xmlns:a="http://schemas.openxmlformats.org/drawingml/2006/main">
              <a:ext uri="{FF2B5EF4-FFF2-40B4-BE49-F238E27FC236}">
                <a16:creationId xmlns:a16="http://schemas.microsoft.com/office/drawing/2014/main" id="{9FA1A83E-A53A-4492-B7BB-3EF110323193}"/>
              </a:ext>
            </a:extLst>
          </p:cNvPr>
          <p:cNvSpPr>
            <a:spLocks xmlns:a="http://schemas.openxmlformats.org/drawingml/2006/main" noGrp="1"/>
          </p:cNvSpPr>
          <p:nvPr/>
        </p:nvSpPr>
        <p:spPr>
          <a:xfrm xmlns:a="http://schemas.openxmlformats.org/drawingml/2006/main">
            <a:off x="2095500" y="5067300"/>
            <a:ext cx="8001000" cy="552450"/>
          </a:xfrm>
          <a:prstGeom xmlns:a="http://schemas.openxmlformats.org/drawingml/2006/main" prst="roundRect">
            <a:avLst>
              <a:gd name="adj" fmla="val 13793"/>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65E0F258-1706-4A15-8C2A-FEE0A9A2AE20}"/>
              </a:ext>
            </a:extLst>
          </p:cNvPr>
          <p:cNvSpPr>
            <a:spLocks xmlns:a="http://schemas.openxmlformats.org/drawingml/2006/main" noGrp="1"/>
          </p:cNvSpPr>
          <p:nvPr/>
        </p:nvSpPr>
        <p:spPr>
          <a:xfrm xmlns:a="http://schemas.openxmlformats.org/drawingml/2006/main">
            <a:off x="2305050" y="5210175"/>
            <a:ext cx="75819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071821"/>
                </a:solidFill>
                <a:latin typeface="Aptos Mono"/>
                <a:ea typeface="Aptos Mono"/>
                <a:cs typeface="Aptos Mono"/>
              </a:defRPr>
            </a:pPr>
            <a:r>
              <a:rPr sz="1350" b="1">
                <a:solidFill>
                  <a:srgbClr val="071821"/>
                </a:solidFill>
                <a:latin typeface="Aptos Mono"/>
                <a:ea typeface="Aptos Mono"/>
                <a:cs typeface="Aptos Mono"/>
              </a:rPr>
              <a:t>The Command Ingest application shall reject a command with an invalid opcode.</a:t>
            </a:r>
          </a:p>
        </p:txBody>
      </p:sp>
    </p:spTree>
    <p:extLst>
      <p:ext uri="{BB962C8B-B14F-4D97-AF65-F5344CB8AC3E}">
        <p14:creationId xmlns:p14="http://schemas.microsoft.com/office/powerpoint/2010/main" val="33847953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9E100DC-11EB-456C-880E-5EE5B92B436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1E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50BF33C-4469-4EDE-814C-18B829501327}"/>
              </a:ext>
            </a:extLst>
          </p:cNvPr>
          <p:cNvSpPr>
            <a:spLocks xmlns:a="http://schemas.openxmlformats.org/drawingml/2006/main" noGrp="1"/>
          </p:cNvSpPr>
          <p:nvPr/>
        </p:nvSpPr>
        <p:spPr>
          <a:xfrm xmlns:a="http://schemas.openxmlformats.org/drawingml/2006/main">
            <a:off x="457200" y="361950"/>
            <a:ext cx="76200" cy="76200"/>
          </a:xfrm>
          <a:prstGeom xmlns:a="http://schemas.openxmlformats.org/drawingml/2006/main" prst="rect">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68A15F5-F16A-4541-8A0D-5F4E1B190831}"/>
              </a:ext>
            </a:extLst>
          </p:cNvPr>
          <p:cNvSpPr>
            <a:spLocks xmlns:a="http://schemas.openxmlformats.org/drawingml/2006/main" noGrp="1"/>
          </p:cNvSpPr>
          <p:nvPr/>
        </p:nvSpPr>
        <p:spPr>
          <a:xfrm xmlns:a="http://schemas.openxmlformats.org/drawingml/2006/main">
            <a:off x="64770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46616F"/>
                </a:solidFill>
                <a:latin typeface="Aptos"/>
                <a:ea typeface="Aptos"/>
                <a:cs typeface="Aptos"/>
              </a:defRPr>
            </a:pPr>
            <a:r>
              <a:rPr sz="1050" b="1">
                <a:solidFill>
                  <a:srgbClr val="46616F"/>
                </a:solidFill>
                <a:latin typeface="Aptos"/>
                <a:ea typeface="Aptos"/>
                <a:cs typeface="Aptos"/>
              </a:rPr>
              <a:t>OBLIGATION WORDS</a:t>
            </a:r>
          </a:p>
        </p:txBody>
      </p:sp>
      <p:sp>
        <p:nvSpPr>
          <p:cNvPr id="4" name="">
            <a:extLst xmlns:a="http://schemas.openxmlformats.org/drawingml/2006/main">
              <a:ext uri="{FF2B5EF4-FFF2-40B4-BE49-F238E27FC236}">
                <a16:creationId xmlns:a16="http://schemas.microsoft.com/office/drawing/2014/main" id="{ABD9777A-D808-4A38-B80D-7D74771D070B}"/>
              </a:ext>
            </a:extLst>
          </p:cNvPr>
          <p:cNvSpPr>
            <a:spLocks xmlns:a="http://schemas.openxmlformats.org/drawingml/2006/main" noGrp="1"/>
          </p:cNvSpPr>
          <p:nvPr/>
        </p:nvSpPr>
        <p:spPr>
          <a:xfrm xmlns:a="http://schemas.openxmlformats.org/drawingml/2006/main">
            <a:off x="457200" y="666750"/>
            <a:ext cx="11049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850" b="1">
                <a:solidFill>
                  <a:srgbClr val="071821"/>
                </a:solidFill>
                <a:latin typeface="Aptos Display"/>
                <a:ea typeface="Aptos Display"/>
                <a:cs typeface="Aptos Display"/>
              </a:defRPr>
            </a:pPr>
            <a:r>
              <a:rPr sz="2850" b="1">
                <a:solidFill>
                  <a:srgbClr val="071821"/>
                </a:solidFill>
                <a:latin typeface="Aptos Display"/>
                <a:ea typeface="Aptos Display"/>
                <a:cs typeface="Aptos Display"/>
              </a:rPr>
              <a:t>Shall marks an obligation; it cannot rescue weak behavior.</a:t>
            </a:r>
          </a:p>
        </p:txBody>
      </p:sp>
      <p:sp>
        <p:nvSpPr>
          <p:cNvPr id="5" name="">
            <a:extLst xmlns:a="http://schemas.openxmlformats.org/drawingml/2006/main">
              <a:ext uri="{FF2B5EF4-FFF2-40B4-BE49-F238E27FC236}">
                <a16:creationId xmlns:a16="http://schemas.microsoft.com/office/drawing/2014/main" id="{524960BF-EC50-4A58-AA7F-85C1CAAB3588}"/>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C9D8DC"/>
          </a:solidFill>
          <a:ln xmlns:a="http://schemas.openxmlformats.org/drawingml/2006/main" w="9525">
            <a:solidFill>
              <a:srgbClr val="C9D8DC"/>
            </a:solidFill>
            <a:prstDash val="solid"/>
          </a:ln>
        </p:spPr>
      </p:sp>
      <p:sp>
        <p:nvSpPr>
          <p:cNvPr id="6" name="">
            <a:extLst xmlns:a="http://schemas.openxmlformats.org/drawingml/2006/main">
              <a:ext uri="{FF2B5EF4-FFF2-40B4-BE49-F238E27FC236}">
                <a16:creationId xmlns:a16="http://schemas.microsoft.com/office/drawing/2014/main" id="{78D7F30E-AF17-42D5-BE36-74AFD882A5C7}"/>
              </a:ext>
            </a:extLst>
          </p:cNvPr>
          <p:cNvSpPr>
            <a:spLocks xmlns:a="http://schemas.openxmlformats.org/drawingml/2006/main" noGrp="1"/>
          </p:cNvSpPr>
          <p:nvPr/>
        </p:nvSpPr>
        <p:spPr>
          <a:xfrm xmlns:a="http://schemas.openxmlformats.org/drawingml/2006/main">
            <a:off x="4572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46616F"/>
                </a:solidFill>
                <a:latin typeface="Aptos"/>
                <a:ea typeface="Aptos"/>
                <a:cs typeface="Aptos"/>
              </a:defRPr>
            </a:pPr>
            <a:r>
              <a:rPr sz="750" b="1">
                <a:solidFill>
                  <a:srgbClr val="46616F"/>
                </a:solidFill>
                <a:latin typeface="Aptos"/>
                <a:ea typeface="Aptos"/>
                <a:cs typeface="Aptos"/>
              </a:rPr>
              <a:t>SESSION 2</a:t>
            </a:r>
          </a:p>
        </p:txBody>
      </p:sp>
      <p:sp>
        <p:nvSpPr>
          <p:cNvPr id="7" name="">
            <a:extLst xmlns:a="http://schemas.openxmlformats.org/drawingml/2006/main">
              <a:ext uri="{FF2B5EF4-FFF2-40B4-BE49-F238E27FC236}">
                <a16:creationId xmlns:a16="http://schemas.microsoft.com/office/drawing/2014/main" id="{C1DA25C1-5248-4F94-8636-CE5D509A0071}"/>
              </a:ext>
            </a:extLst>
          </p:cNvPr>
          <p:cNvSpPr>
            <a:spLocks xmlns:a="http://schemas.openxmlformats.org/drawingml/2006/main" noGrp="1"/>
          </p:cNvSpPr>
          <p:nvPr/>
        </p:nvSpPr>
        <p:spPr>
          <a:xfrm xmlns:a="http://schemas.openxmlformats.org/drawingml/2006/main">
            <a:off x="11144250" y="6515100"/>
            <a:ext cx="590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46616F"/>
                </a:solidFill>
                <a:latin typeface="Aptos"/>
                <a:ea typeface="Aptos"/>
                <a:cs typeface="Aptos"/>
              </a:defRPr>
            </a:pPr>
            <a:r>
              <a:rPr sz="825" b="1">
                <a:solidFill>
                  <a:srgbClr val="46616F"/>
                </a:solidFill>
                <a:latin typeface="Aptos"/>
                <a:ea typeface="Aptos"/>
                <a:cs typeface="Aptos"/>
              </a:rPr>
              <a:t>06</a:t>
            </a:r>
          </a:p>
        </p:txBody>
      </p:sp>
      <p:sp>
        <p:nvSpPr>
          <p:cNvPr id="8" name="">
            <a:extLst xmlns:a="http://schemas.openxmlformats.org/drawingml/2006/main">
              <a:ext uri="{FF2B5EF4-FFF2-40B4-BE49-F238E27FC236}">
                <a16:creationId xmlns:a16="http://schemas.microsoft.com/office/drawing/2014/main" id="{8A53B3FA-BF57-4321-857E-E62A937E049C}"/>
              </a:ext>
            </a:extLst>
          </p:cNvPr>
          <p:cNvSpPr>
            <a:spLocks xmlns:a="http://schemas.openxmlformats.org/drawingml/2006/main" noGrp="1"/>
          </p:cNvSpPr>
          <p:nvPr/>
        </p:nvSpPr>
        <p:spPr>
          <a:xfrm xmlns:a="http://schemas.openxmlformats.org/drawingml/2006/main">
            <a:off x="609600" y="1847850"/>
            <a:ext cx="895350" cy="285750"/>
          </a:xfrm>
          <a:prstGeom xmlns:a="http://schemas.openxmlformats.org/drawingml/2006/main" prst="roundRect">
            <a:avLst>
              <a:gd name="adj" fmla="val 26667"/>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D757F6E5-BF55-4796-B242-FF5A019F260D}"/>
              </a:ext>
            </a:extLst>
          </p:cNvPr>
          <p:cNvSpPr>
            <a:spLocks xmlns:a="http://schemas.openxmlformats.org/drawingml/2006/main" noGrp="1"/>
          </p:cNvSpPr>
          <p:nvPr/>
        </p:nvSpPr>
        <p:spPr>
          <a:xfrm xmlns:a="http://schemas.openxmlformats.org/drawingml/2006/main">
            <a:off x="704850" y="1895475"/>
            <a:ext cx="704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071821"/>
                </a:solidFill>
                <a:latin typeface="Aptos"/>
                <a:ea typeface="Aptos"/>
                <a:cs typeface="Aptos"/>
              </a:defRPr>
            </a:pPr>
            <a:r>
              <a:rPr sz="900" b="1">
                <a:solidFill>
                  <a:srgbClr val="071821"/>
                </a:solidFill>
                <a:latin typeface="Aptos"/>
                <a:ea typeface="Aptos"/>
                <a:cs typeface="Aptos"/>
              </a:rPr>
              <a:t>SHALL</a:t>
            </a:r>
          </a:p>
        </p:txBody>
      </p:sp>
      <p:sp>
        <p:nvSpPr>
          <p:cNvPr id="10" name="">
            <a:extLst xmlns:a="http://schemas.openxmlformats.org/drawingml/2006/main">
              <a:ext uri="{FF2B5EF4-FFF2-40B4-BE49-F238E27FC236}">
                <a16:creationId xmlns:a16="http://schemas.microsoft.com/office/drawing/2014/main" id="{E489EE2C-1290-402E-8B89-B510F445FB6D}"/>
              </a:ext>
            </a:extLst>
          </p:cNvPr>
          <p:cNvSpPr>
            <a:spLocks xmlns:a="http://schemas.openxmlformats.org/drawingml/2006/main" noGrp="1"/>
          </p:cNvSpPr>
          <p:nvPr/>
        </p:nvSpPr>
        <p:spPr>
          <a:xfrm xmlns:a="http://schemas.openxmlformats.org/drawingml/2006/main">
            <a:off x="1695450" y="1619250"/>
            <a:ext cx="9867900" cy="742950"/>
          </a:xfrm>
          <a:prstGeom xmlns:a="http://schemas.openxmlformats.org/drawingml/2006/main" prst="roundRect">
            <a:avLst>
              <a:gd name="adj" fmla="val 10256"/>
            </a:avLst>
          </a:prstGeom>
          <a:solidFill xmlns:a="http://schemas.openxmlformats.org/drawingml/2006/main">
            <a:srgbClr val="BCEAF0"/>
          </a:solidFill>
          <a:ln xmlns:a="http://schemas.openxmlformats.org/drawingml/2006/main" w="9525">
            <a:solidFill>
              <a:srgbClr val="2EC4D6"/>
            </a:solidFill>
            <a:prstDash val="solid"/>
          </a:ln>
        </p:spPr>
      </p:sp>
      <p:sp>
        <p:nvSpPr>
          <p:cNvPr id="11" name="">
            <a:extLst xmlns:a="http://schemas.openxmlformats.org/drawingml/2006/main">
              <a:ext uri="{FF2B5EF4-FFF2-40B4-BE49-F238E27FC236}">
                <a16:creationId xmlns:a16="http://schemas.microsoft.com/office/drawing/2014/main" id="{CDABF6E8-5216-4B3C-82F8-72A5C7A2627B}"/>
              </a:ext>
            </a:extLst>
          </p:cNvPr>
          <p:cNvSpPr>
            <a:spLocks xmlns:a="http://schemas.openxmlformats.org/drawingml/2006/main" noGrp="1"/>
          </p:cNvSpPr>
          <p:nvPr/>
        </p:nvSpPr>
        <p:spPr>
          <a:xfrm xmlns:a="http://schemas.openxmlformats.org/drawingml/2006/main">
            <a:off x="1924050" y="1752600"/>
            <a:ext cx="2190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6616F"/>
                </a:solidFill>
                <a:latin typeface="Aptos"/>
                <a:ea typeface="Aptos"/>
                <a:cs typeface="Aptos"/>
              </a:defRPr>
            </a:pPr>
            <a:r>
              <a:rPr sz="975" b="1">
                <a:solidFill>
                  <a:srgbClr val="46616F"/>
                </a:solidFill>
                <a:latin typeface="Aptos"/>
                <a:ea typeface="Aptos"/>
                <a:cs typeface="Aptos"/>
              </a:rPr>
              <a:t>Binding requirement</a:t>
            </a:r>
          </a:p>
        </p:txBody>
      </p:sp>
      <p:sp>
        <p:nvSpPr>
          <p:cNvPr id="12" name="">
            <a:extLst xmlns:a="http://schemas.openxmlformats.org/drawingml/2006/main">
              <a:ext uri="{FF2B5EF4-FFF2-40B4-BE49-F238E27FC236}">
                <a16:creationId xmlns:a16="http://schemas.microsoft.com/office/drawing/2014/main" id="{C980D993-5FF3-44F5-B96F-4DBB4C0D39D2}"/>
              </a:ext>
            </a:extLst>
          </p:cNvPr>
          <p:cNvSpPr>
            <a:spLocks xmlns:a="http://schemas.openxmlformats.org/drawingml/2006/main" noGrp="1"/>
          </p:cNvSpPr>
          <p:nvPr/>
        </p:nvSpPr>
        <p:spPr>
          <a:xfrm xmlns:a="http://schemas.openxmlformats.org/drawingml/2006/main">
            <a:off x="4305300" y="1733550"/>
            <a:ext cx="69913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75" b="0">
                <a:solidFill>
                  <a:srgbClr val="071821"/>
                </a:solidFill>
                <a:latin typeface="Aptos Mono"/>
                <a:ea typeface="Aptos Mono"/>
                <a:cs typeface="Aptos Mono"/>
              </a:defRPr>
            </a:pPr>
            <a:r>
              <a:rPr sz="1275" b="0">
                <a:solidFill>
                  <a:srgbClr val="071821"/>
                </a:solidFill>
                <a:latin typeface="Aptos Mono"/>
                <a:ea typeface="Aptos Mono"/>
                <a:cs typeface="Aptos Mono"/>
              </a:rPr>
              <a:t>The application shall reject an invalid opcode.</a:t>
            </a:r>
          </a:p>
        </p:txBody>
      </p:sp>
      <p:sp>
        <p:nvSpPr>
          <p:cNvPr id="13" name="">
            <a:extLst xmlns:a="http://schemas.openxmlformats.org/drawingml/2006/main">
              <a:ext uri="{FF2B5EF4-FFF2-40B4-BE49-F238E27FC236}">
                <a16:creationId xmlns:a16="http://schemas.microsoft.com/office/drawing/2014/main" id="{D1AEF8B7-2FBF-4AD6-B0EC-BF07C97F91AE}"/>
              </a:ext>
            </a:extLst>
          </p:cNvPr>
          <p:cNvSpPr>
            <a:spLocks xmlns:a="http://schemas.openxmlformats.org/drawingml/2006/main" noGrp="1"/>
          </p:cNvSpPr>
          <p:nvPr/>
        </p:nvSpPr>
        <p:spPr>
          <a:xfrm xmlns:a="http://schemas.openxmlformats.org/drawingml/2006/main">
            <a:off x="609600" y="2819400"/>
            <a:ext cx="895350" cy="285750"/>
          </a:xfrm>
          <a:prstGeom xmlns:a="http://schemas.openxmlformats.org/drawingml/2006/main" prst="roundRect">
            <a:avLst>
              <a:gd name="adj" fmla="val 26667"/>
            </a:avLst>
          </a:prstGeom>
          <a:solidFill xmlns:a="http://schemas.openxmlformats.org/drawingml/2006/main">
            <a:srgbClr val="46616F"/>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2119F4EF-BFEA-4BE4-8DF9-48DAC47513CC}"/>
              </a:ext>
            </a:extLst>
          </p:cNvPr>
          <p:cNvSpPr>
            <a:spLocks xmlns:a="http://schemas.openxmlformats.org/drawingml/2006/main" noGrp="1"/>
          </p:cNvSpPr>
          <p:nvPr/>
        </p:nvSpPr>
        <p:spPr>
          <a:xfrm xmlns:a="http://schemas.openxmlformats.org/drawingml/2006/main">
            <a:off x="704850" y="2867025"/>
            <a:ext cx="704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WILL</a:t>
            </a:r>
          </a:p>
        </p:txBody>
      </p:sp>
      <p:sp>
        <p:nvSpPr>
          <p:cNvPr id="15" name="">
            <a:extLst xmlns:a="http://schemas.openxmlformats.org/drawingml/2006/main">
              <a:ext uri="{FF2B5EF4-FFF2-40B4-BE49-F238E27FC236}">
                <a16:creationId xmlns:a16="http://schemas.microsoft.com/office/drawing/2014/main" id="{5E5BA4A7-574E-418D-B587-F4A7230DAF74}"/>
              </a:ext>
            </a:extLst>
          </p:cNvPr>
          <p:cNvSpPr>
            <a:spLocks xmlns:a="http://schemas.openxmlformats.org/drawingml/2006/main" noGrp="1"/>
          </p:cNvSpPr>
          <p:nvPr/>
        </p:nvSpPr>
        <p:spPr>
          <a:xfrm xmlns:a="http://schemas.openxmlformats.org/drawingml/2006/main">
            <a:off x="1695450" y="2590800"/>
            <a:ext cx="98679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C9D8DC"/>
            </a:solidFill>
            <a:prstDash val="solid"/>
          </a:ln>
        </p:spPr>
      </p:sp>
      <p:sp>
        <p:nvSpPr>
          <p:cNvPr id="16" name="">
            <a:extLst xmlns:a="http://schemas.openxmlformats.org/drawingml/2006/main">
              <a:ext uri="{FF2B5EF4-FFF2-40B4-BE49-F238E27FC236}">
                <a16:creationId xmlns:a16="http://schemas.microsoft.com/office/drawing/2014/main" id="{CBA7FB13-B2C3-4308-9D17-64D6DCCE5A24}"/>
              </a:ext>
            </a:extLst>
          </p:cNvPr>
          <p:cNvSpPr>
            <a:spLocks xmlns:a="http://schemas.openxmlformats.org/drawingml/2006/main" noGrp="1"/>
          </p:cNvSpPr>
          <p:nvPr/>
        </p:nvSpPr>
        <p:spPr>
          <a:xfrm xmlns:a="http://schemas.openxmlformats.org/drawingml/2006/main">
            <a:off x="1924050" y="2724150"/>
            <a:ext cx="2190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6616F"/>
                </a:solidFill>
                <a:latin typeface="Aptos"/>
                <a:ea typeface="Aptos"/>
                <a:cs typeface="Aptos"/>
              </a:defRPr>
            </a:pPr>
            <a:r>
              <a:rPr sz="975" b="1">
                <a:solidFill>
                  <a:srgbClr val="46616F"/>
                </a:solidFill>
                <a:latin typeface="Aptos"/>
                <a:ea typeface="Aptos"/>
                <a:cs typeface="Aptos"/>
              </a:rPr>
              <a:t>Declaration or fact</a:t>
            </a:r>
          </a:p>
        </p:txBody>
      </p:sp>
      <p:sp>
        <p:nvSpPr>
          <p:cNvPr id="17" name="">
            <a:extLst xmlns:a="http://schemas.openxmlformats.org/drawingml/2006/main">
              <a:ext uri="{FF2B5EF4-FFF2-40B4-BE49-F238E27FC236}">
                <a16:creationId xmlns:a16="http://schemas.microsoft.com/office/drawing/2014/main" id="{7D81B660-1DDD-47F0-B14D-A2563FED2BF8}"/>
              </a:ext>
            </a:extLst>
          </p:cNvPr>
          <p:cNvSpPr>
            <a:spLocks xmlns:a="http://schemas.openxmlformats.org/drawingml/2006/main" noGrp="1"/>
          </p:cNvSpPr>
          <p:nvPr/>
        </p:nvSpPr>
        <p:spPr>
          <a:xfrm xmlns:a="http://schemas.openxmlformats.org/drawingml/2006/main">
            <a:off x="4305300" y="2705100"/>
            <a:ext cx="69913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75" b="0">
                <a:solidFill>
                  <a:srgbClr val="071821"/>
                </a:solidFill>
                <a:latin typeface="Aptos Mono"/>
                <a:ea typeface="Aptos Mono"/>
                <a:cs typeface="Aptos Mono"/>
              </a:defRPr>
            </a:pPr>
            <a:r>
              <a:rPr sz="1275" b="0">
                <a:solidFill>
                  <a:srgbClr val="071821"/>
                </a:solidFill>
                <a:latin typeface="Aptos Mono"/>
                <a:ea typeface="Aptos Mono"/>
                <a:cs typeface="Aptos Mono"/>
              </a:rPr>
              <a:t>The ground system will provide time correlation data.</a:t>
            </a:r>
          </a:p>
        </p:txBody>
      </p:sp>
      <p:sp>
        <p:nvSpPr>
          <p:cNvPr id="18" name="">
            <a:extLst xmlns:a="http://schemas.openxmlformats.org/drawingml/2006/main">
              <a:ext uri="{FF2B5EF4-FFF2-40B4-BE49-F238E27FC236}">
                <a16:creationId xmlns:a16="http://schemas.microsoft.com/office/drawing/2014/main" id="{B3DC0BF3-1EAD-47D5-9BD3-F82F951DBBE8}"/>
              </a:ext>
            </a:extLst>
          </p:cNvPr>
          <p:cNvSpPr>
            <a:spLocks xmlns:a="http://schemas.openxmlformats.org/drawingml/2006/main" noGrp="1"/>
          </p:cNvSpPr>
          <p:nvPr/>
        </p:nvSpPr>
        <p:spPr>
          <a:xfrm xmlns:a="http://schemas.openxmlformats.org/drawingml/2006/main">
            <a:off x="609600" y="3790950"/>
            <a:ext cx="895350" cy="285750"/>
          </a:xfrm>
          <a:prstGeom xmlns:a="http://schemas.openxmlformats.org/drawingml/2006/main" prst="roundRect">
            <a:avLst>
              <a:gd name="adj" fmla="val 26667"/>
            </a:avLst>
          </a:prstGeom>
          <a:solidFill xmlns:a="http://schemas.openxmlformats.org/drawingml/2006/main">
            <a:srgbClr val="46616F"/>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DEC5930B-79DD-4DB3-9372-13C9B1345B51}"/>
              </a:ext>
            </a:extLst>
          </p:cNvPr>
          <p:cNvSpPr>
            <a:spLocks xmlns:a="http://schemas.openxmlformats.org/drawingml/2006/main" noGrp="1"/>
          </p:cNvSpPr>
          <p:nvPr/>
        </p:nvSpPr>
        <p:spPr>
          <a:xfrm xmlns:a="http://schemas.openxmlformats.org/drawingml/2006/main">
            <a:off x="704850" y="3838575"/>
            <a:ext cx="704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SHOULD</a:t>
            </a:r>
          </a:p>
        </p:txBody>
      </p:sp>
      <p:sp>
        <p:nvSpPr>
          <p:cNvPr id="20" name="">
            <a:extLst xmlns:a="http://schemas.openxmlformats.org/drawingml/2006/main">
              <a:ext uri="{FF2B5EF4-FFF2-40B4-BE49-F238E27FC236}">
                <a16:creationId xmlns:a16="http://schemas.microsoft.com/office/drawing/2014/main" id="{3BB1B783-98FB-4225-8E4D-FBA4CEB95442}"/>
              </a:ext>
            </a:extLst>
          </p:cNvPr>
          <p:cNvSpPr>
            <a:spLocks xmlns:a="http://schemas.openxmlformats.org/drawingml/2006/main" noGrp="1"/>
          </p:cNvSpPr>
          <p:nvPr/>
        </p:nvSpPr>
        <p:spPr>
          <a:xfrm xmlns:a="http://schemas.openxmlformats.org/drawingml/2006/main">
            <a:off x="1695450" y="3562350"/>
            <a:ext cx="9867900" cy="742950"/>
          </a:xfrm>
          <a:prstGeom xmlns:a="http://schemas.openxmlformats.org/drawingml/2006/main" prst="roundRect">
            <a:avLst>
              <a:gd name="adj" fmla="val 10256"/>
            </a:avLst>
          </a:prstGeom>
          <a:solidFill xmlns:a="http://schemas.openxmlformats.org/drawingml/2006/main">
            <a:srgbClr val="FFE0B8"/>
          </a:solidFill>
          <a:ln xmlns:a="http://schemas.openxmlformats.org/drawingml/2006/main" w="9525">
            <a:solidFill>
              <a:srgbClr val="C9D8DC"/>
            </a:solidFill>
            <a:prstDash val="solid"/>
          </a:ln>
        </p:spPr>
      </p:sp>
      <p:sp>
        <p:nvSpPr>
          <p:cNvPr id="21" name="">
            <a:extLst xmlns:a="http://schemas.openxmlformats.org/drawingml/2006/main">
              <a:ext uri="{FF2B5EF4-FFF2-40B4-BE49-F238E27FC236}">
                <a16:creationId xmlns:a16="http://schemas.microsoft.com/office/drawing/2014/main" id="{A4606B80-08F7-4876-B741-909C05D3C6C0}"/>
              </a:ext>
            </a:extLst>
          </p:cNvPr>
          <p:cNvSpPr>
            <a:spLocks xmlns:a="http://schemas.openxmlformats.org/drawingml/2006/main" noGrp="1"/>
          </p:cNvSpPr>
          <p:nvPr/>
        </p:nvSpPr>
        <p:spPr>
          <a:xfrm xmlns:a="http://schemas.openxmlformats.org/drawingml/2006/main">
            <a:off x="1924050" y="3695700"/>
            <a:ext cx="2190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6616F"/>
                </a:solidFill>
                <a:latin typeface="Aptos"/>
                <a:ea typeface="Aptos"/>
                <a:cs typeface="Aptos"/>
              </a:defRPr>
            </a:pPr>
            <a:r>
              <a:rPr sz="975" b="1">
                <a:solidFill>
                  <a:srgbClr val="46616F"/>
                </a:solidFill>
                <a:latin typeface="Aptos"/>
                <a:ea typeface="Aptos"/>
                <a:cs typeface="Aptos"/>
              </a:rPr>
              <a:t>Recommendation or goal</a:t>
            </a:r>
          </a:p>
        </p:txBody>
      </p:sp>
      <p:sp>
        <p:nvSpPr>
          <p:cNvPr id="22" name="">
            <a:extLst xmlns:a="http://schemas.openxmlformats.org/drawingml/2006/main">
              <a:ext uri="{FF2B5EF4-FFF2-40B4-BE49-F238E27FC236}">
                <a16:creationId xmlns:a16="http://schemas.microsoft.com/office/drawing/2014/main" id="{8E144A09-9D20-4464-B314-E98D92CB3374}"/>
              </a:ext>
            </a:extLst>
          </p:cNvPr>
          <p:cNvSpPr>
            <a:spLocks xmlns:a="http://schemas.openxmlformats.org/drawingml/2006/main" noGrp="1"/>
          </p:cNvSpPr>
          <p:nvPr/>
        </p:nvSpPr>
        <p:spPr>
          <a:xfrm xmlns:a="http://schemas.openxmlformats.org/drawingml/2006/main">
            <a:off x="4305300" y="3676650"/>
            <a:ext cx="69913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75" b="0">
                <a:solidFill>
                  <a:srgbClr val="071821"/>
                </a:solidFill>
                <a:latin typeface="Aptos Mono"/>
                <a:ea typeface="Aptos Mono"/>
                <a:cs typeface="Aptos Mono"/>
              </a:defRPr>
            </a:pPr>
            <a:r>
              <a:rPr sz="1275" b="0">
                <a:solidFill>
                  <a:srgbClr val="071821"/>
                </a:solidFill>
                <a:latin typeface="Aptos Mono"/>
                <a:ea typeface="Aptos Mono"/>
                <a:cs typeface="Aptos Mono"/>
              </a:rPr>
              <a:t>The display should minimize operator workload.</a:t>
            </a:r>
          </a:p>
        </p:txBody>
      </p:sp>
      <p:sp>
        <p:nvSpPr>
          <p:cNvPr id="23" name="">
            <a:extLst xmlns:a="http://schemas.openxmlformats.org/drawingml/2006/main">
              <a:ext uri="{FF2B5EF4-FFF2-40B4-BE49-F238E27FC236}">
                <a16:creationId xmlns:a16="http://schemas.microsoft.com/office/drawing/2014/main" id="{84DA8D5B-E43A-4FBF-92FD-D74F72AC8074}"/>
              </a:ext>
            </a:extLst>
          </p:cNvPr>
          <p:cNvSpPr>
            <a:spLocks xmlns:a="http://schemas.openxmlformats.org/drawingml/2006/main" noGrp="1"/>
          </p:cNvSpPr>
          <p:nvPr/>
        </p:nvSpPr>
        <p:spPr>
          <a:xfrm xmlns:a="http://schemas.openxmlformats.org/drawingml/2006/main">
            <a:off x="609600" y="4762500"/>
            <a:ext cx="895350" cy="285750"/>
          </a:xfrm>
          <a:prstGeom xmlns:a="http://schemas.openxmlformats.org/drawingml/2006/main" prst="roundRect">
            <a:avLst>
              <a:gd name="adj" fmla="val 26667"/>
            </a:avLst>
          </a:prstGeom>
          <a:solidFill xmlns:a="http://schemas.openxmlformats.org/drawingml/2006/main">
            <a:srgbClr val="46616F"/>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DA108784-361C-4259-AC62-C34391A5D0A9}"/>
              </a:ext>
            </a:extLst>
          </p:cNvPr>
          <p:cNvSpPr>
            <a:spLocks xmlns:a="http://schemas.openxmlformats.org/drawingml/2006/main" noGrp="1"/>
          </p:cNvSpPr>
          <p:nvPr/>
        </p:nvSpPr>
        <p:spPr>
          <a:xfrm xmlns:a="http://schemas.openxmlformats.org/drawingml/2006/main">
            <a:off x="704850" y="4810125"/>
            <a:ext cx="704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MAY</a:t>
            </a:r>
          </a:p>
        </p:txBody>
      </p:sp>
      <p:sp>
        <p:nvSpPr>
          <p:cNvPr id="25" name="">
            <a:extLst xmlns:a="http://schemas.openxmlformats.org/drawingml/2006/main">
              <a:ext uri="{FF2B5EF4-FFF2-40B4-BE49-F238E27FC236}">
                <a16:creationId xmlns:a16="http://schemas.microsoft.com/office/drawing/2014/main" id="{BB1A3E71-BF14-43C5-878D-FD54FD2DACBA}"/>
              </a:ext>
            </a:extLst>
          </p:cNvPr>
          <p:cNvSpPr>
            <a:spLocks xmlns:a="http://schemas.openxmlformats.org/drawingml/2006/main" noGrp="1"/>
          </p:cNvSpPr>
          <p:nvPr/>
        </p:nvSpPr>
        <p:spPr>
          <a:xfrm xmlns:a="http://schemas.openxmlformats.org/drawingml/2006/main">
            <a:off x="1695450" y="4533900"/>
            <a:ext cx="98679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C9D8DC"/>
            </a:solidFill>
            <a:prstDash val="solid"/>
          </a:ln>
        </p:spPr>
      </p:sp>
      <p:sp>
        <p:nvSpPr>
          <p:cNvPr id="26" name="">
            <a:extLst xmlns:a="http://schemas.openxmlformats.org/drawingml/2006/main">
              <a:ext uri="{FF2B5EF4-FFF2-40B4-BE49-F238E27FC236}">
                <a16:creationId xmlns:a16="http://schemas.microsoft.com/office/drawing/2014/main" id="{93920B53-310E-4F18-93C9-F7069D9172E1}"/>
              </a:ext>
            </a:extLst>
          </p:cNvPr>
          <p:cNvSpPr>
            <a:spLocks xmlns:a="http://schemas.openxmlformats.org/drawingml/2006/main" noGrp="1"/>
          </p:cNvSpPr>
          <p:nvPr/>
        </p:nvSpPr>
        <p:spPr>
          <a:xfrm xmlns:a="http://schemas.openxmlformats.org/drawingml/2006/main">
            <a:off x="1924050" y="4667250"/>
            <a:ext cx="2190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6616F"/>
                </a:solidFill>
                <a:latin typeface="Aptos"/>
                <a:ea typeface="Aptos"/>
                <a:cs typeface="Aptos"/>
              </a:defRPr>
            </a:pPr>
            <a:r>
              <a:rPr sz="975" b="1">
                <a:solidFill>
                  <a:srgbClr val="46616F"/>
                </a:solidFill>
                <a:latin typeface="Aptos"/>
                <a:ea typeface="Aptos"/>
                <a:cs typeface="Aptos"/>
              </a:rPr>
              <a:t>Permission or allowed option</a:t>
            </a:r>
          </a:p>
        </p:txBody>
      </p:sp>
      <p:sp>
        <p:nvSpPr>
          <p:cNvPr id="27" name="">
            <a:extLst xmlns:a="http://schemas.openxmlformats.org/drawingml/2006/main">
              <a:ext uri="{FF2B5EF4-FFF2-40B4-BE49-F238E27FC236}">
                <a16:creationId xmlns:a16="http://schemas.microsoft.com/office/drawing/2014/main" id="{36ADB85E-9AA8-4EAE-B6BB-F70BC59837EA}"/>
              </a:ext>
            </a:extLst>
          </p:cNvPr>
          <p:cNvSpPr>
            <a:spLocks xmlns:a="http://schemas.openxmlformats.org/drawingml/2006/main" noGrp="1"/>
          </p:cNvSpPr>
          <p:nvPr/>
        </p:nvSpPr>
        <p:spPr>
          <a:xfrm xmlns:a="http://schemas.openxmlformats.org/drawingml/2006/main">
            <a:off x="4305300" y="4648200"/>
            <a:ext cx="69913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75" b="0">
                <a:solidFill>
                  <a:srgbClr val="071821"/>
                </a:solidFill>
                <a:latin typeface="Aptos Mono"/>
                <a:ea typeface="Aptos Mono"/>
                <a:cs typeface="Aptos Mono"/>
              </a:defRPr>
            </a:pPr>
            <a:r>
              <a:rPr sz="1275" b="0">
                <a:solidFill>
                  <a:srgbClr val="071821"/>
                </a:solidFill>
                <a:latin typeface="Aptos Mono"/>
                <a:ea typeface="Aptos Mono"/>
                <a:cs typeface="Aptos Mono"/>
              </a:rPr>
              <a:t>The operator may retry a rejected command.</a:t>
            </a:r>
          </a:p>
        </p:txBody>
      </p:sp>
      <p:sp>
        <p:nvSpPr>
          <p:cNvPr id="28" name="">
            <a:extLst xmlns:a="http://schemas.openxmlformats.org/drawingml/2006/main">
              <a:ext uri="{FF2B5EF4-FFF2-40B4-BE49-F238E27FC236}">
                <a16:creationId xmlns:a16="http://schemas.microsoft.com/office/drawing/2014/main" id="{B5EDE4A2-1990-4AC9-851A-8387A0307292}"/>
              </a:ext>
            </a:extLst>
          </p:cNvPr>
          <p:cNvSpPr>
            <a:spLocks xmlns:a="http://schemas.openxmlformats.org/drawingml/2006/main" noGrp="1"/>
          </p:cNvSpPr>
          <p:nvPr/>
        </p:nvSpPr>
        <p:spPr>
          <a:xfrm xmlns:a="http://schemas.openxmlformats.org/drawingml/2006/main">
            <a:off x="2000250" y="5695950"/>
            <a:ext cx="819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46616F"/>
                </a:solidFill>
                <a:latin typeface="Aptos"/>
                <a:ea typeface="Aptos"/>
                <a:cs typeface="Aptos"/>
              </a:defRPr>
            </a:pPr>
            <a:r>
              <a:rPr sz="1275" b="1">
                <a:solidFill>
                  <a:srgbClr val="46616F"/>
                </a:solidFill>
                <a:latin typeface="Aptos"/>
                <a:ea typeface="Aptos"/>
                <a:cs typeface="Aptos"/>
              </a:rPr>
              <a:t>Follow your organization's convention. Consistency supports review and verification.</a:t>
            </a:r>
          </a:p>
        </p:txBody>
      </p:sp>
    </p:spTree>
    <p:extLst>
      <p:ext uri="{BB962C8B-B14F-4D97-AF65-F5344CB8AC3E}">
        <p14:creationId xmlns:p14="http://schemas.microsoft.com/office/powerpoint/2010/main" val="193852034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1A9E27E-2DB6-4447-BD66-2EE8FAB7A2D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821"/>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0B80583-43FC-43BA-9FD1-D9A6B8CEB0DB}"/>
              </a:ext>
            </a:extLst>
          </p:cNvPr>
          <p:cNvSpPr>
            <a:spLocks xmlns:a="http://schemas.openxmlformats.org/drawingml/2006/main" noGrp="1"/>
          </p:cNvSpPr>
          <p:nvPr/>
        </p:nvSpPr>
        <p:spPr>
          <a:xfrm xmlns:a="http://schemas.openxmlformats.org/drawingml/2006/main">
            <a:off x="457200" y="361950"/>
            <a:ext cx="76200" cy="76200"/>
          </a:xfrm>
          <a:prstGeom xmlns:a="http://schemas.openxmlformats.org/drawingml/2006/main" prst="rect">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BD56E623-AEB2-4122-9B4F-F109D4D097DE}"/>
              </a:ext>
            </a:extLst>
          </p:cNvPr>
          <p:cNvSpPr>
            <a:spLocks xmlns:a="http://schemas.openxmlformats.org/drawingml/2006/main" noGrp="1"/>
          </p:cNvSpPr>
          <p:nvPr/>
        </p:nvSpPr>
        <p:spPr>
          <a:xfrm xmlns:a="http://schemas.openxmlformats.org/drawingml/2006/main">
            <a:off x="64770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BCEAF0"/>
                </a:solidFill>
                <a:latin typeface="Aptos"/>
                <a:ea typeface="Aptos"/>
                <a:cs typeface="Aptos"/>
              </a:defRPr>
            </a:pPr>
            <a:r>
              <a:rPr sz="1050" b="1">
                <a:solidFill>
                  <a:srgbClr val="BCEAF0"/>
                </a:solidFill>
                <a:latin typeface="Aptos"/>
                <a:ea typeface="Aptos"/>
                <a:cs typeface="Aptos"/>
              </a:rPr>
              <a:t>VAGUE TERMS</a:t>
            </a:r>
          </a:p>
        </p:txBody>
      </p:sp>
      <p:sp>
        <p:nvSpPr>
          <p:cNvPr id="4" name="">
            <a:extLst xmlns:a="http://schemas.openxmlformats.org/drawingml/2006/main">
              <a:ext uri="{FF2B5EF4-FFF2-40B4-BE49-F238E27FC236}">
                <a16:creationId xmlns:a16="http://schemas.microsoft.com/office/drawing/2014/main" id="{B891BCCD-F6F0-4F4B-B0D0-FB3296CB61D3}"/>
              </a:ext>
            </a:extLst>
          </p:cNvPr>
          <p:cNvSpPr>
            <a:spLocks xmlns:a="http://schemas.openxmlformats.org/drawingml/2006/main" noGrp="1"/>
          </p:cNvSpPr>
          <p:nvPr/>
        </p:nvSpPr>
        <p:spPr>
          <a:xfrm xmlns:a="http://schemas.openxmlformats.org/drawingml/2006/main">
            <a:off x="457200" y="666750"/>
            <a:ext cx="11049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850" b="1">
                <a:solidFill>
                  <a:srgbClr val="FFFFFF"/>
                </a:solidFill>
                <a:latin typeface="Aptos Display"/>
                <a:ea typeface="Aptos Display"/>
                <a:cs typeface="Aptos Display"/>
              </a:defRPr>
            </a:pPr>
            <a:r>
              <a:rPr sz="2850" b="1">
                <a:solidFill>
                  <a:srgbClr val="FFFFFF"/>
                </a:solidFill>
                <a:latin typeface="Aptos Display"/>
                <a:ea typeface="Aptos Display"/>
                <a:cs typeface="Aptos Display"/>
              </a:rPr>
              <a:t>Replace vague adjectives and adverbs with engineering decisions.</a:t>
            </a:r>
          </a:p>
        </p:txBody>
      </p:sp>
      <p:sp>
        <p:nvSpPr>
          <p:cNvPr id="5" name="">
            <a:extLst xmlns:a="http://schemas.openxmlformats.org/drawingml/2006/main">
              <a:ext uri="{FF2B5EF4-FFF2-40B4-BE49-F238E27FC236}">
                <a16:creationId xmlns:a16="http://schemas.microsoft.com/office/drawing/2014/main" id="{BB8FA527-5E94-472E-9068-D0531CA93FCA}"/>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46616F"/>
          </a:solidFill>
          <a:ln xmlns:a="http://schemas.openxmlformats.org/drawingml/2006/main" w="9525">
            <a:solidFill>
              <a:srgbClr val="46616F"/>
            </a:solidFill>
            <a:prstDash val="solid"/>
          </a:ln>
        </p:spPr>
      </p:sp>
      <p:sp>
        <p:nvSpPr>
          <p:cNvPr id="6" name="">
            <a:extLst xmlns:a="http://schemas.openxmlformats.org/drawingml/2006/main">
              <a:ext uri="{FF2B5EF4-FFF2-40B4-BE49-F238E27FC236}">
                <a16:creationId xmlns:a16="http://schemas.microsoft.com/office/drawing/2014/main" id="{16C2D1FF-DA9F-44D4-9FFA-36C8DCDA277D}"/>
              </a:ext>
            </a:extLst>
          </p:cNvPr>
          <p:cNvSpPr>
            <a:spLocks xmlns:a="http://schemas.openxmlformats.org/drawingml/2006/main" noGrp="1"/>
          </p:cNvSpPr>
          <p:nvPr/>
        </p:nvSpPr>
        <p:spPr>
          <a:xfrm xmlns:a="http://schemas.openxmlformats.org/drawingml/2006/main">
            <a:off x="4572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C9D8DC"/>
                </a:solidFill>
                <a:latin typeface="Aptos"/>
                <a:ea typeface="Aptos"/>
                <a:cs typeface="Aptos"/>
              </a:defRPr>
            </a:pPr>
            <a:r>
              <a:rPr sz="750" b="1">
                <a:solidFill>
                  <a:srgbClr val="C9D8DC"/>
                </a:solidFill>
                <a:latin typeface="Aptos"/>
                <a:ea typeface="Aptos"/>
                <a:cs typeface="Aptos"/>
              </a:rPr>
              <a:t>SESSION 2</a:t>
            </a:r>
          </a:p>
        </p:txBody>
      </p:sp>
      <p:sp>
        <p:nvSpPr>
          <p:cNvPr id="7" name="">
            <a:extLst xmlns:a="http://schemas.openxmlformats.org/drawingml/2006/main">
              <a:ext uri="{FF2B5EF4-FFF2-40B4-BE49-F238E27FC236}">
                <a16:creationId xmlns:a16="http://schemas.microsoft.com/office/drawing/2014/main" id="{C9A8AED2-DC8D-457D-BD18-A4BA26B858D4}"/>
              </a:ext>
            </a:extLst>
          </p:cNvPr>
          <p:cNvSpPr>
            <a:spLocks xmlns:a="http://schemas.openxmlformats.org/drawingml/2006/main" noGrp="1"/>
          </p:cNvSpPr>
          <p:nvPr/>
        </p:nvSpPr>
        <p:spPr>
          <a:xfrm xmlns:a="http://schemas.openxmlformats.org/drawingml/2006/main">
            <a:off x="11144250" y="6515100"/>
            <a:ext cx="590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C9D8DC"/>
                </a:solidFill>
                <a:latin typeface="Aptos"/>
                <a:ea typeface="Aptos"/>
                <a:cs typeface="Aptos"/>
              </a:defRPr>
            </a:pPr>
            <a:r>
              <a:rPr sz="825" b="1">
                <a:solidFill>
                  <a:srgbClr val="C9D8DC"/>
                </a:solidFill>
                <a:latin typeface="Aptos"/>
                <a:ea typeface="Aptos"/>
                <a:cs typeface="Aptos"/>
              </a:rPr>
              <a:t>07</a:t>
            </a:r>
          </a:p>
        </p:txBody>
      </p:sp>
      <p:sp>
        <p:nvSpPr>
          <p:cNvPr id="8" name="">
            <a:extLst xmlns:a="http://schemas.openxmlformats.org/drawingml/2006/main">
              <a:ext uri="{FF2B5EF4-FFF2-40B4-BE49-F238E27FC236}">
                <a16:creationId xmlns:a16="http://schemas.microsoft.com/office/drawing/2014/main" id="{4757A56B-3A47-434A-853C-DDE7EDE91367}"/>
              </a:ext>
            </a:extLst>
          </p:cNvPr>
          <p:cNvSpPr>
            <a:spLocks xmlns:a="http://schemas.openxmlformats.org/drawingml/2006/main" noGrp="1"/>
          </p:cNvSpPr>
          <p:nvPr/>
        </p:nvSpPr>
        <p:spPr>
          <a:xfrm xmlns:a="http://schemas.openxmlformats.org/drawingml/2006/main">
            <a:off x="952500" y="1676400"/>
            <a:ext cx="2857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F9F43"/>
                </a:solidFill>
                <a:latin typeface="Aptos"/>
                <a:ea typeface="Aptos"/>
                <a:cs typeface="Aptos"/>
              </a:defRPr>
            </a:pPr>
            <a:r>
              <a:rPr sz="975" b="1">
                <a:solidFill>
                  <a:srgbClr val="FF9F43"/>
                </a:solidFill>
                <a:latin typeface="Aptos"/>
                <a:ea typeface="Aptos"/>
                <a:cs typeface="Aptos"/>
              </a:rPr>
              <a:t>VAGUE WORD</a:t>
            </a:r>
          </a:p>
        </p:txBody>
      </p:sp>
      <p:sp>
        <p:nvSpPr>
          <p:cNvPr id="9" name="">
            <a:extLst xmlns:a="http://schemas.openxmlformats.org/drawingml/2006/main">
              <a:ext uri="{FF2B5EF4-FFF2-40B4-BE49-F238E27FC236}">
                <a16:creationId xmlns:a16="http://schemas.microsoft.com/office/drawing/2014/main" id="{0CEAF144-BC3E-48BB-A553-030B08CE62A9}"/>
              </a:ext>
            </a:extLst>
          </p:cNvPr>
          <p:cNvSpPr>
            <a:spLocks xmlns:a="http://schemas.openxmlformats.org/drawingml/2006/main" noGrp="1"/>
          </p:cNvSpPr>
          <p:nvPr/>
        </p:nvSpPr>
        <p:spPr>
          <a:xfrm xmlns:a="http://schemas.openxmlformats.org/drawingml/2006/main">
            <a:off x="5048250" y="1676400"/>
            <a:ext cx="5715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EC4D6"/>
                </a:solidFill>
                <a:latin typeface="Aptos"/>
                <a:ea typeface="Aptos"/>
                <a:cs typeface="Aptos"/>
              </a:defRPr>
            </a:pPr>
            <a:r>
              <a:rPr sz="975" b="1">
                <a:solidFill>
                  <a:srgbClr val="2EC4D6"/>
                </a:solidFill>
                <a:latin typeface="Aptos"/>
                <a:ea typeface="Aptos"/>
                <a:cs typeface="Aptos"/>
              </a:rPr>
              <a:t>DECISION IT HIDES</a:t>
            </a:r>
          </a:p>
        </p:txBody>
      </p:sp>
      <p:sp>
        <p:nvSpPr>
          <p:cNvPr id="10" name="">
            <a:extLst xmlns:a="http://schemas.openxmlformats.org/drawingml/2006/main">
              <a:ext uri="{FF2B5EF4-FFF2-40B4-BE49-F238E27FC236}">
                <a16:creationId xmlns:a16="http://schemas.microsoft.com/office/drawing/2014/main" id="{80AC4639-B656-468D-9812-9C4FA36844AC}"/>
              </a:ext>
            </a:extLst>
          </p:cNvPr>
          <p:cNvSpPr>
            <a:spLocks xmlns:a="http://schemas.openxmlformats.org/drawingml/2006/main" noGrp="1"/>
          </p:cNvSpPr>
          <p:nvPr/>
        </p:nvSpPr>
        <p:spPr>
          <a:xfrm xmlns:a="http://schemas.openxmlformats.org/drawingml/2006/main">
            <a:off x="876300" y="2038350"/>
            <a:ext cx="2952750" cy="495300"/>
          </a:xfrm>
          <a:prstGeom xmlns:a="http://schemas.openxmlformats.org/drawingml/2006/main" prst="roundRect">
            <a:avLst>
              <a:gd name="adj" fmla="val 15385"/>
            </a:avLst>
          </a:prstGeom>
          <a:solidFill xmlns:a="http://schemas.openxmlformats.org/drawingml/2006/main">
            <a:srgbClr val="3B2A18"/>
          </a:solidFill>
          <a:ln xmlns:a="http://schemas.openxmlformats.org/drawingml/2006/main" w="9525">
            <a:solidFill>
              <a:srgbClr val="FF9F43"/>
            </a:solidFill>
            <a:prstDash val="solid"/>
          </a:ln>
        </p:spPr>
      </p:sp>
      <p:sp>
        <p:nvSpPr>
          <p:cNvPr id="11" name="">
            <a:extLst xmlns:a="http://schemas.openxmlformats.org/drawingml/2006/main">
              <a:ext uri="{FF2B5EF4-FFF2-40B4-BE49-F238E27FC236}">
                <a16:creationId xmlns:a16="http://schemas.microsoft.com/office/drawing/2014/main" id="{4D568C29-2062-4822-A160-490F09E42A52}"/>
              </a:ext>
            </a:extLst>
          </p:cNvPr>
          <p:cNvSpPr>
            <a:spLocks xmlns:a="http://schemas.openxmlformats.org/drawingml/2006/main" noGrp="1"/>
          </p:cNvSpPr>
          <p:nvPr/>
        </p:nvSpPr>
        <p:spPr>
          <a:xfrm xmlns:a="http://schemas.openxmlformats.org/drawingml/2006/main">
            <a:off x="1066800" y="2162175"/>
            <a:ext cx="25717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Mono"/>
                <a:ea typeface="Aptos Mono"/>
                <a:cs typeface="Aptos Mono"/>
              </a:defRPr>
            </a:pPr>
            <a:r>
              <a:rPr sz="1350" b="1">
                <a:solidFill>
                  <a:srgbClr val="FFFFFF"/>
                </a:solidFill>
                <a:latin typeface="Aptos Mono"/>
                <a:ea typeface="Aptos Mono"/>
                <a:cs typeface="Aptos Mono"/>
              </a:rPr>
              <a:t>quickly</a:t>
            </a:r>
          </a:p>
        </p:txBody>
      </p:sp>
      <p:sp>
        <p:nvSpPr>
          <p:cNvPr id="12" name="">
            <a:extLst xmlns:a="http://schemas.openxmlformats.org/drawingml/2006/main">
              <a:ext uri="{FF2B5EF4-FFF2-40B4-BE49-F238E27FC236}">
                <a16:creationId xmlns:a16="http://schemas.microsoft.com/office/drawing/2014/main" id="{0DB678CD-5419-4F49-9686-FC1C1A28981D}"/>
              </a:ext>
            </a:extLst>
          </p:cNvPr>
          <p:cNvSpPr>
            <a:spLocks xmlns:a="http://schemas.openxmlformats.org/drawingml/2006/main" noGrp="1"/>
          </p:cNvSpPr>
          <p:nvPr/>
        </p:nvSpPr>
        <p:spPr>
          <a:xfrm xmlns:a="http://schemas.openxmlformats.org/drawingml/2006/main">
            <a:off x="4000500" y="2276475"/>
            <a:ext cx="685800" cy="28575"/>
          </a:xfrm>
          <a:prstGeom xmlns:a="http://schemas.openxmlformats.org/drawingml/2006/main" prst="rect">
            <a:avLst/>
          </a:prstGeom>
          <a:solidFill xmlns:a="http://schemas.openxmlformats.org/drawingml/2006/main">
            <a:srgbClr val="46616F"/>
          </a:solidFill>
          <a:ln xmlns:a="http://schemas.openxmlformats.org/drawingml/2006/main" w="28575">
            <a:solidFill>
              <a:srgbClr val="46616F"/>
            </a:solidFill>
            <a:prstDash val="solid"/>
          </a:ln>
        </p:spPr>
      </p:sp>
      <p:sp>
        <p:nvSpPr>
          <p:cNvPr id="13" name="">
            <a:extLst xmlns:a="http://schemas.openxmlformats.org/drawingml/2006/main">
              <a:ext uri="{FF2B5EF4-FFF2-40B4-BE49-F238E27FC236}">
                <a16:creationId xmlns:a16="http://schemas.microsoft.com/office/drawing/2014/main" id="{7A6B8FB0-107C-460B-B128-5E420890C31C}"/>
              </a:ext>
            </a:extLst>
          </p:cNvPr>
          <p:cNvSpPr>
            <a:spLocks xmlns:a="http://schemas.openxmlformats.org/drawingml/2006/main" noGrp="1"/>
          </p:cNvSpPr>
          <p:nvPr/>
        </p:nvSpPr>
        <p:spPr>
          <a:xfrm xmlns:a="http://schemas.openxmlformats.org/drawingml/2006/main">
            <a:off x="4857750" y="2038350"/>
            <a:ext cx="6457950" cy="495300"/>
          </a:xfrm>
          <a:prstGeom xmlns:a="http://schemas.openxmlformats.org/drawingml/2006/main" prst="roundRect">
            <a:avLst>
              <a:gd name="adj" fmla="val 15385"/>
            </a:avLst>
          </a:prstGeom>
          <a:solidFill xmlns:a="http://schemas.openxmlformats.org/drawingml/2006/main">
            <a:srgbClr val="102A36"/>
          </a:solidFill>
          <a:ln xmlns:a="http://schemas.openxmlformats.org/drawingml/2006/main" w="9525">
            <a:solidFill>
              <a:srgbClr val="2EC4D6"/>
            </a:solidFill>
            <a:prstDash val="solid"/>
          </a:ln>
        </p:spPr>
      </p:sp>
      <p:sp>
        <p:nvSpPr>
          <p:cNvPr id="14" name="">
            <a:extLst xmlns:a="http://schemas.openxmlformats.org/drawingml/2006/main">
              <a:ext uri="{FF2B5EF4-FFF2-40B4-BE49-F238E27FC236}">
                <a16:creationId xmlns:a16="http://schemas.microsoft.com/office/drawing/2014/main" id="{1D582A9C-7C07-4D7B-B882-BEE8FA97C97D}"/>
              </a:ext>
            </a:extLst>
          </p:cNvPr>
          <p:cNvSpPr>
            <a:spLocks xmlns:a="http://schemas.openxmlformats.org/drawingml/2006/main" noGrp="1"/>
          </p:cNvSpPr>
          <p:nvPr/>
        </p:nvSpPr>
        <p:spPr>
          <a:xfrm xmlns:a="http://schemas.openxmlformats.org/drawingml/2006/main">
            <a:off x="5067300" y="2162175"/>
            <a:ext cx="60388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0">
                <a:solidFill>
                  <a:srgbClr val="FFFFFF"/>
                </a:solidFill>
                <a:latin typeface="Aptos"/>
                <a:ea typeface="Aptos"/>
                <a:cs typeface="Aptos"/>
              </a:defRPr>
            </a:pPr>
            <a:r>
              <a:rPr sz="1350" b="0">
                <a:solidFill>
                  <a:srgbClr val="FFFFFF"/>
                </a:solidFill>
                <a:latin typeface="Aptos"/>
                <a:ea typeface="Aptos"/>
                <a:cs typeface="Aptos"/>
              </a:rPr>
              <a:t>response time or deadline</a:t>
            </a:r>
          </a:p>
        </p:txBody>
      </p:sp>
      <p:sp>
        <p:nvSpPr>
          <p:cNvPr id="15" name="">
            <a:extLst xmlns:a="http://schemas.openxmlformats.org/drawingml/2006/main">
              <a:ext uri="{FF2B5EF4-FFF2-40B4-BE49-F238E27FC236}">
                <a16:creationId xmlns:a16="http://schemas.microsoft.com/office/drawing/2014/main" id="{9DF49871-BC18-4135-B02E-89CFE6A899C4}"/>
              </a:ext>
            </a:extLst>
          </p:cNvPr>
          <p:cNvSpPr>
            <a:spLocks xmlns:a="http://schemas.openxmlformats.org/drawingml/2006/main" noGrp="1"/>
          </p:cNvSpPr>
          <p:nvPr/>
        </p:nvSpPr>
        <p:spPr>
          <a:xfrm xmlns:a="http://schemas.openxmlformats.org/drawingml/2006/main">
            <a:off x="876300" y="2724150"/>
            <a:ext cx="2952750" cy="495300"/>
          </a:xfrm>
          <a:prstGeom xmlns:a="http://schemas.openxmlformats.org/drawingml/2006/main" prst="roundRect">
            <a:avLst>
              <a:gd name="adj" fmla="val 15385"/>
            </a:avLst>
          </a:prstGeom>
          <a:solidFill xmlns:a="http://schemas.openxmlformats.org/drawingml/2006/main">
            <a:srgbClr val="3B2A18"/>
          </a:solidFill>
          <a:ln xmlns:a="http://schemas.openxmlformats.org/drawingml/2006/main" w="9525">
            <a:solidFill>
              <a:srgbClr val="FF9F43"/>
            </a:solidFill>
            <a:prstDash val="solid"/>
          </a:ln>
        </p:spPr>
      </p:sp>
      <p:sp>
        <p:nvSpPr>
          <p:cNvPr id="16" name="">
            <a:extLst xmlns:a="http://schemas.openxmlformats.org/drawingml/2006/main">
              <a:ext uri="{FF2B5EF4-FFF2-40B4-BE49-F238E27FC236}">
                <a16:creationId xmlns:a16="http://schemas.microsoft.com/office/drawing/2014/main" id="{28A8BC2F-41F7-4C86-878D-2602E4CB995C}"/>
              </a:ext>
            </a:extLst>
          </p:cNvPr>
          <p:cNvSpPr>
            <a:spLocks xmlns:a="http://schemas.openxmlformats.org/drawingml/2006/main" noGrp="1"/>
          </p:cNvSpPr>
          <p:nvPr/>
        </p:nvSpPr>
        <p:spPr>
          <a:xfrm xmlns:a="http://schemas.openxmlformats.org/drawingml/2006/main">
            <a:off x="1066800" y="2847975"/>
            <a:ext cx="25717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Mono"/>
                <a:ea typeface="Aptos Mono"/>
                <a:cs typeface="Aptos Mono"/>
              </a:defRPr>
            </a:pPr>
            <a:r>
              <a:rPr sz="1350" b="1">
                <a:solidFill>
                  <a:srgbClr val="FFFFFF"/>
                </a:solidFill>
                <a:latin typeface="Aptos Mono"/>
                <a:ea typeface="Aptos Mono"/>
                <a:cs typeface="Aptos Mono"/>
              </a:rPr>
              <a:t>periodically</a:t>
            </a:r>
          </a:p>
        </p:txBody>
      </p:sp>
      <p:sp>
        <p:nvSpPr>
          <p:cNvPr id="17" name="">
            <a:extLst xmlns:a="http://schemas.openxmlformats.org/drawingml/2006/main">
              <a:ext uri="{FF2B5EF4-FFF2-40B4-BE49-F238E27FC236}">
                <a16:creationId xmlns:a16="http://schemas.microsoft.com/office/drawing/2014/main" id="{36F7CA75-32E4-44A2-823F-A6686A72CC26}"/>
              </a:ext>
            </a:extLst>
          </p:cNvPr>
          <p:cNvSpPr>
            <a:spLocks xmlns:a="http://schemas.openxmlformats.org/drawingml/2006/main" noGrp="1"/>
          </p:cNvSpPr>
          <p:nvPr/>
        </p:nvSpPr>
        <p:spPr>
          <a:xfrm xmlns:a="http://schemas.openxmlformats.org/drawingml/2006/main">
            <a:off x="4000500" y="2962275"/>
            <a:ext cx="685800" cy="28575"/>
          </a:xfrm>
          <a:prstGeom xmlns:a="http://schemas.openxmlformats.org/drawingml/2006/main" prst="rect">
            <a:avLst/>
          </a:prstGeom>
          <a:solidFill xmlns:a="http://schemas.openxmlformats.org/drawingml/2006/main">
            <a:srgbClr val="46616F"/>
          </a:solidFill>
          <a:ln xmlns:a="http://schemas.openxmlformats.org/drawingml/2006/main" w="28575">
            <a:solidFill>
              <a:srgbClr val="46616F"/>
            </a:solidFill>
            <a:prstDash val="solid"/>
          </a:ln>
        </p:spPr>
      </p:sp>
      <p:sp>
        <p:nvSpPr>
          <p:cNvPr id="18" name="">
            <a:extLst xmlns:a="http://schemas.openxmlformats.org/drawingml/2006/main">
              <a:ext uri="{FF2B5EF4-FFF2-40B4-BE49-F238E27FC236}">
                <a16:creationId xmlns:a16="http://schemas.microsoft.com/office/drawing/2014/main" id="{250F44C4-02BE-434B-9A3B-7B3F980C8273}"/>
              </a:ext>
            </a:extLst>
          </p:cNvPr>
          <p:cNvSpPr>
            <a:spLocks xmlns:a="http://schemas.openxmlformats.org/drawingml/2006/main" noGrp="1"/>
          </p:cNvSpPr>
          <p:nvPr/>
        </p:nvSpPr>
        <p:spPr>
          <a:xfrm xmlns:a="http://schemas.openxmlformats.org/drawingml/2006/main">
            <a:off x="4857750" y="2724150"/>
            <a:ext cx="6457950" cy="495300"/>
          </a:xfrm>
          <a:prstGeom xmlns:a="http://schemas.openxmlformats.org/drawingml/2006/main" prst="roundRect">
            <a:avLst>
              <a:gd name="adj" fmla="val 15385"/>
            </a:avLst>
          </a:prstGeom>
          <a:solidFill xmlns:a="http://schemas.openxmlformats.org/drawingml/2006/main">
            <a:srgbClr val="102A36"/>
          </a:solidFill>
          <a:ln xmlns:a="http://schemas.openxmlformats.org/drawingml/2006/main" w="9525">
            <a:solidFill>
              <a:srgbClr val="2EC4D6"/>
            </a:solidFill>
            <a:prstDash val="solid"/>
          </a:ln>
        </p:spPr>
      </p:sp>
      <p:sp>
        <p:nvSpPr>
          <p:cNvPr id="19" name="">
            <a:extLst xmlns:a="http://schemas.openxmlformats.org/drawingml/2006/main">
              <a:ext uri="{FF2B5EF4-FFF2-40B4-BE49-F238E27FC236}">
                <a16:creationId xmlns:a16="http://schemas.microsoft.com/office/drawing/2014/main" id="{341C3164-2514-4982-A150-CD112CAFA2A2}"/>
              </a:ext>
            </a:extLst>
          </p:cNvPr>
          <p:cNvSpPr>
            <a:spLocks xmlns:a="http://schemas.openxmlformats.org/drawingml/2006/main" noGrp="1"/>
          </p:cNvSpPr>
          <p:nvPr/>
        </p:nvSpPr>
        <p:spPr>
          <a:xfrm xmlns:a="http://schemas.openxmlformats.org/drawingml/2006/main">
            <a:off x="5067300" y="2847975"/>
            <a:ext cx="60388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0">
                <a:solidFill>
                  <a:srgbClr val="FFFFFF"/>
                </a:solidFill>
                <a:latin typeface="Aptos"/>
                <a:ea typeface="Aptos"/>
                <a:cs typeface="Aptos"/>
              </a:defRPr>
            </a:pPr>
            <a:r>
              <a:rPr sz="1350" b="0">
                <a:solidFill>
                  <a:srgbClr val="FFFFFF"/>
                </a:solidFill>
                <a:latin typeface="Aptos"/>
                <a:ea typeface="Aptos"/>
                <a:cs typeface="Aptos"/>
              </a:rPr>
              <a:t>frequency, interval, or trigger</a:t>
            </a:r>
          </a:p>
        </p:txBody>
      </p:sp>
      <p:sp>
        <p:nvSpPr>
          <p:cNvPr id="20" name="">
            <a:extLst xmlns:a="http://schemas.openxmlformats.org/drawingml/2006/main">
              <a:ext uri="{FF2B5EF4-FFF2-40B4-BE49-F238E27FC236}">
                <a16:creationId xmlns:a16="http://schemas.microsoft.com/office/drawing/2014/main" id="{BBA934C0-94C2-4618-965D-2D08D441EB91}"/>
              </a:ext>
            </a:extLst>
          </p:cNvPr>
          <p:cNvSpPr>
            <a:spLocks xmlns:a="http://schemas.openxmlformats.org/drawingml/2006/main" noGrp="1"/>
          </p:cNvSpPr>
          <p:nvPr/>
        </p:nvSpPr>
        <p:spPr>
          <a:xfrm xmlns:a="http://schemas.openxmlformats.org/drawingml/2006/main">
            <a:off x="876300" y="3409950"/>
            <a:ext cx="2952750" cy="495300"/>
          </a:xfrm>
          <a:prstGeom xmlns:a="http://schemas.openxmlformats.org/drawingml/2006/main" prst="roundRect">
            <a:avLst>
              <a:gd name="adj" fmla="val 15385"/>
            </a:avLst>
          </a:prstGeom>
          <a:solidFill xmlns:a="http://schemas.openxmlformats.org/drawingml/2006/main">
            <a:srgbClr val="3B2A18"/>
          </a:solidFill>
          <a:ln xmlns:a="http://schemas.openxmlformats.org/drawingml/2006/main" w="9525">
            <a:solidFill>
              <a:srgbClr val="FF9F43"/>
            </a:solidFill>
            <a:prstDash val="solid"/>
          </a:ln>
        </p:spPr>
      </p:sp>
      <p:sp>
        <p:nvSpPr>
          <p:cNvPr id="21" name="">
            <a:extLst xmlns:a="http://schemas.openxmlformats.org/drawingml/2006/main">
              <a:ext uri="{FF2B5EF4-FFF2-40B4-BE49-F238E27FC236}">
                <a16:creationId xmlns:a16="http://schemas.microsoft.com/office/drawing/2014/main" id="{E0BEAD9A-8019-44E7-AC9D-FC3A2B162E36}"/>
              </a:ext>
            </a:extLst>
          </p:cNvPr>
          <p:cNvSpPr>
            <a:spLocks xmlns:a="http://schemas.openxmlformats.org/drawingml/2006/main" noGrp="1"/>
          </p:cNvSpPr>
          <p:nvPr/>
        </p:nvSpPr>
        <p:spPr>
          <a:xfrm xmlns:a="http://schemas.openxmlformats.org/drawingml/2006/main">
            <a:off x="1066800" y="3533775"/>
            <a:ext cx="25717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Mono"/>
                <a:ea typeface="Aptos Mono"/>
                <a:cs typeface="Aptos Mono"/>
              </a:defRPr>
            </a:pPr>
            <a:r>
              <a:rPr sz="1350" b="1">
                <a:solidFill>
                  <a:srgbClr val="FFFFFF"/>
                </a:solidFill>
                <a:latin typeface="Aptos Mono"/>
                <a:ea typeface="Aptos Mono"/>
                <a:cs typeface="Aptos Mono"/>
              </a:rPr>
              <a:t>as needed</a:t>
            </a:r>
          </a:p>
        </p:txBody>
      </p:sp>
      <p:sp>
        <p:nvSpPr>
          <p:cNvPr id="22" name="">
            <a:extLst xmlns:a="http://schemas.openxmlformats.org/drawingml/2006/main">
              <a:ext uri="{FF2B5EF4-FFF2-40B4-BE49-F238E27FC236}">
                <a16:creationId xmlns:a16="http://schemas.microsoft.com/office/drawing/2014/main" id="{92A17CAF-A72E-4411-B41A-7435317A14C9}"/>
              </a:ext>
            </a:extLst>
          </p:cNvPr>
          <p:cNvSpPr>
            <a:spLocks xmlns:a="http://schemas.openxmlformats.org/drawingml/2006/main" noGrp="1"/>
          </p:cNvSpPr>
          <p:nvPr/>
        </p:nvSpPr>
        <p:spPr>
          <a:xfrm xmlns:a="http://schemas.openxmlformats.org/drawingml/2006/main">
            <a:off x="4000500" y="3648075"/>
            <a:ext cx="685800" cy="28575"/>
          </a:xfrm>
          <a:prstGeom xmlns:a="http://schemas.openxmlformats.org/drawingml/2006/main" prst="rect">
            <a:avLst/>
          </a:prstGeom>
          <a:solidFill xmlns:a="http://schemas.openxmlformats.org/drawingml/2006/main">
            <a:srgbClr val="46616F"/>
          </a:solidFill>
          <a:ln xmlns:a="http://schemas.openxmlformats.org/drawingml/2006/main" w="28575">
            <a:solidFill>
              <a:srgbClr val="46616F"/>
            </a:solidFill>
            <a:prstDash val="solid"/>
          </a:ln>
        </p:spPr>
      </p:sp>
      <p:sp>
        <p:nvSpPr>
          <p:cNvPr id="23" name="">
            <a:extLst xmlns:a="http://schemas.openxmlformats.org/drawingml/2006/main">
              <a:ext uri="{FF2B5EF4-FFF2-40B4-BE49-F238E27FC236}">
                <a16:creationId xmlns:a16="http://schemas.microsoft.com/office/drawing/2014/main" id="{0116DEC8-E621-4C4D-B556-0A1806B5DF91}"/>
              </a:ext>
            </a:extLst>
          </p:cNvPr>
          <p:cNvSpPr>
            <a:spLocks xmlns:a="http://schemas.openxmlformats.org/drawingml/2006/main" noGrp="1"/>
          </p:cNvSpPr>
          <p:nvPr/>
        </p:nvSpPr>
        <p:spPr>
          <a:xfrm xmlns:a="http://schemas.openxmlformats.org/drawingml/2006/main">
            <a:off x="4857750" y="3409950"/>
            <a:ext cx="6457950" cy="495300"/>
          </a:xfrm>
          <a:prstGeom xmlns:a="http://schemas.openxmlformats.org/drawingml/2006/main" prst="roundRect">
            <a:avLst>
              <a:gd name="adj" fmla="val 15385"/>
            </a:avLst>
          </a:prstGeom>
          <a:solidFill xmlns:a="http://schemas.openxmlformats.org/drawingml/2006/main">
            <a:srgbClr val="102A36"/>
          </a:solidFill>
          <a:ln xmlns:a="http://schemas.openxmlformats.org/drawingml/2006/main" w="9525">
            <a:solidFill>
              <a:srgbClr val="2EC4D6"/>
            </a:solidFill>
            <a:prstDash val="solid"/>
          </a:ln>
        </p:spPr>
      </p:sp>
      <p:sp>
        <p:nvSpPr>
          <p:cNvPr id="24" name="">
            <a:extLst xmlns:a="http://schemas.openxmlformats.org/drawingml/2006/main">
              <a:ext uri="{FF2B5EF4-FFF2-40B4-BE49-F238E27FC236}">
                <a16:creationId xmlns:a16="http://schemas.microsoft.com/office/drawing/2014/main" id="{75E4AED2-1910-4109-980C-062CB7E25653}"/>
              </a:ext>
            </a:extLst>
          </p:cNvPr>
          <p:cNvSpPr>
            <a:spLocks xmlns:a="http://schemas.openxmlformats.org/drawingml/2006/main" noGrp="1"/>
          </p:cNvSpPr>
          <p:nvPr/>
        </p:nvSpPr>
        <p:spPr>
          <a:xfrm xmlns:a="http://schemas.openxmlformats.org/drawingml/2006/main">
            <a:off x="5067300" y="3533775"/>
            <a:ext cx="60388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0">
                <a:solidFill>
                  <a:srgbClr val="FFFFFF"/>
                </a:solidFill>
                <a:latin typeface="Aptos"/>
                <a:ea typeface="Aptos"/>
                <a:cs typeface="Aptos"/>
              </a:defRPr>
            </a:pPr>
            <a:r>
              <a:rPr sz="1350" b="0">
                <a:solidFill>
                  <a:srgbClr val="FFFFFF"/>
                </a:solidFill>
                <a:latin typeface="Aptos"/>
                <a:ea typeface="Aptos"/>
                <a:cs typeface="Aptos"/>
              </a:rPr>
              <a:t>explicit condition or authority</a:t>
            </a:r>
          </a:p>
        </p:txBody>
      </p:sp>
      <p:sp>
        <p:nvSpPr>
          <p:cNvPr id="25" name="">
            <a:extLst xmlns:a="http://schemas.openxmlformats.org/drawingml/2006/main">
              <a:ext uri="{FF2B5EF4-FFF2-40B4-BE49-F238E27FC236}">
                <a16:creationId xmlns:a16="http://schemas.microsoft.com/office/drawing/2014/main" id="{398DA2AB-79B7-45B1-9441-47B81E7C8639}"/>
              </a:ext>
            </a:extLst>
          </p:cNvPr>
          <p:cNvSpPr>
            <a:spLocks xmlns:a="http://schemas.openxmlformats.org/drawingml/2006/main" noGrp="1"/>
          </p:cNvSpPr>
          <p:nvPr/>
        </p:nvSpPr>
        <p:spPr>
          <a:xfrm xmlns:a="http://schemas.openxmlformats.org/drawingml/2006/main">
            <a:off x="876300" y="4095750"/>
            <a:ext cx="2952750" cy="495300"/>
          </a:xfrm>
          <a:prstGeom xmlns:a="http://schemas.openxmlformats.org/drawingml/2006/main" prst="roundRect">
            <a:avLst>
              <a:gd name="adj" fmla="val 15385"/>
            </a:avLst>
          </a:prstGeom>
          <a:solidFill xmlns:a="http://schemas.openxmlformats.org/drawingml/2006/main">
            <a:srgbClr val="3B2A18"/>
          </a:solidFill>
          <a:ln xmlns:a="http://schemas.openxmlformats.org/drawingml/2006/main" w="9525">
            <a:solidFill>
              <a:srgbClr val="FF9F43"/>
            </a:solidFill>
            <a:prstDash val="solid"/>
          </a:ln>
        </p:spPr>
      </p:sp>
      <p:sp>
        <p:nvSpPr>
          <p:cNvPr id="26" name="">
            <a:extLst xmlns:a="http://schemas.openxmlformats.org/drawingml/2006/main">
              <a:ext uri="{FF2B5EF4-FFF2-40B4-BE49-F238E27FC236}">
                <a16:creationId xmlns:a16="http://schemas.microsoft.com/office/drawing/2014/main" id="{F6868EF4-EF47-444C-8905-C5FC05103234}"/>
              </a:ext>
            </a:extLst>
          </p:cNvPr>
          <p:cNvSpPr>
            <a:spLocks xmlns:a="http://schemas.openxmlformats.org/drawingml/2006/main" noGrp="1"/>
          </p:cNvSpPr>
          <p:nvPr/>
        </p:nvSpPr>
        <p:spPr>
          <a:xfrm xmlns:a="http://schemas.openxmlformats.org/drawingml/2006/main">
            <a:off x="1066800" y="4219575"/>
            <a:ext cx="25717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Mono"/>
                <a:ea typeface="Aptos Mono"/>
                <a:cs typeface="Aptos Mono"/>
              </a:defRPr>
            </a:pPr>
            <a:r>
              <a:rPr sz="1350" b="1">
                <a:solidFill>
                  <a:srgbClr val="FFFFFF"/>
                </a:solidFill>
                <a:latin typeface="Aptos Mono"/>
                <a:ea typeface="Aptos Mono"/>
                <a:cs typeface="Aptos Mono"/>
              </a:rPr>
              <a:t>nominal</a:t>
            </a:r>
          </a:p>
        </p:txBody>
      </p:sp>
      <p:sp>
        <p:nvSpPr>
          <p:cNvPr id="27" name="">
            <a:extLst xmlns:a="http://schemas.openxmlformats.org/drawingml/2006/main">
              <a:ext uri="{FF2B5EF4-FFF2-40B4-BE49-F238E27FC236}">
                <a16:creationId xmlns:a16="http://schemas.microsoft.com/office/drawing/2014/main" id="{C9D60A03-5DBD-4955-ADEB-F266F0777080}"/>
              </a:ext>
            </a:extLst>
          </p:cNvPr>
          <p:cNvSpPr>
            <a:spLocks xmlns:a="http://schemas.openxmlformats.org/drawingml/2006/main" noGrp="1"/>
          </p:cNvSpPr>
          <p:nvPr/>
        </p:nvSpPr>
        <p:spPr>
          <a:xfrm xmlns:a="http://schemas.openxmlformats.org/drawingml/2006/main">
            <a:off x="4000500" y="4333875"/>
            <a:ext cx="685800" cy="28575"/>
          </a:xfrm>
          <a:prstGeom xmlns:a="http://schemas.openxmlformats.org/drawingml/2006/main" prst="rect">
            <a:avLst/>
          </a:prstGeom>
          <a:solidFill xmlns:a="http://schemas.openxmlformats.org/drawingml/2006/main">
            <a:srgbClr val="46616F"/>
          </a:solidFill>
          <a:ln xmlns:a="http://schemas.openxmlformats.org/drawingml/2006/main" w="28575">
            <a:solidFill>
              <a:srgbClr val="46616F"/>
            </a:solidFill>
            <a:prstDash val="solid"/>
          </a:ln>
        </p:spPr>
      </p:sp>
      <p:sp>
        <p:nvSpPr>
          <p:cNvPr id="28" name="">
            <a:extLst xmlns:a="http://schemas.openxmlformats.org/drawingml/2006/main">
              <a:ext uri="{FF2B5EF4-FFF2-40B4-BE49-F238E27FC236}">
                <a16:creationId xmlns:a16="http://schemas.microsoft.com/office/drawing/2014/main" id="{91033A5E-4758-4338-ACBE-961BB6A3874A}"/>
              </a:ext>
            </a:extLst>
          </p:cNvPr>
          <p:cNvSpPr>
            <a:spLocks xmlns:a="http://schemas.openxmlformats.org/drawingml/2006/main" noGrp="1"/>
          </p:cNvSpPr>
          <p:nvPr/>
        </p:nvSpPr>
        <p:spPr>
          <a:xfrm xmlns:a="http://schemas.openxmlformats.org/drawingml/2006/main">
            <a:off x="4857750" y="4095750"/>
            <a:ext cx="6457950" cy="495300"/>
          </a:xfrm>
          <a:prstGeom xmlns:a="http://schemas.openxmlformats.org/drawingml/2006/main" prst="roundRect">
            <a:avLst>
              <a:gd name="adj" fmla="val 15385"/>
            </a:avLst>
          </a:prstGeom>
          <a:solidFill xmlns:a="http://schemas.openxmlformats.org/drawingml/2006/main">
            <a:srgbClr val="102A36"/>
          </a:solidFill>
          <a:ln xmlns:a="http://schemas.openxmlformats.org/drawingml/2006/main" w="9525">
            <a:solidFill>
              <a:srgbClr val="2EC4D6"/>
            </a:solidFill>
            <a:prstDash val="solid"/>
          </a:ln>
        </p:spPr>
      </p:sp>
      <p:sp>
        <p:nvSpPr>
          <p:cNvPr id="29" name="">
            <a:extLst xmlns:a="http://schemas.openxmlformats.org/drawingml/2006/main">
              <a:ext uri="{FF2B5EF4-FFF2-40B4-BE49-F238E27FC236}">
                <a16:creationId xmlns:a16="http://schemas.microsoft.com/office/drawing/2014/main" id="{7E5B04D7-46AA-4713-96B3-D5B8CC83D949}"/>
              </a:ext>
            </a:extLst>
          </p:cNvPr>
          <p:cNvSpPr>
            <a:spLocks xmlns:a="http://schemas.openxmlformats.org/drawingml/2006/main" noGrp="1"/>
          </p:cNvSpPr>
          <p:nvPr/>
        </p:nvSpPr>
        <p:spPr>
          <a:xfrm xmlns:a="http://schemas.openxmlformats.org/drawingml/2006/main">
            <a:off x="5067300" y="4219575"/>
            <a:ext cx="60388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0">
                <a:solidFill>
                  <a:srgbClr val="FFFFFF"/>
                </a:solidFill>
                <a:latin typeface="Aptos"/>
                <a:ea typeface="Aptos"/>
                <a:cs typeface="Aptos"/>
              </a:defRPr>
            </a:pPr>
            <a:r>
              <a:rPr sz="1350" b="0">
                <a:solidFill>
                  <a:srgbClr val="FFFFFF"/>
                </a:solidFill>
                <a:latin typeface="Aptos"/>
                <a:ea typeface="Aptos"/>
                <a:cs typeface="Aptos"/>
              </a:rPr>
              <a:t>allowed state, range, or data quality</a:t>
            </a:r>
          </a:p>
        </p:txBody>
      </p:sp>
      <p:sp>
        <p:nvSpPr>
          <p:cNvPr id="30" name="">
            <a:extLst xmlns:a="http://schemas.openxmlformats.org/drawingml/2006/main">
              <a:ext uri="{FF2B5EF4-FFF2-40B4-BE49-F238E27FC236}">
                <a16:creationId xmlns:a16="http://schemas.microsoft.com/office/drawing/2014/main" id="{DC758273-4B0E-4766-96E2-5EAE421A8FD4}"/>
              </a:ext>
            </a:extLst>
          </p:cNvPr>
          <p:cNvSpPr>
            <a:spLocks xmlns:a="http://schemas.openxmlformats.org/drawingml/2006/main" noGrp="1"/>
          </p:cNvSpPr>
          <p:nvPr/>
        </p:nvSpPr>
        <p:spPr>
          <a:xfrm xmlns:a="http://schemas.openxmlformats.org/drawingml/2006/main">
            <a:off x="876300" y="4781550"/>
            <a:ext cx="2952750" cy="495300"/>
          </a:xfrm>
          <a:prstGeom xmlns:a="http://schemas.openxmlformats.org/drawingml/2006/main" prst="roundRect">
            <a:avLst>
              <a:gd name="adj" fmla="val 15385"/>
            </a:avLst>
          </a:prstGeom>
          <a:solidFill xmlns:a="http://schemas.openxmlformats.org/drawingml/2006/main">
            <a:srgbClr val="3B2A18"/>
          </a:solidFill>
          <a:ln xmlns:a="http://schemas.openxmlformats.org/drawingml/2006/main" w="9525">
            <a:solidFill>
              <a:srgbClr val="FF9F43"/>
            </a:solidFill>
            <a:prstDash val="solid"/>
          </a:ln>
        </p:spPr>
      </p:sp>
      <p:sp>
        <p:nvSpPr>
          <p:cNvPr id="31" name="">
            <a:extLst xmlns:a="http://schemas.openxmlformats.org/drawingml/2006/main">
              <a:ext uri="{FF2B5EF4-FFF2-40B4-BE49-F238E27FC236}">
                <a16:creationId xmlns:a16="http://schemas.microsoft.com/office/drawing/2014/main" id="{96A83E5D-6AFA-4725-AF4B-9F766AAB6EDB}"/>
              </a:ext>
            </a:extLst>
          </p:cNvPr>
          <p:cNvSpPr>
            <a:spLocks xmlns:a="http://schemas.openxmlformats.org/drawingml/2006/main" noGrp="1"/>
          </p:cNvSpPr>
          <p:nvPr/>
        </p:nvSpPr>
        <p:spPr>
          <a:xfrm xmlns:a="http://schemas.openxmlformats.org/drawingml/2006/main">
            <a:off x="1066800" y="4905375"/>
            <a:ext cx="25717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Mono"/>
                <a:ea typeface="Aptos Mono"/>
                <a:cs typeface="Aptos Mono"/>
              </a:defRPr>
            </a:pPr>
            <a:r>
              <a:rPr sz="1350" b="1">
                <a:solidFill>
                  <a:srgbClr val="FFFFFF"/>
                </a:solidFill>
                <a:latin typeface="Aptos Mono"/>
                <a:ea typeface="Aptos Mono"/>
                <a:cs typeface="Aptos Mono"/>
              </a:rPr>
              <a:t>appropriate / adequate</a:t>
            </a:r>
          </a:p>
        </p:txBody>
      </p:sp>
      <p:sp>
        <p:nvSpPr>
          <p:cNvPr id="32" name="">
            <a:extLst xmlns:a="http://schemas.openxmlformats.org/drawingml/2006/main">
              <a:ext uri="{FF2B5EF4-FFF2-40B4-BE49-F238E27FC236}">
                <a16:creationId xmlns:a16="http://schemas.microsoft.com/office/drawing/2014/main" id="{F1C6C8D9-6D59-420B-BAF7-88BB482E9415}"/>
              </a:ext>
            </a:extLst>
          </p:cNvPr>
          <p:cNvSpPr>
            <a:spLocks xmlns:a="http://schemas.openxmlformats.org/drawingml/2006/main" noGrp="1"/>
          </p:cNvSpPr>
          <p:nvPr/>
        </p:nvSpPr>
        <p:spPr>
          <a:xfrm xmlns:a="http://schemas.openxmlformats.org/drawingml/2006/main">
            <a:off x="4000500" y="5019675"/>
            <a:ext cx="685800" cy="28575"/>
          </a:xfrm>
          <a:prstGeom xmlns:a="http://schemas.openxmlformats.org/drawingml/2006/main" prst="rect">
            <a:avLst/>
          </a:prstGeom>
          <a:solidFill xmlns:a="http://schemas.openxmlformats.org/drawingml/2006/main">
            <a:srgbClr val="46616F"/>
          </a:solidFill>
          <a:ln xmlns:a="http://schemas.openxmlformats.org/drawingml/2006/main" w="28575">
            <a:solidFill>
              <a:srgbClr val="46616F"/>
            </a:solidFill>
            <a:prstDash val="solid"/>
          </a:ln>
        </p:spPr>
      </p:sp>
      <p:sp>
        <p:nvSpPr>
          <p:cNvPr id="33" name="">
            <a:extLst xmlns:a="http://schemas.openxmlformats.org/drawingml/2006/main">
              <a:ext uri="{FF2B5EF4-FFF2-40B4-BE49-F238E27FC236}">
                <a16:creationId xmlns:a16="http://schemas.microsoft.com/office/drawing/2014/main" id="{36BC3065-4A5A-4B7E-8506-5B30F2CFBCF8}"/>
              </a:ext>
            </a:extLst>
          </p:cNvPr>
          <p:cNvSpPr>
            <a:spLocks xmlns:a="http://schemas.openxmlformats.org/drawingml/2006/main" noGrp="1"/>
          </p:cNvSpPr>
          <p:nvPr/>
        </p:nvSpPr>
        <p:spPr>
          <a:xfrm xmlns:a="http://schemas.openxmlformats.org/drawingml/2006/main">
            <a:off x="4857750" y="4781550"/>
            <a:ext cx="6457950" cy="495300"/>
          </a:xfrm>
          <a:prstGeom xmlns:a="http://schemas.openxmlformats.org/drawingml/2006/main" prst="roundRect">
            <a:avLst>
              <a:gd name="adj" fmla="val 15385"/>
            </a:avLst>
          </a:prstGeom>
          <a:solidFill xmlns:a="http://schemas.openxmlformats.org/drawingml/2006/main">
            <a:srgbClr val="102A36"/>
          </a:solidFill>
          <a:ln xmlns:a="http://schemas.openxmlformats.org/drawingml/2006/main" w="9525">
            <a:solidFill>
              <a:srgbClr val="2EC4D6"/>
            </a:solidFill>
            <a:prstDash val="solid"/>
          </a:ln>
        </p:spPr>
      </p:sp>
      <p:sp>
        <p:nvSpPr>
          <p:cNvPr id="34" name="">
            <a:extLst xmlns:a="http://schemas.openxmlformats.org/drawingml/2006/main">
              <a:ext uri="{FF2B5EF4-FFF2-40B4-BE49-F238E27FC236}">
                <a16:creationId xmlns:a16="http://schemas.microsoft.com/office/drawing/2014/main" id="{A3F7A7C8-1EBC-4EF1-935A-C7EF6258F7E9}"/>
              </a:ext>
            </a:extLst>
          </p:cNvPr>
          <p:cNvSpPr>
            <a:spLocks xmlns:a="http://schemas.openxmlformats.org/drawingml/2006/main" noGrp="1"/>
          </p:cNvSpPr>
          <p:nvPr/>
        </p:nvSpPr>
        <p:spPr>
          <a:xfrm xmlns:a="http://schemas.openxmlformats.org/drawingml/2006/main">
            <a:off x="5067300" y="4905375"/>
            <a:ext cx="60388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0">
                <a:solidFill>
                  <a:srgbClr val="FFFFFF"/>
                </a:solidFill>
                <a:latin typeface="Aptos"/>
                <a:ea typeface="Aptos"/>
                <a:cs typeface="Aptos"/>
              </a:defRPr>
            </a:pPr>
            <a:r>
              <a:rPr sz="1350" b="0">
                <a:solidFill>
                  <a:srgbClr val="FFFFFF"/>
                </a:solidFill>
                <a:latin typeface="Aptos"/>
                <a:ea typeface="Aptos"/>
                <a:cs typeface="Aptos"/>
              </a:rPr>
              <a:t>observable response and pass/fail limit</a:t>
            </a:r>
          </a:p>
        </p:txBody>
      </p:sp>
      <p:sp>
        <p:nvSpPr>
          <p:cNvPr id="35" name="">
            <a:extLst xmlns:a="http://schemas.openxmlformats.org/drawingml/2006/main">
              <a:ext uri="{FF2B5EF4-FFF2-40B4-BE49-F238E27FC236}">
                <a16:creationId xmlns:a16="http://schemas.microsoft.com/office/drawing/2014/main" id="{48556E18-0E89-4D8C-9E01-38E32B9DF295}"/>
              </a:ext>
            </a:extLst>
          </p:cNvPr>
          <p:cNvSpPr>
            <a:spLocks xmlns:a="http://schemas.openxmlformats.org/drawingml/2006/main" noGrp="1"/>
          </p:cNvSpPr>
          <p:nvPr/>
        </p:nvSpPr>
        <p:spPr>
          <a:xfrm xmlns:a="http://schemas.openxmlformats.org/drawingml/2006/main">
            <a:off x="2095500" y="5638800"/>
            <a:ext cx="8001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E0B8"/>
                </a:solidFill>
                <a:latin typeface="Aptos"/>
                <a:ea typeface="Aptos"/>
                <a:cs typeface="Aptos"/>
              </a:defRPr>
            </a:pPr>
            <a:r>
              <a:rPr sz="1275" b="1">
                <a:solidFill>
                  <a:srgbClr val="FFE0B8"/>
                </a:solidFill>
                <a:latin typeface="Aptos"/>
                <a:ea typeface="Aptos"/>
                <a:cs typeface="Aptos"/>
              </a:rPr>
              <a:t>Do not replace vague words with invented numbers. Resolve the source decision.</a:t>
            </a:r>
          </a:p>
        </p:txBody>
      </p:sp>
    </p:spTree>
    <p:extLst>
      <p:ext uri="{BB962C8B-B14F-4D97-AF65-F5344CB8AC3E}">
        <p14:creationId xmlns:p14="http://schemas.microsoft.com/office/powerpoint/2010/main" val="49127781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62EA24E-F9FB-470D-8D45-F3CFB51169F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1E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6F816B6-62E9-44D3-91FA-7DE4C24AB00E}"/>
              </a:ext>
            </a:extLst>
          </p:cNvPr>
          <p:cNvSpPr>
            <a:spLocks xmlns:a="http://schemas.openxmlformats.org/drawingml/2006/main" noGrp="1"/>
          </p:cNvSpPr>
          <p:nvPr/>
        </p:nvSpPr>
        <p:spPr>
          <a:xfrm xmlns:a="http://schemas.openxmlformats.org/drawingml/2006/main">
            <a:off x="457200" y="361950"/>
            <a:ext cx="76200" cy="76200"/>
          </a:xfrm>
          <a:prstGeom xmlns:a="http://schemas.openxmlformats.org/drawingml/2006/main" prst="rect">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1868FA2-1136-46F9-81C9-B293C5D2D881}"/>
              </a:ext>
            </a:extLst>
          </p:cNvPr>
          <p:cNvSpPr>
            <a:spLocks xmlns:a="http://schemas.openxmlformats.org/drawingml/2006/main" noGrp="1"/>
          </p:cNvSpPr>
          <p:nvPr/>
        </p:nvSpPr>
        <p:spPr>
          <a:xfrm xmlns:a="http://schemas.openxmlformats.org/drawingml/2006/main">
            <a:off x="64770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46616F"/>
                </a:solidFill>
                <a:latin typeface="Aptos"/>
                <a:ea typeface="Aptos"/>
                <a:cs typeface="Aptos"/>
              </a:defRPr>
            </a:pPr>
            <a:r>
              <a:rPr sz="1050" b="1">
                <a:solidFill>
                  <a:srgbClr val="46616F"/>
                </a:solidFill>
                <a:latin typeface="Aptos"/>
                <a:ea typeface="Aptos"/>
                <a:cs typeface="Aptos"/>
              </a:rPr>
              <a:t>ATOMICITY</a:t>
            </a:r>
          </a:p>
        </p:txBody>
      </p:sp>
      <p:sp>
        <p:nvSpPr>
          <p:cNvPr id="4" name="">
            <a:extLst xmlns:a="http://schemas.openxmlformats.org/drawingml/2006/main">
              <a:ext uri="{FF2B5EF4-FFF2-40B4-BE49-F238E27FC236}">
                <a16:creationId xmlns:a16="http://schemas.microsoft.com/office/drawing/2014/main" id="{DD3495C3-E128-4EE3-B5E6-797FA896B03F}"/>
              </a:ext>
            </a:extLst>
          </p:cNvPr>
          <p:cNvSpPr>
            <a:spLocks xmlns:a="http://schemas.openxmlformats.org/drawingml/2006/main" noGrp="1"/>
          </p:cNvSpPr>
          <p:nvPr/>
        </p:nvSpPr>
        <p:spPr>
          <a:xfrm xmlns:a="http://schemas.openxmlformats.org/drawingml/2006/main">
            <a:off x="457200" y="666750"/>
            <a:ext cx="11049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850" b="1">
                <a:solidFill>
                  <a:srgbClr val="071821"/>
                </a:solidFill>
                <a:latin typeface="Aptos Display"/>
                <a:ea typeface="Aptos Display"/>
                <a:cs typeface="Aptos Display"/>
              </a:defRPr>
            </a:pPr>
            <a:r>
              <a:rPr sz="2850" b="1">
                <a:solidFill>
                  <a:srgbClr val="071821"/>
                </a:solidFill>
                <a:latin typeface="Aptos Display"/>
                <a:ea typeface="Aptos Display"/>
                <a:cs typeface="Aptos Display"/>
              </a:rPr>
              <a:t>One primary obligation supports one coherent pass/fail decision.</a:t>
            </a:r>
          </a:p>
        </p:txBody>
      </p:sp>
      <p:sp>
        <p:nvSpPr>
          <p:cNvPr id="5" name="">
            <a:extLst xmlns:a="http://schemas.openxmlformats.org/drawingml/2006/main">
              <a:ext uri="{FF2B5EF4-FFF2-40B4-BE49-F238E27FC236}">
                <a16:creationId xmlns:a16="http://schemas.microsoft.com/office/drawing/2014/main" id="{1B08449A-8C97-4798-BC78-9200F21716D9}"/>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C9D8DC"/>
          </a:solidFill>
          <a:ln xmlns:a="http://schemas.openxmlformats.org/drawingml/2006/main" w="9525">
            <a:solidFill>
              <a:srgbClr val="C9D8DC"/>
            </a:solidFill>
            <a:prstDash val="solid"/>
          </a:ln>
        </p:spPr>
      </p:sp>
      <p:sp>
        <p:nvSpPr>
          <p:cNvPr id="6" name="">
            <a:extLst xmlns:a="http://schemas.openxmlformats.org/drawingml/2006/main">
              <a:ext uri="{FF2B5EF4-FFF2-40B4-BE49-F238E27FC236}">
                <a16:creationId xmlns:a16="http://schemas.microsoft.com/office/drawing/2014/main" id="{A4CC58F6-A6B8-4DDD-8577-2324BEAA1BA4}"/>
              </a:ext>
            </a:extLst>
          </p:cNvPr>
          <p:cNvSpPr>
            <a:spLocks xmlns:a="http://schemas.openxmlformats.org/drawingml/2006/main" noGrp="1"/>
          </p:cNvSpPr>
          <p:nvPr/>
        </p:nvSpPr>
        <p:spPr>
          <a:xfrm xmlns:a="http://schemas.openxmlformats.org/drawingml/2006/main">
            <a:off x="4572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46616F"/>
                </a:solidFill>
                <a:latin typeface="Aptos"/>
                <a:ea typeface="Aptos"/>
                <a:cs typeface="Aptos"/>
              </a:defRPr>
            </a:pPr>
            <a:r>
              <a:rPr sz="750" b="1">
                <a:solidFill>
                  <a:srgbClr val="46616F"/>
                </a:solidFill>
                <a:latin typeface="Aptos"/>
                <a:ea typeface="Aptos"/>
                <a:cs typeface="Aptos"/>
              </a:rPr>
              <a:t>SESSION 2</a:t>
            </a:r>
          </a:p>
        </p:txBody>
      </p:sp>
      <p:sp>
        <p:nvSpPr>
          <p:cNvPr id="7" name="">
            <a:extLst xmlns:a="http://schemas.openxmlformats.org/drawingml/2006/main">
              <a:ext uri="{FF2B5EF4-FFF2-40B4-BE49-F238E27FC236}">
                <a16:creationId xmlns:a16="http://schemas.microsoft.com/office/drawing/2014/main" id="{D23FE0D1-352F-4BE2-A6F9-ACA922B46F90}"/>
              </a:ext>
            </a:extLst>
          </p:cNvPr>
          <p:cNvSpPr>
            <a:spLocks xmlns:a="http://schemas.openxmlformats.org/drawingml/2006/main" noGrp="1"/>
          </p:cNvSpPr>
          <p:nvPr/>
        </p:nvSpPr>
        <p:spPr>
          <a:xfrm xmlns:a="http://schemas.openxmlformats.org/drawingml/2006/main">
            <a:off x="11144250" y="6515100"/>
            <a:ext cx="590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46616F"/>
                </a:solidFill>
                <a:latin typeface="Aptos"/>
                <a:ea typeface="Aptos"/>
                <a:cs typeface="Aptos"/>
              </a:defRPr>
            </a:pPr>
            <a:r>
              <a:rPr sz="825" b="1">
                <a:solidFill>
                  <a:srgbClr val="46616F"/>
                </a:solidFill>
                <a:latin typeface="Aptos"/>
                <a:ea typeface="Aptos"/>
                <a:cs typeface="Aptos"/>
              </a:rPr>
              <a:t>08</a:t>
            </a:r>
          </a:p>
        </p:txBody>
      </p:sp>
      <p:sp>
        <p:nvSpPr>
          <p:cNvPr id="8" name="">
            <a:extLst xmlns:a="http://schemas.openxmlformats.org/drawingml/2006/main">
              <a:ext uri="{FF2B5EF4-FFF2-40B4-BE49-F238E27FC236}">
                <a16:creationId xmlns:a16="http://schemas.microsoft.com/office/drawing/2014/main" id="{84C3334B-0AB5-4B3B-B905-368F7526C234}"/>
              </a:ext>
            </a:extLst>
          </p:cNvPr>
          <p:cNvSpPr>
            <a:spLocks xmlns:a="http://schemas.openxmlformats.org/drawingml/2006/main" noGrp="1"/>
          </p:cNvSpPr>
          <p:nvPr/>
        </p:nvSpPr>
        <p:spPr>
          <a:xfrm xmlns:a="http://schemas.openxmlformats.org/drawingml/2006/main">
            <a:off x="628650" y="1695450"/>
            <a:ext cx="1066800" cy="285750"/>
          </a:xfrm>
          <a:prstGeom xmlns:a="http://schemas.openxmlformats.org/drawingml/2006/main" prst="roundRect">
            <a:avLst>
              <a:gd name="adj" fmla="val 26667"/>
            </a:avLst>
          </a:prstGeom>
          <a:solidFill xmlns:a="http://schemas.openxmlformats.org/drawingml/2006/main">
            <a:srgbClr val="FF9F4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A7600228-E3A8-4E75-86CB-598DFE52A5E1}"/>
              </a:ext>
            </a:extLst>
          </p:cNvPr>
          <p:cNvSpPr>
            <a:spLocks xmlns:a="http://schemas.openxmlformats.org/drawingml/2006/main" noGrp="1"/>
          </p:cNvSpPr>
          <p:nvPr/>
        </p:nvSpPr>
        <p:spPr>
          <a:xfrm xmlns:a="http://schemas.openxmlformats.org/drawingml/2006/main">
            <a:off x="723900" y="1743075"/>
            <a:ext cx="876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071821"/>
                </a:solidFill>
                <a:latin typeface="Aptos"/>
                <a:ea typeface="Aptos"/>
                <a:cs typeface="Aptos"/>
              </a:defRPr>
            </a:pPr>
            <a:r>
              <a:rPr sz="900" b="1">
                <a:solidFill>
                  <a:srgbClr val="071821"/>
                </a:solidFill>
                <a:latin typeface="Aptos"/>
                <a:ea typeface="Aptos"/>
                <a:cs typeface="Aptos"/>
              </a:rPr>
              <a:t>COMPOUND</a:t>
            </a:r>
          </a:p>
        </p:txBody>
      </p:sp>
      <p:sp>
        <p:nvSpPr>
          <p:cNvPr id="10" name="">
            <a:extLst xmlns:a="http://schemas.openxmlformats.org/drawingml/2006/main">
              <a:ext uri="{FF2B5EF4-FFF2-40B4-BE49-F238E27FC236}">
                <a16:creationId xmlns:a16="http://schemas.microsoft.com/office/drawing/2014/main" id="{A77D2D5F-9403-4D39-B6B3-105048F8B1CB}"/>
              </a:ext>
            </a:extLst>
          </p:cNvPr>
          <p:cNvSpPr>
            <a:spLocks xmlns:a="http://schemas.openxmlformats.org/drawingml/2006/main" noGrp="1"/>
          </p:cNvSpPr>
          <p:nvPr/>
        </p:nvSpPr>
        <p:spPr>
          <a:xfrm xmlns:a="http://schemas.openxmlformats.org/drawingml/2006/main">
            <a:off x="1847850" y="1581150"/>
            <a:ext cx="9715500" cy="819150"/>
          </a:xfrm>
          <a:prstGeom xmlns:a="http://schemas.openxmlformats.org/drawingml/2006/main" prst="roundRect">
            <a:avLst>
              <a:gd name="adj" fmla="val 9302"/>
            </a:avLst>
          </a:prstGeom>
          <a:solidFill xmlns:a="http://schemas.openxmlformats.org/drawingml/2006/main">
            <a:srgbClr val="FFE0B8"/>
          </a:solidFill>
          <a:ln xmlns:a="http://schemas.openxmlformats.org/drawingml/2006/main" w="14288">
            <a:solidFill>
              <a:srgbClr val="FF9F43"/>
            </a:solidFill>
            <a:prstDash val="solid"/>
          </a:ln>
        </p:spPr>
      </p:sp>
      <p:sp>
        <p:nvSpPr>
          <p:cNvPr id="11" name="">
            <a:extLst xmlns:a="http://schemas.openxmlformats.org/drawingml/2006/main">
              <a:ext uri="{FF2B5EF4-FFF2-40B4-BE49-F238E27FC236}">
                <a16:creationId xmlns:a16="http://schemas.microsoft.com/office/drawing/2014/main" id="{F1412932-4BB6-4208-AAEB-CCEB242A7361}"/>
              </a:ext>
            </a:extLst>
          </p:cNvPr>
          <p:cNvSpPr>
            <a:spLocks xmlns:a="http://schemas.openxmlformats.org/drawingml/2006/main" noGrp="1"/>
          </p:cNvSpPr>
          <p:nvPr/>
        </p:nvSpPr>
        <p:spPr>
          <a:xfrm xmlns:a="http://schemas.openxmlformats.org/drawingml/2006/main">
            <a:off x="2057400" y="1752600"/>
            <a:ext cx="92964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0">
                <a:solidFill>
                  <a:srgbClr val="071821"/>
                </a:solidFill>
                <a:latin typeface="Aptos Mono"/>
                <a:ea typeface="Aptos Mono"/>
                <a:cs typeface="Aptos Mono"/>
              </a:defRPr>
            </a:pPr>
            <a:r>
              <a:rPr sz="1350" b="0">
                <a:solidFill>
                  <a:srgbClr val="071821"/>
                </a:solidFill>
                <a:latin typeface="Aptos Mono"/>
                <a:ea typeface="Aptos Mono"/>
                <a:cs typeface="Aptos Mono"/>
              </a:rPr>
              <a:t>The Power Management application shall detect low battery state, set a warning, and command Low-Power Mode.</a:t>
            </a:r>
          </a:p>
        </p:txBody>
      </p:sp>
      <p:sp>
        <p:nvSpPr>
          <p:cNvPr id="12" name="">
            <a:extLst xmlns:a="http://schemas.openxmlformats.org/drawingml/2006/main">
              <a:ext uri="{FF2B5EF4-FFF2-40B4-BE49-F238E27FC236}">
                <a16:creationId xmlns:a16="http://schemas.microsoft.com/office/drawing/2014/main" id="{97C2F970-E527-4A82-9606-72B0732422A9}"/>
              </a:ext>
            </a:extLst>
          </p:cNvPr>
          <p:cNvSpPr>
            <a:spLocks xmlns:a="http://schemas.openxmlformats.org/drawingml/2006/main" noGrp="1"/>
          </p:cNvSpPr>
          <p:nvPr/>
        </p:nvSpPr>
        <p:spPr>
          <a:xfrm xmlns:a="http://schemas.openxmlformats.org/drawingml/2006/main">
            <a:off x="628650" y="3219450"/>
            <a:ext cx="3333750" cy="1581150"/>
          </a:xfrm>
          <a:prstGeom xmlns:a="http://schemas.openxmlformats.org/drawingml/2006/main" prst="roundRect">
            <a:avLst>
              <a:gd name="adj" fmla="val 4819"/>
            </a:avLst>
          </a:prstGeom>
          <a:solidFill xmlns:a="http://schemas.openxmlformats.org/drawingml/2006/main">
            <a:srgbClr val="BCEAF0"/>
          </a:solidFill>
          <a:ln xmlns:a="http://schemas.openxmlformats.org/drawingml/2006/main" w="9525">
            <a:solidFill>
              <a:srgbClr val="C9D8DC"/>
            </a:solidFill>
            <a:prstDash val="solid"/>
          </a:ln>
        </p:spPr>
      </p:sp>
      <p:sp>
        <p:nvSpPr>
          <p:cNvPr id="13" name="">
            <a:extLst xmlns:a="http://schemas.openxmlformats.org/drawingml/2006/main">
              <a:ext uri="{FF2B5EF4-FFF2-40B4-BE49-F238E27FC236}">
                <a16:creationId xmlns:a16="http://schemas.microsoft.com/office/drawing/2014/main" id="{536D3A80-2C87-4DA2-B2EC-8B0A3545452A}"/>
              </a:ext>
            </a:extLst>
          </p:cNvPr>
          <p:cNvSpPr>
            <a:spLocks xmlns:a="http://schemas.openxmlformats.org/drawingml/2006/main" noGrp="1"/>
          </p:cNvSpPr>
          <p:nvPr/>
        </p:nvSpPr>
        <p:spPr>
          <a:xfrm xmlns:a="http://schemas.openxmlformats.org/drawingml/2006/main">
            <a:off x="857250" y="3448050"/>
            <a:ext cx="2876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46616F"/>
                </a:solidFill>
                <a:latin typeface="Aptos"/>
                <a:ea typeface="Aptos"/>
                <a:cs typeface="Aptos"/>
              </a:defRPr>
            </a:pPr>
            <a:r>
              <a:rPr sz="975" b="1">
                <a:solidFill>
                  <a:srgbClr val="46616F"/>
                </a:solidFill>
                <a:latin typeface="Aptos"/>
                <a:ea typeface="Aptos"/>
                <a:cs typeface="Aptos"/>
              </a:rPr>
              <a:t>DETECT</a:t>
            </a:r>
          </a:p>
        </p:txBody>
      </p:sp>
      <p:sp>
        <p:nvSpPr>
          <p:cNvPr id="14" name="">
            <a:extLst xmlns:a="http://schemas.openxmlformats.org/drawingml/2006/main">
              <a:ext uri="{FF2B5EF4-FFF2-40B4-BE49-F238E27FC236}">
                <a16:creationId xmlns:a16="http://schemas.microsoft.com/office/drawing/2014/main" id="{24D8B1AE-BF15-4B11-BC25-A4C93AF89235}"/>
              </a:ext>
            </a:extLst>
          </p:cNvPr>
          <p:cNvSpPr>
            <a:spLocks xmlns:a="http://schemas.openxmlformats.org/drawingml/2006/main" noGrp="1"/>
          </p:cNvSpPr>
          <p:nvPr/>
        </p:nvSpPr>
        <p:spPr>
          <a:xfrm xmlns:a="http://schemas.openxmlformats.org/drawingml/2006/main">
            <a:off x="914400" y="3905250"/>
            <a:ext cx="2762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575" b="1">
                <a:solidFill>
                  <a:srgbClr val="071821"/>
                </a:solidFill>
                <a:latin typeface="Aptos"/>
                <a:ea typeface="Aptos"/>
                <a:cs typeface="Aptos"/>
              </a:defRPr>
            </a:pPr>
            <a:r>
              <a:rPr sz="1575" b="1">
                <a:solidFill>
                  <a:srgbClr val="071821"/>
                </a:solidFill>
                <a:latin typeface="Aptos"/>
                <a:ea typeface="Aptos"/>
                <a:cs typeface="Aptos"/>
              </a:rPr>
              <a:t>Determine that the low-battery condition is present</a:t>
            </a:r>
          </a:p>
        </p:txBody>
      </p:sp>
      <p:sp>
        <p:nvSpPr>
          <p:cNvPr id="15" name="">
            <a:extLst xmlns:a="http://schemas.openxmlformats.org/drawingml/2006/main">
              <a:ext uri="{FF2B5EF4-FFF2-40B4-BE49-F238E27FC236}">
                <a16:creationId xmlns:a16="http://schemas.microsoft.com/office/drawing/2014/main" id="{460184BC-8BEE-4DE1-8D6A-588E9A42D034}"/>
              </a:ext>
            </a:extLst>
          </p:cNvPr>
          <p:cNvSpPr>
            <a:spLocks xmlns:a="http://schemas.openxmlformats.org/drawingml/2006/main" noGrp="1"/>
          </p:cNvSpPr>
          <p:nvPr/>
        </p:nvSpPr>
        <p:spPr>
          <a:xfrm xmlns:a="http://schemas.openxmlformats.org/drawingml/2006/main">
            <a:off x="4343400" y="3219450"/>
            <a:ext cx="333375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C9D8DC"/>
            </a:solidFill>
            <a:prstDash val="solid"/>
          </a:ln>
        </p:spPr>
      </p:sp>
      <p:sp>
        <p:nvSpPr>
          <p:cNvPr id="16" name="">
            <a:extLst xmlns:a="http://schemas.openxmlformats.org/drawingml/2006/main">
              <a:ext uri="{FF2B5EF4-FFF2-40B4-BE49-F238E27FC236}">
                <a16:creationId xmlns:a16="http://schemas.microsoft.com/office/drawing/2014/main" id="{9E128442-6234-4F23-B7A3-57EA7235E8AA}"/>
              </a:ext>
            </a:extLst>
          </p:cNvPr>
          <p:cNvSpPr>
            <a:spLocks xmlns:a="http://schemas.openxmlformats.org/drawingml/2006/main" noGrp="1"/>
          </p:cNvSpPr>
          <p:nvPr/>
        </p:nvSpPr>
        <p:spPr>
          <a:xfrm xmlns:a="http://schemas.openxmlformats.org/drawingml/2006/main">
            <a:off x="4572000" y="3448050"/>
            <a:ext cx="2876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46616F"/>
                </a:solidFill>
                <a:latin typeface="Aptos"/>
                <a:ea typeface="Aptos"/>
                <a:cs typeface="Aptos"/>
              </a:defRPr>
            </a:pPr>
            <a:r>
              <a:rPr sz="975" b="1">
                <a:solidFill>
                  <a:srgbClr val="46616F"/>
                </a:solidFill>
                <a:latin typeface="Aptos"/>
                <a:ea typeface="Aptos"/>
                <a:cs typeface="Aptos"/>
              </a:rPr>
              <a:t>REPORT</a:t>
            </a:r>
          </a:p>
        </p:txBody>
      </p:sp>
      <p:sp>
        <p:nvSpPr>
          <p:cNvPr id="17" name="">
            <a:extLst xmlns:a="http://schemas.openxmlformats.org/drawingml/2006/main">
              <a:ext uri="{FF2B5EF4-FFF2-40B4-BE49-F238E27FC236}">
                <a16:creationId xmlns:a16="http://schemas.microsoft.com/office/drawing/2014/main" id="{941C6D90-A38D-4D6A-9528-3A32EC44498A}"/>
              </a:ext>
            </a:extLst>
          </p:cNvPr>
          <p:cNvSpPr>
            <a:spLocks xmlns:a="http://schemas.openxmlformats.org/drawingml/2006/main" noGrp="1"/>
          </p:cNvSpPr>
          <p:nvPr/>
        </p:nvSpPr>
        <p:spPr>
          <a:xfrm xmlns:a="http://schemas.openxmlformats.org/drawingml/2006/main">
            <a:off x="4629150" y="3905250"/>
            <a:ext cx="2762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575" b="1">
                <a:solidFill>
                  <a:srgbClr val="071821"/>
                </a:solidFill>
                <a:latin typeface="Aptos"/>
                <a:ea typeface="Aptos"/>
                <a:cs typeface="Aptos"/>
              </a:defRPr>
            </a:pPr>
            <a:r>
              <a:rPr sz="1575" b="1">
                <a:solidFill>
                  <a:srgbClr val="071821"/>
                </a:solidFill>
                <a:latin typeface="Aptos"/>
                <a:ea typeface="Aptos"/>
                <a:cs typeface="Aptos"/>
              </a:rPr>
              <a:t>Set the low-battery warning telemetry</a:t>
            </a:r>
          </a:p>
        </p:txBody>
      </p:sp>
      <p:sp>
        <p:nvSpPr>
          <p:cNvPr id="18" name="">
            <a:extLst xmlns:a="http://schemas.openxmlformats.org/drawingml/2006/main">
              <a:ext uri="{FF2B5EF4-FFF2-40B4-BE49-F238E27FC236}">
                <a16:creationId xmlns:a16="http://schemas.microsoft.com/office/drawing/2014/main" id="{3CDCB792-51A7-477E-8998-AD8BB0A426DB}"/>
              </a:ext>
            </a:extLst>
          </p:cNvPr>
          <p:cNvSpPr>
            <a:spLocks xmlns:a="http://schemas.openxmlformats.org/drawingml/2006/main" noGrp="1"/>
          </p:cNvSpPr>
          <p:nvPr/>
        </p:nvSpPr>
        <p:spPr>
          <a:xfrm xmlns:a="http://schemas.openxmlformats.org/drawingml/2006/main">
            <a:off x="8058150" y="3219450"/>
            <a:ext cx="3333750" cy="1581150"/>
          </a:xfrm>
          <a:prstGeom xmlns:a="http://schemas.openxmlformats.org/drawingml/2006/main" prst="roundRect">
            <a:avLst>
              <a:gd name="adj" fmla="val 4819"/>
            </a:avLst>
          </a:prstGeom>
          <a:solidFill xmlns:a="http://schemas.openxmlformats.org/drawingml/2006/main">
            <a:srgbClr val="FFE0B8"/>
          </a:solidFill>
          <a:ln xmlns:a="http://schemas.openxmlformats.org/drawingml/2006/main" w="9525">
            <a:solidFill>
              <a:srgbClr val="FF9F43"/>
            </a:solidFill>
            <a:prstDash val="solid"/>
          </a:ln>
        </p:spPr>
      </p:sp>
      <p:sp>
        <p:nvSpPr>
          <p:cNvPr id="19" name="">
            <a:extLst xmlns:a="http://schemas.openxmlformats.org/drawingml/2006/main">
              <a:ext uri="{FF2B5EF4-FFF2-40B4-BE49-F238E27FC236}">
                <a16:creationId xmlns:a16="http://schemas.microsoft.com/office/drawing/2014/main" id="{B0857AF9-E458-4E64-B462-3278CD890AED}"/>
              </a:ext>
            </a:extLst>
          </p:cNvPr>
          <p:cNvSpPr>
            <a:spLocks xmlns:a="http://schemas.openxmlformats.org/drawingml/2006/main" noGrp="1"/>
          </p:cNvSpPr>
          <p:nvPr/>
        </p:nvSpPr>
        <p:spPr>
          <a:xfrm xmlns:a="http://schemas.openxmlformats.org/drawingml/2006/main">
            <a:off x="8286750" y="3448050"/>
            <a:ext cx="2876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46616F"/>
                </a:solidFill>
                <a:latin typeface="Aptos"/>
                <a:ea typeface="Aptos"/>
                <a:cs typeface="Aptos"/>
              </a:defRPr>
            </a:pPr>
            <a:r>
              <a:rPr sz="975" b="1">
                <a:solidFill>
                  <a:srgbClr val="46616F"/>
                </a:solidFill>
                <a:latin typeface="Aptos"/>
                <a:ea typeface="Aptos"/>
                <a:cs typeface="Aptos"/>
              </a:rPr>
              <a:t>RESPOND</a:t>
            </a:r>
          </a:p>
        </p:txBody>
      </p:sp>
      <p:sp>
        <p:nvSpPr>
          <p:cNvPr id="20" name="">
            <a:extLst xmlns:a="http://schemas.openxmlformats.org/drawingml/2006/main">
              <a:ext uri="{FF2B5EF4-FFF2-40B4-BE49-F238E27FC236}">
                <a16:creationId xmlns:a16="http://schemas.microsoft.com/office/drawing/2014/main" id="{A05FAD6A-7FDE-46A4-9E2E-37DAB96ADBA5}"/>
              </a:ext>
            </a:extLst>
          </p:cNvPr>
          <p:cNvSpPr>
            <a:spLocks xmlns:a="http://schemas.openxmlformats.org/drawingml/2006/main" noGrp="1"/>
          </p:cNvSpPr>
          <p:nvPr/>
        </p:nvSpPr>
        <p:spPr>
          <a:xfrm xmlns:a="http://schemas.openxmlformats.org/drawingml/2006/main">
            <a:off x="8343900" y="3905250"/>
            <a:ext cx="2762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575" b="1">
                <a:solidFill>
                  <a:srgbClr val="071821"/>
                </a:solidFill>
                <a:latin typeface="Aptos"/>
                <a:ea typeface="Aptos"/>
                <a:cs typeface="Aptos"/>
              </a:defRPr>
            </a:pPr>
            <a:r>
              <a:rPr sz="1575" b="1">
                <a:solidFill>
                  <a:srgbClr val="071821"/>
                </a:solidFill>
                <a:latin typeface="Aptos"/>
                <a:ea typeface="Aptos"/>
                <a:cs typeface="Aptos"/>
              </a:rPr>
              <a:t>Issue the Low-Power Mode transition request</a:t>
            </a:r>
          </a:p>
        </p:txBody>
      </p:sp>
      <p:sp>
        <p:nvSpPr>
          <p:cNvPr id="21" name="">
            <a:extLst xmlns:a="http://schemas.openxmlformats.org/drawingml/2006/main">
              <a:ext uri="{FF2B5EF4-FFF2-40B4-BE49-F238E27FC236}">
                <a16:creationId xmlns:a16="http://schemas.microsoft.com/office/drawing/2014/main" id="{C27ED029-22B8-4618-AB3B-F8BC57DE5920}"/>
              </a:ext>
            </a:extLst>
          </p:cNvPr>
          <p:cNvSpPr>
            <a:spLocks xmlns:a="http://schemas.openxmlformats.org/drawingml/2006/main" noGrp="1"/>
          </p:cNvSpPr>
          <p:nvPr/>
        </p:nvSpPr>
        <p:spPr>
          <a:xfrm xmlns:a="http://schemas.openxmlformats.org/drawingml/2006/main">
            <a:off x="1714500" y="5353050"/>
            <a:ext cx="8763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46616F"/>
                </a:solidFill>
                <a:latin typeface="Aptos"/>
                <a:ea typeface="Aptos"/>
                <a:cs typeface="Aptos"/>
              </a:defRPr>
            </a:pPr>
            <a:r>
              <a:rPr sz="1350" b="1">
                <a:solidFill>
                  <a:srgbClr val="46616F"/>
                </a:solidFill>
                <a:latin typeface="Aptos"/>
                <a:ea typeface="Aptos"/>
                <a:cs typeface="Aptos"/>
              </a:rPr>
              <a:t>Split when obligations need independent conditions, timing, traceability, change, or verification.</a:t>
            </a:r>
          </a:p>
        </p:txBody>
      </p:sp>
    </p:spTree>
    <p:extLst>
      <p:ext uri="{BB962C8B-B14F-4D97-AF65-F5344CB8AC3E}">
        <p14:creationId xmlns:p14="http://schemas.microsoft.com/office/powerpoint/2010/main" val="132248377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1B9B363-B3C8-4A24-AF57-95703651AF3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821"/>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EF32B19-2D68-40B5-B02E-0B7B4149A8FF}"/>
              </a:ext>
            </a:extLst>
          </p:cNvPr>
          <p:cNvSpPr>
            <a:spLocks xmlns:a="http://schemas.openxmlformats.org/drawingml/2006/main" noGrp="1"/>
          </p:cNvSpPr>
          <p:nvPr/>
        </p:nvSpPr>
        <p:spPr>
          <a:xfrm xmlns:a="http://schemas.openxmlformats.org/drawingml/2006/main">
            <a:off x="457200" y="361950"/>
            <a:ext cx="76200" cy="76200"/>
          </a:xfrm>
          <a:prstGeom xmlns:a="http://schemas.openxmlformats.org/drawingml/2006/main" prst="rect">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62780E6-0ED6-4A6B-A34F-6E29B2AE5619}"/>
              </a:ext>
            </a:extLst>
          </p:cNvPr>
          <p:cNvSpPr>
            <a:spLocks xmlns:a="http://schemas.openxmlformats.org/drawingml/2006/main" noGrp="1"/>
          </p:cNvSpPr>
          <p:nvPr/>
        </p:nvSpPr>
        <p:spPr>
          <a:xfrm xmlns:a="http://schemas.openxmlformats.org/drawingml/2006/main">
            <a:off x="64770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BCEAF0"/>
                </a:solidFill>
                <a:latin typeface="Aptos"/>
                <a:ea typeface="Aptos"/>
                <a:cs typeface="Aptos"/>
              </a:defRPr>
            </a:pPr>
            <a:r>
              <a:rPr sz="1050" b="1">
                <a:solidFill>
                  <a:srgbClr val="BCEAF0"/>
                </a:solidFill>
                <a:latin typeface="Aptos"/>
                <a:ea typeface="Aptos"/>
                <a:cs typeface="Aptos"/>
              </a:rPr>
              <a:t>REVIEW SIGNAL</a:t>
            </a:r>
          </a:p>
        </p:txBody>
      </p:sp>
      <p:sp>
        <p:nvSpPr>
          <p:cNvPr id="4" name="">
            <a:extLst xmlns:a="http://schemas.openxmlformats.org/drawingml/2006/main">
              <a:ext uri="{FF2B5EF4-FFF2-40B4-BE49-F238E27FC236}">
                <a16:creationId xmlns:a16="http://schemas.microsoft.com/office/drawing/2014/main" id="{C0FD5333-2603-4459-8F8E-5FABC82FBA41}"/>
              </a:ext>
            </a:extLst>
          </p:cNvPr>
          <p:cNvSpPr>
            <a:spLocks xmlns:a="http://schemas.openxmlformats.org/drawingml/2006/main" noGrp="1"/>
          </p:cNvSpPr>
          <p:nvPr/>
        </p:nvSpPr>
        <p:spPr>
          <a:xfrm xmlns:a="http://schemas.openxmlformats.org/drawingml/2006/main">
            <a:off x="457200" y="666750"/>
            <a:ext cx="11049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850" b="1">
                <a:solidFill>
                  <a:srgbClr val="FFFFFF"/>
                </a:solidFill>
                <a:latin typeface="Aptos Display"/>
                <a:ea typeface="Aptos Display"/>
                <a:cs typeface="Aptos Display"/>
              </a:defRPr>
            </a:pPr>
            <a:r>
              <a:rPr sz="2850" b="1">
                <a:solidFill>
                  <a:srgbClr val="FFFFFF"/>
                </a:solidFill>
                <a:latin typeface="Aptos Display"/>
                <a:ea typeface="Aptos Display"/>
                <a:cs typeface="Aptos Display"/>
              </a:rPr>
              <a:t>And and or are clues, not automatic defects.</a:t>
            </a:r>
          </a:p>
        </p:txBody>
      </p:sp>
      <p:sp>
        <p:nvSpPr>
          <p:cNvPr id="5" name="">
            <a:extLst xmlns:a="http://schemas.openxmlformats.org/drawingml/2006/main">
              <a:ext uri="{FF2B5EF4-FFF2-40B4-BE49-F238E27FC236}">
                <a16:creationId xmlns:a16="http://schemas.microsoft.com/office/drawing/2014/main" id="{BBE3CBAC-E884-43B5-BC57-F7E3C37D4AFB}"/>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46616F"/>
          </a:solidFill>
          <a:ln xmlns:a="http://schemas.openxmlformats.org/drawingml/2006/main" w="9525">
            <a:solidFill>
              <a:srgbClr val="46616F"/>
            </a:solidFill>
            <a:prstDash val="solid"/>
          </a:ln>
        </p:spPr>
      </p:sp>
      <p:sp>
        <p:nvSpPr>
          <p:cNvPr id="6" name="">
            <a:extLst xmlns:a="http://schemas.openxmlformats.org/drawingml/2006/main">
              <a:ext uri="{FF2B5EF4-FFF2-40B4-BE49-F238E27FC236}">
                <a16:creationId xmlns:a16="http://schemas.microsoft.com/office/drawing/2014/main" id="{0058B113-3267-44F8-B2DE-66AE59B3145E}"/>
              </a:ext>
            </a:extLst>
          </p:cNvPr>
          <p:cNvSpPr>
            <a:spLocks xmlns:a="http://schemas.openxmlformats.org/drawingml/2006/main" noGrp="1"/>
          </p:cNvSpPr>
          <p:nvPr/>
        </p:nvSpPr>
        <p:spPr>
          <a:xfrm xmlns:a="http://schemas.openxmlformats.org/drawingml/2006/main">
            <a:off x="4572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C9D8DC"/>
                </a:solidFill>
                <a:latin typeface="Aptos"/>
                <a:ea typeface="Aptos"/>
                <a:cs typeface="Aptos"/>
              </a:defRPr>
            </a:pPr>
            <a:r>
              <a:rPr sz="750" b="1">
                <a:solidFill>
                  <a:srgbClr val="C9D8DC"/>
                </a:solidFill>
                <a:latin typeface="Aptos"/>
                <a:ea typeface="Aptos"/>
                <a:cs typeface="Aptos"/>
              </a:rPr>
              <a:t>SESSION 2</a:t>
            </a:r>
          </a:p>
        </p:txBody>
      </p:sp>
      <p:sp>
        <p:nvSpPr>
          <p:cNvPr id="7" name="">
            <a:extLst xmlns:a="http://schemas.openxmlformats.org/drawingml/2006/main">
              <a:ext uri="{FF2B5EF4-FFF2-40B4-BE49-F238E27FC236}">
                <a16:creationId xmlns:a16="http://schemas.microsoft.com/office/drawing/2014/main" id="{2DA9B63C-90F3-4A30-88C5-EE2C2C277805}"/>
              </a:ext>
            </a:extLst>
          </p:cNvPr>
          <p:cNvSpPr>
            <a:spLocks xmlns:a="http://schemas.openxmlformats.org/drawingml/2006/main" noGrp="1"/>
          </p:cNvSpPr>
          <p:nvPr/>
        </p:nvSpPr>
        <p:spPr>
          <a:xfrm xmlns:a="http://schemas.openxmlformats.org/drawingml/2006/main">
            <a:off x="11144250" y="6515100"/>
            <a:ext cx="590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C9D8DC"/>
                </a:solidFill>
                <a:latin typeface="Aptos"/>
                <a:ea typeface="Aptos"/>
                <a:cs typeface="Aptos"/>
              </a:defRPr>
            </a:pPr>
            <a:r>
              <a:rPr sz="825" b="1">
                <a:solidFill>
                  <a:srgbClr val="C9D8DC"/>
                </a:solidFill>
                <a:latin typeface="Aptos"/>
                <a:ea typeface="Aptos"/>
                <a:cs typeface="Aptos"/>
              </a:rPr>
              <a:t>09</a:t>
            </a:r>
          </a:p>
        </p:txBody>
      </p:sp>
      <p:sp>
        <p:nvSpPr>
          <p:cNvPr id="8" name="">
            <a:extLst xmlns:a="http://schemas.openxmlformats.org/drawingml/2006/main">
              <a:ext uri="{FF2B5EF4-FFF2-40B4-BE49-F238E27FC236}">
                <a16:creationId xmlns:a16="http://schemas.microsoft.com/office/drawing/2014/main" id="{DEF4AFB8-136E-4617-9FBD-A54931D3DCEE}"/>
              </a:ext>
            </a:extLst>
          </p:cNvPr>
          <p:cNvSpPr>
            <a:spLocks xmlns:a="http://schemas.openxmlformats.org/drawingml/2006/main" noGrp="1"/>
          </p:cNvSpPr>
          <p:nvPr/>
        </p:nvSpPr>
        <p:spPr>
          <a:xfrm xmlns:a="http://schemas.openxmlformats.org/drawingml/2006/main">
            <a:off x="666750" y="1943100"/>
            <a:ext cx="1200150" cy="285750"/>
          </a:xfrm>
          <a:prstGeom xmlns:a="http://schemas.openxmlformats.org/drawingml/2006/main" prst="roundRect">
            <a:avLst>
              <a:gd name="adj" fmla="val 26667"/>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E29B9533-14E0-4B9B-98FB-7EA9679CE648}"/>
              </a:ext>
            </a:extLst>
          </p:cNvPr>
          <p:cNvSpPr>
            <a:spLocks xmlns:a="http://schemas.openxmlformats.org/drawingml/2006/main" noGrp="1"/>
          </p:cNvSpPr>
          <p:nvPr/>
        </p:nvSpPr>
        <p:spPr>
          <a:xfrm xmlns:a="http://schemas.openxmlformats.org/drawingml/2006/main">
            <a:off x="762000" y="1990725"/>
            <a:ext cx="1009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071821"/>
                </a:solidFill>
                <a:latin typeface="Aptos"/>
                <a:ea typeface="Aptos"/>
                <a:cs typeface="Aptos"/>
              </a:defRPr>
            </a:pPr>
            <a:r>
              <a:rPr sz="900" b="1">
                <a:solidFill>
                  <a:srgbClr val="071821"/>
                </a:solidFill>
                <a:latin typeface="Aptos"/>
                <a:ea typeface="Aptos"/>
                <a:cs typeface="Aptos"/>
              </a:rPr>
              <a:t>ONE OBJECT</a:t>
            </a:r>
          </a:p>
        </p:txBody>
      </p:sp>
      <p:sp>
        <p:nvSpPr>
          <p:cNvPr id="10" name="">
            <a:extLst xmlns:a="http://schemas.openxmlformats.org/drawingml/2006/main">
              <a:ext uri="{FF2B5EF4-FFF2-40B4-BE49-F238E27FC236}">
                <a16:creationId xmlns:a16="http://schemas.microsoft.com/office/drawing/2014/main" id="{39B3939F-F675-4C06-BE55-0F4037851309}"/>
              </a:ext>
            </a:extLst>
          </p:cNvPr>
          <p:cNvSpPr>
            <a:spLocks xmlns:a="http://schemas.openxmlformats.org/drawingml/2006/main" noGrp="1"/>
          </p:cNvSpPr>
          <p:nvPr/>
        </p:nvSpPr>
        <p:spPr>
          <a:xfrm xmlns:a="http://schemas.openxmlformats.org/drawingml/2006/main">
            <a:off x="2057400" y="1619250"/>
            <a:ext cx="6858000" cy="990600"/>
          </a:xfrm>
          <a:prstGeom xmlns:a="http://schemas.openxmlformats.org/drawingml/2006/main" prst="roundRect">
            <a:avLst>
              <a:gd name="adj" fmla="val 7692"/>
            </a:avLst>
          </a:prstGeom>
          <a:solidFill xmlns:a="http://schemas.openxmlformats.org/drawingml/2006/main">
            <a:srgbClr val="102A36"/>
          </a:solidFill>
          <a:ln xmlns:a="http://schemas.openxmlformats.org/drawingml/2006/main" w="14288">
            <a:solidFill>
              <a:srgbClr val="2EC4D6"/>
            </a:solidFill>
            <a:prstDash val="solid"/>
          </a:ln>
        </p:spPr>
      </p:sp>
      <p:sp>
        <p:nvSpPr>
          <p:cNvPr id="11" name="">
            <a:extLst xmlns:a="http://schemas.openxmlformats.org/drawingml/2006/main">
              <a:ext uri="{FF2B5EF4-FFF2-40B4-BE49-F238E27FC236}">
                <a16:creationId xmlns:a16="http://schemas.microsoft.com/office/drawing/2014/main" id="{F2D1C635-A417-4C0F-9756-BEBE2E63E012}"/>
              </a:ext>
            </a:extLst>
          </p:cNvPr>
          <p:cNvSpPr>
            <a:spLocks xmlns:a="http://schemas.openxmlformats.org/drawingml/2006/main" noGrp="1"/>
          </p:cNvSpPr>
          <p:nvPr/>
        </p:nvSpPr>
        <p:spPr>
          <a:xfrm xmlns:a="http://schemas.openxmlformats.org/drawingml/2006/main">
            <a:off x="2305050" y="1790700"/>
            <a:ext cx="63627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75" b="0">
                <a:solidFill>
                  <a:srgbClr val="FFFFFF"/>
                </a:solidFill>
                <a:latin typeface="Aptos Mono"/>
                <a:ea typeface="Aptos Mono"/>
                <a:cs typeface="Aptos Mono"/>
              </a:defRPr>
            </a:pPr>
            <a:r>
              <a:rPr sz="1275" b="0">
                <a:solidFill>
                  <a:srgbClr val="FFFFFF"/>
                </a:solidFill>
                <a:latin typeface="Aptos Mono"/>
                <a:ea typeface="Aptos Mono"/>
                <a:cs typeface="Aptos Mono"/>
              </a:rPr>
              <a:t>The application shall include the time tag and validity flag in each sample record.</a:t>
            </a:r>
          </a:p>
        </p:txBody>
      </p:sp>
      <p:sp>
        <p:nvSpPr>
          <p:cNvPr id="12" name="">
            <a:extLst xmlns:a="http://schemas.openxmlformats.org/drawingml/2006/main">
              <a:ext uri="{FF2B5EF4-FFF2-40B4-BE49-F238E27FC236}">
                <a16:creationId xmlns:a16="http://schemas.microsoft.com/office/drawing/2014/main" id="{937EE7C2-3E88-40FC-A4E4-7EF4B1BDDBB1}"/>
              </a:ext>
            </a:extLst>
          </p:cNvPr>
          <p:cNvSpPr>
            <a:spLocks xmlns:a="http://schemas.openxmlformats.org/drawingml/2006/main" noGrp="1"/>
          </p:cNvSpPr>
          <p:nvPr/>
        </p:nvSpPr>
        <p:spPr>
          <a:xfrm xmlns:a="http://schemas.openxmlformats.org/drawingml/2006/main">
            <a:off x="9067800" y="2105025"/>
            <a:ext cx="495300" cy="28575"/>
          </a:xfrm>
          <a:prstGeom xmlns:a="http://schemas.openxmlformats.org/drawingml/2006/main" prst="rect">
            <a:avLst/>
          </a:prstGeom>
          <a:solidFill xmlns:a="http://schemas.openxmlformats.org/drawingml/2006/main">
            <a:srgbClr val="2EC4D6"/>
          </a:solidFill>
          <a:ln xmlns:a="http://schemas.openxmlformats.org/drawingml/2006/main" w="28575">
            <a:solidFill>
              <a:srgbClr val="2EC4D6"/>
            </a:solidFill>
            <a:prstDash val="solid"/>
          </a:ln>
        </p:spPr>
      </p:sp>
      <p:sp>
        <p:nvSpPr>
          <p:cNvPr id="13" name="">
            <a:extLst xmlns:a="http://schemas.openxmlformats.org/drawingml/2006/main">
              <a:ext uri="{FF2B5EF4-FFF2-40B4-BE49-F238E27FC236}">
                <a16:creationId xmlns:a16="http://schemas.microsoft.com/office/drawing/2014/main" id="{1D781FCA-6909-418E-950C-D9F5E15320AD}"/>
              </a:ext>
            </a:extLst>
          </p:cNvPr>
          <p:cNvSpPr>
            <a:spLocks xmlns:a="http://schemas.openxmlformats.org/drawingml/2006/main" noGrp="1"/>
          </p:cNvSpPr>
          <p:nvPr/>
        </p:nvSpPr>
        <p:spPr>
          <a:xfrm xmlns:a="http://schemas.openxmlformats.org/drawingml/2006/main">
            <a:off x="9734550" y="1828800"/>
            <a:ext cx="18097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BCEAF0"/>
                </a:solidFill>
                <a:latin typeface="Aptos"/>
                <a:ea typeface="Aptos"/>
                <a:cs typeface="Aptos"/>
              </a:defRPr>
            </a:pPr>
            <a:r>
              <a:rPr sz="1200" b="1">
                <a:solidFill>
                  <a:srgbClr val="BCEAF0"/>
                </a:solidFill>
                <a:latin typeface="Aptos"/>
                <a:ea typeface="Aptos"/>
                <a:cs typeface="Aptos"/>
              </a:rPr>
              <a:t>One action; two required fields</a:t>
            </a:r>
          </a:p>
        </p:txBody>
      </p:sp>
      <p:sp>
        <p:nvSpPr>
          <p:cNvPr id="14" name="">
            <a:extLst xmlns:a="http://schemas.openxmlformats.org/drawingml/2006/main">
              <a:ext uri="{FF2B5EF4-FFF2-40B4-BE49-F238E27FC236}">
                <a16:creationId xmlns:a16="http://schemas.microsoft.com/office/drawing/2014/main" id="{65A41C30-57B6-4262-8D08-E11C63109FC5}"/>
              </a:ext>
            </a:extLst>
          </p:cNvPr>
          <p:cNvSpPr>
            <a:spLocks xmlns:a="http://schemas.openxmlformats.org/drawingml/2006/main" noGrp="1"/>
          </p:cNvSpPr>
          <p:nvPr/>
        </p:nvSpPr>
        <p:spPr>
          <a:xfrm xmlns:a="http://schemas.openxmlformats.org/drawingml/2006/main">
            <a:off x="666750" y="3200400"/>
            <a:ext cx="1200150" cy="285750"/>
          </a:xfrm>
          <a:prstGeom xmlns:a="http://schemas.openxmlformats.org/drawingml/2006/main" prst="roundRect">
            <a:avLst>
              <a:gd name="adj" fmla="val 26667"/>
            </a:avLst>
          </a:prstGeom>
          <a:solidFill xmlns:a="http://schemas.openxmlformats.org/drawingml/2006/main">
            <a:srgbClr val="FF9F43"/>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71AAF9CC-F85B-437F-940E-3F6F424E7747}"/>
              </a:ext>
            </a:extLst>
          </p:cNvPr>
          <p:cNvSpPr>
            <a:spLocks xmlns:a="http://schemas.openxmlformats.org/drawingml/2006/main" noGrp="1"/>
          </p:cNvSpPr>
          <p:nvPr/>
        </p:nvSpPr>
        <p:spPr>
          <a:xfrm xmlns:a="http://schemas.openxmlformats.org/drawingml/2006/main">
            <a:off x="762000" y="3248025"/>
            <a:ext cx="1009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071821"/>
                </a:solidFill>
                <a:latin typeface="Aptos"/>
                <a:ea typeface="Aptos"/>
                <a:cs typeface="Aptos"/>
              </a:defRPr>
            </a:pPr>
            <a:r>
              <a:rPr sz="900" b="1">
                <a:solidFill>
                  <a:srgbClr val="071821"/>
                </a:solidFill>
                <a:latin typeface="Aptos"/>
                <a:ea typeface="Aptos"/>
                <a:cs typeface="Aptos"/>
              </a:rPr>
              <a:t>TWO ACTIONS</a:t>
            </a:r>
          </a:p>
        </p:txBody>
      </p:sp>
      <p:sp>
        <p:nvSpPr>
          <p:cNvPr id="16" name="">
            <a:extLst xmlns:a="http://schemas.openxmlformats.org/drawingml/2006/main">
              <a:ext uri="{FF2B5EF4-FFF2-40B4-BE49-F238E27FC236}">
                <a16:creationId xmlns:a16="http://schemas.microsoft.com/office/drawing/2014/main" id="{5CFFE7E0-6C64-4FC5-B4EA-814469A6CD22}"/>
              </a:ext>
            </a:extLst>
          </p:cNvPr>
          <p:cNvSpPr>
            <a:spLocks xmlns:a="http://schemas.openxmlformats.org/drawingml/2006/main" noGrp="1"/>
          </p:cNvSpPr>
          <p:nvPr/>
        </p:nvSpPr>
        <p:spPr>
          <a:xfrm xmlns:a="http://schemas.openxmlformats.org/drawingml/2006/main">
            <a:off x="2057400" y="2876550"/>
            <a:ext cx="6858000" cy="990600"/>
          </a:xfrm>
          <a:prstGeom xmlns:a="http://schemas.openxmlformats.org/drawingml/2006/main" prst="roundRect">
            <a:avLst>
              <a:gd name="adj" fmla="val 7692"/>
            </a:avLst>
          </a:prstGeom>
          <a:solidFill xmlns:a="http://schemas.openxmlformats.org/drawingml/2006/main">
            <a:srgbClr val="102A36"/>
          </a:solidFill>
          <a:ln xmlns:a="http://schemas.openxmlformats.org/drawingml/2006/main" w="14288">
            <a:solidFill>
              <a:srgbClr val="FF9F43"/>
            </a:solidFill>
            <a:prstDash val="solid"/>
          </a:ln>
        </p:spPr>
      </p:sp>
      <p:sp>
        <p:nvSpPr>
          <p:cNvPr id="17" name="">
            <a:extLst xmlns:a="http://schemas.openxmlformats.org/drawingml/2006/main">
              <a:ext uri="{FF2B5EF4-FFF2-40B4-BE49-F238E27FC236}">
                <a16:creationId xmlns:a16="http://schemas.microsoft.com/office/drawing/2014/main" id="{3A0B1912-6608-49F8-928E-DE888A858EB5}"/>
              </a:ext>
            </a:extLst>
          </p:cNvPr>
          <p:cNvSpPr>
            <a:spLocks xmlns:a="http://schemas.openxmlformats.org/drawingml/2006/main" noGrp="1"/>
          </p:cNvSpPr>
          <p:nvPr/>
        </p:nvSpPr>
        <p:spPr>
          <a:xfrm xmlns:a="http://schemas.openxmlformats.org/drawingml/2006/main">
            <a:off x="2305050" y="3048000"/>
            <a:ext cx="63627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75" b="0">
                <a:solidFill>
                  <a:srgbClr val="FFFFFF"/>
                </a:solidFill>
                <a:latin typeface="Aptos Mono"/>
                <a:ea typeface="Aptos Mono"/>
                <a:cs typeface="Aptos Mono"/>
              </a:defRPr>
            </a:pPr>
            <a:r>
              <a:rPr sz="1275" b="0">
                <a:solidFill>
                  <a:srgbClr val="FFFFFF"/>
                </a:solidFill>
                <a:latin typeface="Aptos Mono"/>
                <a:ea typeface="Aptos Mono"/>
                <a:cs typeface="Aptos Mono"/>
              </a:rPr>
              <a:t>The application shall detect stale data and command Low-Power Mode.</a:t>
            </a:r>
          </a:p>
        </p:txBody>
      </p:sp>
      <p:sp>
        <p:nvSpPr>
          <p:cNvPr id="18" name="">
            <a:extLst xmlns:a="http://schemas.openxmlformats.org/drawingml/2006/main">
              <a:ext uri="{FF2B5EF4-FFF2-40B4-BE49-F238E27FC236}">
                <a16:creationId xmlns:a16="http://schemas.microsoft.com/office/drawing/2014/main" id="{80D93299-9F37-44DE-BFFC-FD2CEDF6A538}"/>
              </a:ext>
            </a:extLst>
          </p:cNvPr>
          <p:cNvSpPr>
            <a:spLocks xmlns:a="http://schemas.openxmlformats.org/drawingml/2006/main" noGrp="1"/>
          </p:cNvSpPr>
          <p:nvPr/>
        </p:nvSpPr>
        <p:spPr>
          <a:xfrm xmlns:a="http://schemas.openxmlformats.org/drawingml/2006/main">
            <a:off x="9067800" y="3362325"/>
            <a:ext cx="495300" cy="28575"/>
          </a:xfrm>
          <a:prstGeom xmlns:a="http://schemas.openxmlformats.org/drawingml/2006/main" prst="rect">
            <a:avLst/>
          </a:prstGeom>
          <a:solidFill xmlns:a="http://schemas.openxmlformats.org/drawingml/2006/main">
            <a:srgbClr val="FF9F43"/>
          </a:solidFill>
          <a:ln xmlns:a="http://schemas.openxmlformats.org/drawingml/2006/main" w="28575">
            <a:solidFill>
              <a:srgbClr val="FF9F43"/>
            </a:solidFill>
            <a:prstDash val="solid"/>
          </a:ln>
        </p:spPr>
      </p:sp>
      <p:sp>
        <p:nvSpPr>
          <p:cNvPr id="19" name="">
            <a:extLst xmlns:a="http://schemas.openxmlformats.org/drawingml/2006/main">
              <a:ext uri="{FF2B5EF4-FFF2-40B4-BE49-F238E27FC236}">
                <a16:creationId xmlns:a16="http://schemas.microsoft.com/office/drawing/2014/main" id="{25635745-A9EA-431F-8BED-80C14495D9A4}"/>
              </a:ext>
            </a:extLst>
          </p:cNvPr>
          <p:cNvSpPr>
            <a:spLocks xmlns:a="http://schemas.openxmlformats.org/drawingml/2006/main" noGrp="1"/>
          </p:cNvSpPr>
          <p:nvPr/>
        </p:nvSpPr>
        <p:spPr>
          <a:xfrm xmlns:a="http://schemas.openxmlformats.org/drawingml/2006/main">
            <a:off x="9734550" y="3086100"/>
            <a:ext cx="18097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FFE0B8"/>
                </a:solidFill>
                <a:latin typeface="Aptos"/>
                <a:ea typeface="Aptos"/>
                <a:cs typeface="Aptos"/>
              </a:defRPr>
            </a:pPr>
            <a:r>
              <a:rPr sz="1200" b="1">
                <a:solidFill>
                  <a:srgbClr val="FFE0B8"/>
                </a:solidFill>
                <a:latin typeface="Aptos"/>
                <a:ea typeface="Aptos"/>
                <a:cs typeface="Aptos"/>
              </a:rPr>
              <a:t>Independent behavior and evidence</a:t>
            </a:r>
          </a:p>
        </p:txBody>
      </p:sp>
      <p:sp>
        <p:nvSpPr>
          <p:cNvPr id="20" name="">
            <a:extLst xmlns:a="http://schemas.openxmlformats.org/drawingml/2006/main">
              <a:ext uri="{FF2B5EF4-FFF2-40B4-BE49-F238E27FC236}">
                <a16:creationId xmlns:a16="http://schemas.microsoft.com/office/drawing/2014/main" id="{71A5D2B5-9ACF-4E3C-A013-125A2430687D}"/>
              </a:ext>
            </a:extLst>
          </p:cNvPr>
          <p:cNvSpPr>
            <a:spLocks xmlns:a="http://schemas.openxmlformats.org/drawingml/2006/main" noGrp="1"/>
          </p:cNvSpPr>
          <p:nvPr/>
        </p:nvSpPr>
        <p:spPr>
          <a:xfrm xmlns:a="http://schemas.openxmlformats.org/drawingml/2006/main">
            <a:off x="666750" y="4457700"/>
            <a:ext cx="1200150" cy="285750"/>
          </a:xfrm>
          <a:prstGeom xmlns:a="http://schemas.openxmlformats.org/drawingml/2006/main" prst="roundRect">
            <a:avLst>
              <a:gd name="adj" fmla="val 26667"/>
            </a:avLst>
          </a:prstGeom>
          <a:solidFill xmlns:a="http://schemas.openxmlformats.org/drawingml/2006/main">
            <a:srgbClr val="FF9F43"/>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AD486955-85E0-41BD-A0B5-1FE0166B66C5}"/>
              </a:ext>
            </a:extLst>
          </p:cNvPr>
          <p:cNvSpPr>
            <a:spLocks xmlns:a="http://schemas.openxmlformats.org/drawingml/2006/main" noGrp="1"/>
          </p:cNvSpPr>
          <p:nvPr/>
        </p:nvSpPr>
        <p:spPr>
          <a:xfrm xmlns:a="http://schemas.openxmlformats.org/drawingml/2006/main">
            <a:off x="762000" y="4505325"/>
            <a:ext cx="1009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071821"/>
                </a:solidFill>
                <a:latin typeface="Aptos"/>
                <a:ea typeface="Aptos"/>
                <a:cs typeface="Aptos"/>
              </a:defRPr>
            </a:pPr>
            <a:r>
              <a:rPr sz="900" b="1">
                <a:solidFill>
                  <a:srgbClr val="071821"/>
                </a:solidFill>
                <a:latin typeface="Aptos"/>
                <a:ea typeface="Aptos"/>
                <a:cs typeface="Aptos"/>
              </a:rPr>
              <a:t>LOGIC</a:t>
            </a:r>
          </a:p>
        </p:txBody>
      </p:sp>
      <p:sp>
        <p:nvSpPr>
          <p:cNvPr id="22" name="">
            <a:extLst xmlns:a="http://schemas.openxmlformats.org/drawingml/2006/main">
              <a:ext uri="{FF2B5EF4-FFF2-40B4-BE49-F238E27FC236}">
                <a16:creationId xmlns:a16="http://schemas.microsoft.com/office/drawing/2014/main" id="{0F579055-A5C4-4F56-8542-59ECF8AB966E}"/>
              </a:ext>
            </a:extLst>
          </p:cNvPr>
          <p:cNvSpPr>
            <a:spLocks xmlns:a="http://schemas.openxmlformats.org/drawingml/2006/main" noGrp="1"/>
          </p:cNvSpPr>
          <p:nvPr/>
        </p:nvSpPr>
        <p:spPr>
          <a:xfrm xmlns:a="http://schemas.openxmlformats.org/drawingml/2006/main">
            <a:off x="2057400" y="4133850"/>
            <a:ext cx="6858000" cy="990600"/>
          </a:xfrm>
          <a:prstGeom xmlns:a="http://schemas.openxmlformats.org/drawingml/2006/main" prst="roundRect">
            <a:avLst>
              <a:gd name="adj" fmla="val 7692"/>
            </a:avLst>
          </a:prstGeom>
          <a:solidFill xmlns:a="http://schemas.openxmlformats.org/drawingml/2006/main">
            <a:srgbClr val="102A36"/>
          </a:solidFill>
          <a:ln xmlns:a="http://schemas.openxmlformats.org/drawingml/2006/main" w="14288">
            <a:solidFill>
              <a:srgbClr val="FF9F43"/>
            </a:solidFill>
            <a:prstDash val="solid"/>
          </a:ln>
        </p:spPr>
      </p:sp>
      <p:sp>
        <p:nvSpPr>
          <p:cNvPr id="23" name="">
            <a:extLst xmlns:a="http://schemas.openxmlformats.org/drawingml/2006/main">
              <a:ext uri="{FF2B5EF4-FFF2-40B4-BE49-F238E27FC236}">
                <a16:creationId xmlns:a16="http://schemas.microsoft.com/office/drawing/2014/main" id="{96A91ABF-A59F-48A8-AD6F-1F5EC0DA1E9F}"/>
              </a:ext>
            </a:extLst>
          </p:cNvPr>
          <p:cNvSpPr>
            <a:spLocks xmlns:a="http://schemas.openxmlformats.org/drawingml/2006/main" noGrp="1"/>
          </p:cNvSpPr>
          <p:nvPr/>
        </p:nvSpPr>
        <p:spPr>
          <a:xfrm xmlns:a="http://schemas.openxmlformats.org/drawingml/2006/main">
            <a:off x="2305050" y="4305300"/>
            <a:ext cx="63627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75" b="0">
                <a:solidFill>
                  <a:srgbClr val="FFFFFF"/>
                </a:solidFill>
                <a:latin typeface="Aptos Mono"/>
                <a:ea typeface="Aptos Mono"/>
                <a:cs typeface="Aptos Mono"/>
              </a:defRPr>
            </a:pPr>
            <a:r>
              <a:rPr sz="1275" b="0">
                <a:solidFill>
                  <a:srgbClr val="FFFFFF"/>
                </a:solidFill>
                <a:latin typeface="Aptos Mono"/>
                <a:ea typeface="Aptos Mono"/>
                <a:cs typeface="Aptos Mono"/>
              </a:rPr>
              <a:t>When voltage is low or current is high, the application shall set the power warning.</a:t>
            </a:r>
          </a:p>
        </p:txBody>
      </p:sp>
      <p:sp>
        <p:nvSpPr>
          <p:cNvPr id="24" name="">
            <a:extLst xmlns:a="http://schemas.openxmlformats.org/drawingml/2006/main">
              <a:ext uri="{FF2B5EF4-FFF2-40B4-BE49-F238E27FC236}">
                <a16:creationId xmlns:a16="http://schemas.microsoft.com/office/drawing/2014/main" id="{81BCEC30-4907-49F0-86E6-32D039AF4786}"/>
              </a:ext>
            </a:extLst>
          </p:cNvPr>
          <p:cNvSpPr>
            <a:spLocks xmlns:a="http://schemas.openxmlformats.org/drawingml/2006/main" noGrp="1"/>
          </p:cNvSpPr>
          <p:nvPr/>
        </p:nvSpPr>
        <p:spPr>
          <a:xfrm xmlns:a="http://schemas.openxmlformats.org/drawingml/2006/main">
            <a:off x="9067800" y="4619625"/>
            <a:ext cx="495300" cy="28575"/>
          </a:xfrm>
          <a:prstGeom xmlns:a="http://schemas.openxmlformats.org/drawingml/2006/main" prst="rect">
            <a:avLst/>
          </a:prstGeom>
          <a:solidFill xmlns:a="http://schemas.openxmlformats.org/drawingml/2006/main">
            <a:srgbClr val="FF9F43"/>
          </a:solidFill>
          <a:ln xmlns:a="http://schemas.openxmlformats.org/drawingml/2006/main" w="28575">
            <a:solidFill>
              <a:srgbClr val="FF9F43"/>
            </a:solidFill>
            <a:prstDash val="solid"/>
          </a:ln>
        </p:spPr>
      </p:sp>
      <p:sp>
        <p:nvSpPr>
          <p:cNvPr id="25" name="">
            <a:extLst xmlns:a="http://schemas.openxmlformats.org/drawingml/2006/main">
              <a:ext uri="{FF2B5EF4-FFF2-40B4-BE49-F238E27FC236}">
                <a16:creationId xmlns:a16="http://schemas.microsoft.com/office/drawing/2014/main" id="{79EDBBD8-4B55-4981-B022-11AB37216EE8}"/>
              </a:ext>
            </a:extLst>
          </p:cNvPr>
          <p:cNvSpPr>
            <a:spLocks xmlns:a="http://schemas.openxmlformats.org/drawingml/2006/main" noGrp="1"/>
          </p:cNvSpPr>
          <p:nvPr/>
        </p:nvSpPr>
        <p:spPr>
          <a:xfrm xmlns:a="http://schemas.openxmlformats.org/drawingml/2006/main">
            <a:off x="9734550" y="4343400"/>
            <a:ext cx="18097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FFE0B8"/>
                </a:solidFill>
                <a:latin typeface="Aptos"/>
                <a:ea typeface="Aptos"/>
                <a:cs typeface="Aptos"/>
              </a:defRPr>
            </a:pPr>
            <a:r>
              <a:rPr sz="1200" b="1">
                <a:solidFill>
                  <a:srgbClr val="FFE0B8"/>
                </a:solidFill>
                <a:latin typeface="Aptos"/>
                <a:ea typeface="Aptos"/>
                <a:cs typeface="Aptos"/>
              </a:rPr>
              <a:t>Is or inclusive? Are thresholds defined?</a:t>
            </a:r>
          </a:p>
        </p:txBody>
      </p:sp>
      <p:sp>
        <p:nvSpPr>
          <p:cNvPr id="26" name="">
            <a:extLst xmlns:a="http://schemas.openxmlformats.org/drawingml/2006/main">
              <a:ext uri="{FF2B5EF4-FFF2-40B4-BE49-F238E27FC236}">
                <a16:creationId xmlns:a16="http://schemas.microsoft.com/office/drawing/2014/main" id="{1CEFD8A8-A6A2-4FD0-8624-EE6BFB5818FD}"/>
              </a:ext>
            </a:extLst>
          </p:cNvPr>
          <p:cNvSpPr>
            <a:spLocks xmlns:a="http://schemas.openxmlformats.org/drawingml/2006/main" noGrp="1"/>
          </p:cNvSpPr>
          <p:nvPr/>
        </p:nvSpPr>
        <p:spPr>
          <a:xfrm xmlns:a="http://schemas.openxmlformats.org/drawingml/2006/main">
            <a:off x="2381250" y="5619750"/>
            <a:ext cx="742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Ask: Can each action or condition change and pass independently?</a:t>
            </a:r>
          </a:p>
        </p:txBody>
      </p:sp>
    </p:spTree>
    <p:extLst>
      <p:ext uri="{BB962C8B-B14F-4D97-AF65-F5344CB8AC3E}">
        <p14:creationId xmlns:p14="http://schemas.microsoft.com/office/powerpoint/2010/main" val="93731322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D57C86A-D9E6-4509-89FD-0748352C24B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1E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BD42FFD-E07C-4429-B8AC-6FD9973C91FA}"/>
              </a:ext>
            </a:extLst>
          </p:cNvPr>
          <p:cNvSpPr>
            <a:spLocks xmlns:a="http://schemas.openxmlformats.org/drawingml/2006/main" noGrp="1"/>
          </p:cNvSpPr>
          <p:nvPr/>
        </p:nvSpPr>
        <p:spPr>
          <a:xfrm xmlns:a="http://schemas.openxmlformats.org/drawingml/2006/main">
            <a:off x="457200" y="361950"/>
            <a:ext cx="76200" cy="76200"/>
          </a:xfrm>
          <a:prstGeom xmlns:a="http://schemas.openxmlformats.org/drawingml/2006/main" prst="rect">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173FD6A-1BC9-44BB-8F5C-C50CA306AE34}"/>
              </a:ext>
            </a:extLst>
          </p:cNvPr>
          <p:cNvSpPr>
            <a:spLocks xmlns:a="http://schemas.openxmlformats.org/drawingml/2006/main" noGrp="1"/>
          </p:cNvSpPr>
          <p:nvPr/>
        </p:nvSpPr>
        <p:spPr>
          <a:xfrm xmlns:a="http://schemas.openxmlformats.org/drawingml/2006/main">
            <a:off x="64770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46616F"/>
                </a:solidFill>
                <a:latin typeface="Aptos"/>
                <a:ea typeface="Aptos"/>
                <a:cs typeface="Aptos"/>
              </a:defRPr>
            </a:pPr>
            <a:r>
              <a:rPr sz="1050" b="1">
                <a:solidFill>
                  <a:srgbClr val="46616F"/>
                </a:solidFill>
                <a:latin typeface="Aptos"/>
                <a:ea typeface="Aptos"/>
                <a:cs typeface="Aptos"/>
              </a:rPr>
              <a:t>WRITING STRUCTURE</a:t>
            </a:r>
          </a:p>
        </p:txBody>
      </p:sp>
      <p:sp>
        <p:nvSpPr>
          <p:cNvPr id="4" name="">
            <a:extLst xmlns:a="http://schemas.openxmlformats.org/drawingml/2006/main">
              <a:ext uri="{FF2B5EF4-FFF2-40B4-BE49-F238E27FC236}">
                <a16:creationId xmlns:a16="http://schemas.microsoft.com/office/drawing/2014/main" id="{764354BC-C873-4089-887A-73C2568B87CB}"/>
              </a:ext>
            </a:extLst>
          </p:cNvPr>
          <p:cNvSpPr>
            <a:spLocks xmlns:a="http://schemas.openxmlformats.org/drawingml/2006/main" noGrp="1"/>
          </p:cNvSpPr>
          <p:nvPr/>
        </p:nvSpPr>
        <p:spPr>
          <a:xfrm xmlns:a="http://schemas.openxmlformats.org/drawingml/2006/main">
            <a:off x="457200" y="666750"/>
            <a:ext cx="11049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850" b="1">
                <a:solidFill>
                  <a:srgbClr val="071821"/>
                </a:solidFill>
                <a:latin typeface="Aptos Display"/>
                <a:ea typeface="Aptos Display"/>
                <a:cs typeface="Aptos Display"/>
              </a:defRPr>
            </a:pPr>
            <a:r>
              <a:rPr sz="2850" b="1">
                <a:solidFill>
                  <a:srgbClr val="071821"/>
                </a:solidFill>
                <a:latin typeface="Aptos Display"/>
                <a:ea typeface="Aptos Display"/>
                <a:cs typeface="Aptos Display"/>
              </a:rPr>
              <a:t>Expose the condition, owner, primary action, and measurable bound.</a:t>
            </a:r>
          </a:p>
        </p:txBody>
      </p:sp>
      <p:sp>
        <p:nvSpPr>
          <p:cNvPr id="5" name="">
            <a:extLst xmlns:a="http://schemas.openxmlformats.org/drawingml/2006/main">
              <a:ext uri="{FF2B5EF4-FFF2-40B4-BE49-F238E27FC236}">
                <a16:creationId xmlns:a16="http://schemas.microsoft.com/office/drawing/2014/main" id="{588B7FC1-4758-4598-8B47-1E0601328E57}"/>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C9D8DC"/>
          </a:solidFill>
          <a:ln xmlns:a="http://schemas.openxmlformats.org/drawingml/2006/main" w="9525">
            <a:solidFill>
              <a:srgbClr val="C9D8DC"/>
            </a:solidFill>
            <a:prstDash val="solid"/>
          </a:ln>
        </p:spPr>
      </p:sp>
      <p:sp>
        <p:nvSpPr>
          <p:cNvPr id="6" name="">
            <a:extLst xmlns:a="http://schemas.openxmlformats.org/drawingml/2006/main">
              <a:ext uri="{FF2B5EF4-FFF2-40B4-BE49-F238E27FC236}">
                <a16:creationId xmlns:a16="http://schemas.microsoft.com/office/drawing/2014/main" id="{E1C8B059-017B-4FB9-85EA-D4C17E500F8C}"/>
              </a:ext>
            </a:extLst>
          </p:cNvPr>
          <p:cNvSpPr>
            <a:spLocks xmlns:a="http://schemas.openxmlformats.org/drawingml/2006/main" noGrp="1"/>
          </p:cNvSpPr>
          <p:nvPr/>
        </p:nvSpPr>
        <p:spPr>
          <a:xfrm xmlns:a="http://schemas.openxmlformats.org/drawingml/2006/main">
            <a:off x="4572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46616F"/>
                </a:solidFill>
                <a:latin typeface="Aptos"/>
                <a:ea typeface="Aptos"/>
                <a:cs typeface="Aptos"/>
              </a:defRPr>
            </a:pPr>
            <a:r>
              <a:rPr sz="750" b="1">
                <a:solidFill>
                  <a:srgbClr val="46616F"/>
                </a:solidFill>
                <a:latin typeface="Aptos"/>
                <a:ea typeface="Aptos"/>
                <a:cs typeface="Aptos"/>
              </a:rPr>
              <a:t>SESSION 2</a:t>
            </a:r>
          </a:p>
        </p:txBody>
      </p:sp>
      <p:sp>
        <p:nvSpPr>
          <p:cNvPr id="7" name="">
            <a:extLst xmlns:a="http://schemas.openxmlformats.org/drawingml/2006/main">
              <a:ext uri="{FF2B5EF4-FFF2-40B4-BE49-F238E27FC236}">
                <a16:creationId xmlns:a16="http://schemas.microsoft.com/office/drawing/2014/main" id="{871DB942-D40D-48FD-A137-95DD94BD6C6A}"/>
              </a:ext>
            </a:extLst>
          </p:cNvPr>
          <p:cNvSpPr>
            <a:spLocks xmlns:a="http://schemas.openxmlformats.org/drawingml/2006/main" noGrp="1"/>
          </p:cNvSpPr>
          <p:nvPr/>
        </p:nvSpPr>
        <p:spPr>
          <a:xfrm xmlns:a="http://schemas.openxmlformats.org/drawingml/2006/main">
            <a:off x="11144250" y="6515100"/>
            <a:ext cx="590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46616F"/>
                </a:solidFill>
                <a:latin typeface="Aptos"/>
                <a:ea typeface="Aptos"/>
                <a:cs typeface="Aptos"/>
              </a:defRPr>
            </a:pPr>
            <a:r>
              <a:rPr sz="825" b="1">
                <a:solidFill>
                  <a:srgbClr val="46616F"/>
                </a:solidFill>
                <a:latin typeface="Aptos"/>
                <a:ea typeface="Aptos"/>
                <a:cs typeface="Aptos"/>
              </a:rPr>
              <a:t>10</a:t>
            </a:r>
          </a:p>
        </p:txBody>
      </p:sp>
      <p:sp>
        <p:nvSpPr>
          <p:cNvPr id="8" name="">
            <a:extLst xmlns:a="http://schemas.openxmlformats.org/drawingml/2006/main">
              <a:ext uri="{FF2B5EF4-FFF2-40B4-BE49-F238E27FC236}">
                <a16:creationId xmlns:a16="http://schemas.microsoft.com/office/drawing/2014/main" id="{FAB7C517-D61F-4B44-A6EE-F5241C3A7B60}"/>
              </a:ext>
            </a:extLst>
          </p:cNvPr>
          <p:cNvSpPr>
            <a:spLocks xmlns:a="http://schemas.openxmlformats.org/drawingml/2006/main" noGrp="1"/>
          </p:cNvSpPr>
          <p:nvPr/>
        </p:nvSpPr>
        <p:spPr>
          <a:xfrm xmlns:a="http://schemas.openxmlformats.org/drawingml/2006/main">
            <a:off x="514350" y="1866900"/>
            <a:ext cx="2857500" cy="285750"/>
          </a:xfrm>
          <a:prstGeom xmlns:a="http://schemas.openxmlformats.org/drawingml/2006/main" prst="roundRect">
            <a:avLst>
              <a:gd name="adj" fmla="val 26667"/>
            </a:avLst>
          </a:prstGeom>
          <a:solidFill xmlns:a="http://schemas.openxmlformats.org/drawingml/2006/main">
            <a:srgbClr val="46616F"/>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71D1B2DF-9420-46A6-B42E-0AF889A11C62}"/>
              </a:ext>
            </a:extLst>
          </p:cNvPr>
          <p:cNvSpPr>
            <a:spLocks xmlns:a="http://schemas.openxmlformats.org/drawingml/2006/main" noGrp="1"/>
          </p:cNvSpPr>
          <p:nvPr/>
        </p:nvSpPr>
        <p:spPr>
          <a:xfrm xmlns:a="http://schemas.openxmlformats.org/drawingml/2006/main">
            <a:off x="609600" y="1914525"/>
            <a:ext cx="2667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CONDITION</a:t>
            </a:r>
          </a:p>
        </p:txBody>
      </p:sp>
      <p:sp>
        <p:nvSpPr>
          <p:cNvPr id="10" name="">
            <a:extLst xmlns:a="http://schemas.openxmlformats.org/drawingml/2006/main">
              <a:ext uri="{FF2B5EF4-FFF2-40B4-BE49-F238E27FC236}">
                <a16:creationId xmlns:a16="http://schemas.microsoft.com/office/drawing/2014/main" id="{9E0DD30D-1A0C-4D8A-B6CD-DBB26C62AF79}"/>
              </a:ext>
            </a:extLst>
          </p:cNvPr>
          <p:cNvSpPr>
            <a:spLocks xmlns:a="http://schemas.openxmlformats.org/drawingml/2006/main" noGrp="1"/>
          </p:cNvSpPr>
          <p:nvPr/>
        </p:nvSpPr>
        <p:spPr>
          <a:xfrm xmlns:a="http://schemas.openxmlformats.org/drawingml/2006/main">
            <a:off x="514350" y="2324100"/>
            <a:ext cx="2857500" cy="2000250"/>
          </a:xfrm>
          <a:prstGeom xmlns:a="http://schemas.openxmlformats.org/drawingml/2006/main" prst="roundRect">
            <a:avLst>
              <a:gd name="adj" fmla="val 3810"/>
            </a:avLst>
          </a:prstGeom>
          <a:solidFill xmlns:a="http://schemas.openxmlformats.org/drawingml/2006/main">
            <a:srgbClr val="FFE0B8"/>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7B7D0C5A-418A-4599-B962-F13BE62481A8}"/>
              </a:ext>
            </a:extLst>
          </p:cNvPr>
          <p:cNvSpPr>
            <a:spLocks xmlns:a="http://schemas.openxmlformats.org/drawingml/2006/main" noGrp="1"/>
          </p:cNvSpPr>
          <p:nvPr/>
        </p:nvSpPr>
        <p:spPr>
          <a:xfrm xmlns:a="http://schemas.openxmlformats.org/drawingml/2006/main">
            <a:off x="685800" y="2571750"/>
            <a:ext cx="2514600" cy="1504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0">
                <a:solidFill>
                  <a:srgbClr val="071821"/>
                </a:solidFill>
                <a:latin typeface="Aptos Mono"/>
                <a:ea typeface="Aptos Mono"/>
                <a:cs typeface="Aptos Mono"/>
              </a:defRPr>
            </a:pPr>
            <a:r>
              <a:rPr sz="1425" b="0">
                <a:solidFill>
                  <a:srgbClr val="071821"/>
                </a:solidFill>
                <a:latin typeface="Aptos Mono"/>
                <a:ea typeface="Aptos Mono"/>
                <a:cs typeface="Aptos Mono"/>
              </a:rPr>
              <a:t>When three consecutive valid battery samples are at or below 25 percent,</a:t>
            </a:r>
          </a:p>
        </p:txBody>
      </p:sp>
      <p:sp>
        <p:nvSpPr>
          <p:cNvPr id="12" name="">
            <a:extLst xmlns:a="http://schemas.openxmlformats.org/drawingml/2006/main">
              <a:ext uri="{FF2B5EF4-FFF2-40B4-BE49-F238E27FC236}">
                <a16:creationId xmlns:a16="http://schemas.microsoft.com/office/drawing/2014/main" id="{2DCC5BEF-D63B-47FC-97EE-88D44EF6EADB}"/>
              </a:ext>
            </a:extLst>
          </p:cNvPr>
          <p:cNvSpPr>
            <a:spLocks xmlns:a="http://schemas.openxmlformats.org/drawingml/2006/main" noGrp="1"/>
          </p:cNvSpPr>
          <p:nvPr/>
        </p:nvSpPr>
        <p:spPr>
          <a:xfrm xmlns:a="http://schemas.openxmlformats.org/drawingml/2006/main">
            <a:off x="3486150" y="1866900"/>
            <a:ext cx="2095500" cy="285750"/>
          </a:xfrm>
          <a:prstGeom xmlns:a="http://schemas.openxmlformats.org/drawingml/2006/main" prst="roundRect">
            <a:avLst>
              <a:gd name="adj" fmla="val 26667"/>
            </a:avLst>
          </a:prstGeom>
          <a:solidFill xmlns:a="http://schemas.openxmlformats.org/drawingml/2006/main">
            <a:srgbClr val="46616F"/>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A1392994-1A6C-4158-91F5-41CBED5808B5}"/>
              </a:ext>
            </a:extLst>
          </p:cNvPr>
          <p:cNvSpPr>
            <a:spLocks xmlns:a="http://schemas.openxmlformats.org/drawingml/2006/main" noGrp="1"/>
          </p:cNvSpPr>
          <p:nvPr/>
        </p:nvSpPr>
        <p:spPr>
          <a:xfrm xmlns:a="http://schemas.openxmlformats.org/drawingml/2006/main">
            <a:off x="3581400" y="1914525"/>
            <a:ext cx="190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OWNER</a:t>
            </a:r>
          </a:p>
        </p:txBody>
      </p:sp>
      <p:sp>
        <p:nvSpPr>
          <p:cNvPr id="14" name="">
            <a:extLst xmlns:a="http://schemas.openxmlformats.org/drawingml/2006/main">
              <a:ext uri="{FF2B5EF4-FFF2-40B4-BE49-F238E27FC236}">
                <a16:creationId xmlns:a16="http://schemas.microsoft.com/office/drawing/2014/main" id="{7B1DFC08-E738-47E5-8085-91417A0BF894}"/>
              </a:ext>
            </a:extLst>
          </p:cNvPr>
          <p:cNvSpPr>
            <a:spLocks xmlns:a="http://schemas.openxmlformats.org/drawingml/2006/main" noGrp="1"/>
          </p:cNvSpPr>
          <p:nvPr/>
        </p:nvSpPr>
        <p:spPr>
          <a:xfrm xmlns:a="http://schemas.openxmlformats.org/drawingml/2006/main">
            <a:off x="3486150" y="2324100"/>
            <a:ext cx="2095500" cy="2000250"/>
          </a:xfrm>
          <a:prstGeom xmlns:a="http://schemas.openxmlformats.org/drawingml/2006/main" prst="roundRect">
            <a:avLst>
              <a:gd name="adj" fmla="val 3810"/>
            </a:avLst>
          </a:prstGeom>
          <a:solidFill xmlns:a="http://schemas.openxmlformats.org/drawingml/2006/main">
            <a:srgbClr val="BCEAF0"/>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8B4605A2-9838-42E1-AFCF-A8BEC77ACFBE}"/>
              </a:ext>
            </a:extLst>
          </p:cNvPr>
          <p:cNvSpPr>
            <a:spLocks xmlns:a="http://schemas.openxmlformats.org/drawingml/2006/main" noGrp="1"/>
          </p:cNvSpPr>
          <p:nvPr/>
        </p:nvSpPr>
        <p:spPr>
          <a:xfrm xmlns:a="http://schemas.openxmlformats.org/drawingml/2006/main">
            <a:off x="3657600" y="2571750"/>
            <a:ext cx="1752600" cy="1504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500" b="0">
                <a:solidFill>
                  <a:srgbClr val="071821"/>
                </a:solidFill>
                <a:latin typeface="Aptos Mono"/>
                <a:ea typeface="Aptos Mono"/>
                <a:cs typeface="Aptos Mono"/>
              </a:defRPr>
            </a:pPr>
            <a:r>
              <a:rPr sz="1500" b="0">
                <a:solidFill>
                  <a:srgbClr val="071821"/>
                </a:solidFill>
                <a:latin typeface="Aptos Mono"/>
                <a:ea typeface="Aptos Mono"/>
                <a:cs typeface="Aptos Mono"/>
              </a:rPr>
              <a:t>the Power Management application</a:t>
            </a:r>
          </a:p>
        </p:txBody>
      </p:sp>
      <p:sp>
        <p:nvSpPr>
          <p:cNvPr id="16" name="">
            <a:extLst xmlns:a="http://schemas.openxmlformats.org/drawingml/2006/main">
              <a:ext uri="{FF2B5EF4-FFF2-40B4-BE49-F238E27FC236}">
                <a16:creationId xmlns:a16="http://schemas.microsoft.com/office/drawing/2014/main" id="{E4EB2D4B-EE65-4950-8D64-D1C4424EA1C1}"/>
              </a:ext>
            </a:extLst>
          </p:cNvPr>
          <p:cNvSpPr>
            <a:spLocks xmlns:a="http://schemas.openxmlformats.org/drawingml/2006/main" noGrp="1"/>
          </p:cNvSpPr>
          <p:nvPr/>
        </p:nvSpPr>
        <p:spPr>
          <a:xfrm xmlns:a="http://schemas.openxmlformats.org/drawingml/2006/main">
            <a:off x="5695950" y="1866900"/>
            <a:ext cx="3562350" cy="285750"/>
          </a:xfrm>
          <a:prstGeom xmlns:a="http://schemas.openxmlformats.org/drawingml/2006/main" prst="roundRect">
            <a:avLst>
              <a:gd name="adj" fmla="val 26667"/>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8BC97111-1A7B-4E79-B232-ED692419F77C}"/>
              </a:ext>
            </a:extLst>
          </p:cNvPr>
          <p:cNvSpPr>
            <a:spLocks xmlns:a="http://schemas.openxmlformats.org/drawingml/2006/main" noGrp="1"/>
          </p:cNvSpPr>
          <p:nvPr/>
        </p:nvSpPr>
        <p:spPr>
          <a:xfrm xmlns:a="http://schemas.openxmlformats.org/drawingml/2006/main">
            <a:off x="5791200" y="1914525"/>
            <a:ext cx="3371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PRIMARY ACTION</a:t>
            </a:r>
          </a:p>
        </p:txBody>
      </p:sp>
      <p:sp>
        <p:nvSpPr>
          <p:cNvPr id="18" name="">
            <a:extLst xmlns:a="http://schemas.openxmlformats.org/drawingml/2006/main">
              <a:ext uri="{FF2B5EF4-FFF2-40B4-BE49-F238E27FC236}">
                <a16:creationId xmlns:a16="http://schemas.microsoft.com/office/drawing/2014/main" id="{3D539748-2F75-4E11-AC92-6039585E6F61}"/>
              </a:ext>
            </a:extLst>
          </p:cNvPr>
          <p:cNvSpPr>
            <a:spLocks xmlns:a="http://schemas.openxmlformats.org/drawingml/2006/main" noGrp="1"/>
          </p:cNvSpPr>
          <p:nvPr/>
        </p:nvSpPr>
        <p:spPr>
          <a:xfrm xmlns:a="http://schemas.openxmlformats.org/drawingml/2006/main">
            <a:off x="5695950" y="2324100"/>
            <a:ext cx="3562350" cy="2000250"/>
          </a:xfrm>
          <a:prstGeom xmlns:a="http://schemas.openxmlformats.org/drawingml/2006/main" prst="roundRect">
            <a:avLst>
              <a:gd name="adj" fmla="val 3810"/>
            </a:avLst>
          </a:prstGeom>
          <a:solidFill xmlns:a="http://schemas.openxmlformats.org/drawingml/2006/main">
            <a:srgbClr val="102A36"/>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A43B118B-D7B8-4D9A-BB8A-144219C91B70}"/>
              </a:ext>
            </a:extLst>
          </p:cNvPr>
          <p:cNvSpPr>
            <a:spLocks xmlns:a="http://schemas.openxmlformats.org/drawingml/2006/main" noGrp="1"/>
          </p:cNvSpPr>
          <p:nvPr/>
        </p:nvSpPr>
        <p:spPr>
          <a:xfrm xmlns:a="http://schemas.openxmlformats.org/drawingml/2006/main">
            <a:off x="5867400" y="2571750"/>
            <a:ext cx="3219450" cy="1504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500" b="1">
                <a:solidFill>
                  <a:srgbClr val="FFFFFF"/>
                </a:solidFill>
                <a:latin typeface="Aptos Mono"/>
                <a:ea typeface="Aptos Mono"/>
                <a:cs typeface="Aptos Mono"/>
              </a:defRPr>
            </a:pPr>
            <a:r>
              <a:rPr sz="1500" b="1">
                <a:solidFill>
                  <a:srgbClr val="FFFFFF"/>
                </a:solidFill>
                <a:latin typeface="Aptos Mono"/>
                <a:ea typeface="Aptos Mono"/>
                <a:cs typeface="Aptos Mono"/>
              </a:rPr>
              <a:t>shall issue a Low-Power Mode transition request</a:t>
            </a:r>
          </a:p>
        </p:txBody>
      </p:sp>
      <p:sp>
        <p:nvSpPr>
          <p:cNvPr id="20" name="">
            <a:extLst xmlns:a="http://schemas.openxmlformats.org/drawingml/2006/main">
              <a:ext uri="{FF2B5EF4-FFF2-40B4-BE49-F238E27FC236}">
                <a16:creationId xmlns:a16="http://schemas.microsoft.com/office/drawing/2014/main" id="{39848E87-B2FC-4E2C-A438-6964E1C94984}"/>
              </a:ext>
            </a:extLst>
          </p:cNvPr>
          <p:cNvSpPr>
            <a:spLocks xmlns:a="http://schemas.openxmlformats.org/drawingml/2006/main" noGrp="1"/>
          </p:cNvSpPr>
          <p:nvPr/>
        </p:nvSpPr>
        <p:spPr>
          <a:xfrm xmlns:a="http://schemas.openxmlformats.org/drawingml/2006/main">
            <a:off x="9372600" y="1866900"/>
            <a:ext cx="2305050" cy="285750"/>
          </a:xfrm>
          <a:prstGeom xmlns:a="http://schemas.openxmlformats.org/drawingml/2006/main" prst="roundRect">
            <a:avLst>
              <a:gd name="adj" fmla="val 26667"/>
            </a:avLst>
          </a:prstGeom>
          <a:solidFill xmlns:a="http://schemas.openxmlformats.org/drawingml/2006/main">
            <a:srgbClr val="46616F"/>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8C806CB4-D3E1-40F2-B9E1-A63F06469057}"/>
              </a:ext>
            </a:extLst>
          </p:cNvPr>
          <p:cNvSpPr>
            <a:spLocks xmlns:a="http://schemas.openxmlformats.org/drawingml/2006/main" noGrp="1"/>
          </p:cNvSpPr>
          <p:nvPr/>
        </p:nvSpPr>
        <p:spPr>
          <a:xfrm xmlns:a="http://schemas.openxmlformats.org/drawingml/2006/main">
            <a:off x="9467850" y="1914525"/>
            <a:ext cx="2114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BOUND</a:t>
            </a:r>
          </a:p>
        </p:txBody>
      </p:sp>
      <p:sp>
        <p:nvSpPr>
          <p:cNvPr id="22" name="">
            <a:extLst xmlns:a="http://schemas.openxmlformats.org/drawingml/2006/main">
              <a:ext uri="{FF2B5EF4-FFF2-40B4-BE49-F238E27FC236}">
                <a16:creationId xmlns:a16="http://schemas.microsoft.com/office/drawing/2014/main" id="{AF1771B5-6FC5-4839-8393-F9645DFA3FC1}"/>
              </a:ext>
            </a:extLst>
          </p:cNvPr>
          <p:cNvSpPr>
            <a:spLocks xmlns:a="http://schemas.openxmlformats.org/drawingml/2006/main" noGrp="1"/>
          </p:cNvSpPr>
          <p:nvPr/>
        </p:nvSpPr>
        <p:spPr>
          <a:xfrm xmlns:a="http://schemas.openxmlformats.org/drawingml/2006/main">
            <a:off x="9372600" y="2324100"/>
            <a:ext cx="2305050" cy="2000250"/>
          </a:xfrm>
          <a:prstGeom xmlns:a="http://schemas.openxmlformats.org/drawingml/2006/main" prst="roundRect">
            <a:avLst>
              <a:gd name="adj" fmla="val 3810"/>
            </a:avLst>
          </a:prstGeom>
          <a:solidFill xmlns:a="http://schemas.openxmlformats.org/drawingml/2006/main">
            <a:srgbClr val="FFE0B8"/>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41B2517B-CD10-4FCD-828E-3FBC17488202}"/>
              </a:ext>
            </a:extLst>
          </p:cNvPr>
          <p:cNvSpPr>
            <a:spLocks xmlns:a="http://schemas.openxmlformats.org/drawingml/2006/main" noGrp="1"/>
          </p:cNvSpPr>
          <p:nvPr/>
        </p:nvSpPr>
        <p:spPr>
          <a:xfrm xmlns:a="http://schemas.openxmlformats.org/drawingml/2006/main">
            <a:off x="9544050" y="2571750"/>
            <a:ext cx="1962150" cy="1504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500" b="0">
                <a:solidFill>
                  <a:srgbClr val="071821"/>
                </a:solidFill>
                <a:latin typeface="Aptos Mono"/>
                <a:ea typeface="Aptos Mono"/>
                <a:cs typeface="Aptos Mono"/>
              </a:defRPr>
            </a:pPr>
            <a:r>
              <a:rPr sz="1500" b="0">
                <a:solidFill>
                  <a:srgbClr val="071821"/>
                </a:solidFill>
                <a:latin typeface="Aptos Mono"/>
                <a:ea typeface="Aptos Mono"/>
                <a:cs typeface="Aptos Mono"/>
              </a:rPr>
              <a:t>within 2 seconds.</a:t>
            </a:r>
          </a:p>
        </p:txBody>
      </p:sp>
      <p:sp>
        <p:nvSpPr>
          <p:cNvPr id="24" name="">
            <a:extLst xmlns:a="http://schemas.openxmlformats.org/drawingml/2006/main">
              <a:ext uri="{FF2B5EF4-FFF2-40B4-BE49-F238E27FC236}">
                <a16:creationId xmlns:a16="http://schemas.microsoft.com/office/drawing/2014/main" id="{85C24D82-C1FE-4C8E-BEAC-E717438CB94A}"/>
              </a:ext>
            </a:extLst>
          </p:cNvPr>
          <p:cNvSpPr>
            <a:spLocks xmlns:a="http://schemas.openxmlformats.org/drawingml/2006/main" noGrp="1"/>
          </p:cNvSpPr>
          <p:nvPr/>
        </p:nvSpPr>
        <p:spPr>
          <a:xfrm xmlns:a="http://schemas.openxmlformats.org/drawingml/2006/main">
            <a:off x="1181100" y="4895850"/>
            <a:ext cx="98298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9D8DC"/>
            </a:solidFill>
            <a:prstDash val="solid"/>
          </a:ln>
        </p:spPr>
      </p:sp>
      <p:sp>
        <p:nvSpPr>
          <p:cNvPr id="25" name="">
            <a:extLst xmlns:a="http://schemas.openxmlformats.org/drawingml/2006/main">
              <a:ext uri="{FF2B5EF4-FFF2-40B4-BE49-F238E27FC236}">
                <a16:creationId xmlns:a16="http://schemas.microsoft.com/office/drawing/2014/main" id="{C6DF92C2-1C90-4953-9E76-28DF979F545F}"/>
              </a:ext>
            </a:extLst>
          </p:cNvPr>
          <p:cNvSpPr>
            <a:spLocks xmlns:a="http://schemas.openxmlformats.org/drawingml/2006/main" noGrp="1"/>
          </p:cNvSpPr>
          <p:nvPr/>
        </p:nvSpPr>
        <p:spPr>
          <a:xfrm xmlns:a="http://schemas.openxmlformats.org/drawingml/2006/main">
            <a:off x="1466850" y="5067300"/>
            <a:ext cx="92583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46616F"/>
                </a:solidFill>
                <a:latin typeface="Aptos"/>
                <a:ea typeface="Aptos"/>
                <a:cs typeface="Aptos"/>
              </a:defRPr>
            </a:pPr>
            <a:r>
              <a:rPr sz="1350" b="1">
                <a:solidFill>
                  <a:srgbClr val="46616F"/>
                </a:solidFill>
                <a:latin typeface="Aptos"/>
                <a:ea typeface="Aptos"/>
                <a:cs typeface="Aptos"/>
              </a:rPr>
              <a:t>Primary verb: issue. One obligation. The threshold, sample quality, count, and deadline are explicit.</a:t>
            </a:r>
          </a:p>
        </p:txBody>
      </p:sp>
    </p:spTree>
    <p:extLst>
      <p:ext uri="{BB962C8B-B14F-4D97-AF65-F5344CB8AC3E}">
        <p14:creationId xmlns:p14="http://schemas.microsoft.com/office/powerpoint/2010/main" val="6531992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201B41A-F815-477F-94A8-359A965787C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821"/>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AE50542-BF8F-4CA7-BFF1-2DCF617DFDBA}"/>
              </a:ext>
            </a:extLst>
          </p:cNvPr>
          <p:cNvSpPr>
            <a:spLocks xmlns:a="http://schemas.openxmlformats.org/drawingml/2006/main" noGrp="1"/>
          </p:cNvSpPr>
          <p:nvPr/>
        </p:nvSpPr>
        <p:spPr>
          <a:xfrm xmlns:a="http://schemas.openxmlformats.org/drawingml/2006/main">
            <a:off x="457200" y="361950"/>
            <a:ext cx="76200" cy="76200"/>
          </a:xfrm>
          <a:prstGeom xmlns:a="http://schemas.openxmlformats.org/drawingml/2006/main" prst="rect">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63BFBB9-1C8B-48FB-8E63-9DD34DF96FAD}"/>
              </a:ext>
            </a:extLst>
          </p:cNvPr>
          <p:cNvSpPr>
            <a:spLocks xmlns:a="http://schemas.openxmlformats.org/drawingml/2006/main" noGrp="1"/>
          </p:cNvSpPr>
          <p:nvPr/>
        </p:nvSpPr>
        <p:spPr>
          <a:xfrm xmlns:a="http://schemas.openxmlformats.org/drawingml/2006/main">
            <a:off x="64770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BCEAF0"/>
                </a:solidFill>
                <a:latin typeface="Aptos"/>
                <a:ea typeface="Aptos"/>
                <a:cs typeface="Aptos"/>
              </a:defRPr>
            </a:pPr>
            <a:r>
              <a:rPr sz="1050" b="1">
                <a:solidFill>
                  <a:srgbClr val="BCEAF0"/>
                </a:solidFill>
                <a:latin typeface="Aptos"/>
                <a:ea typeface="Aptos"/>
                <a:cs typeface="Aptos"/>
              </a:rPr>
              <a:t>REVIEW PRACTICE 1</a:t>
            </a:r>
          </a:p>
        </p:txBody>
      </p:sp>
      <p:sp>
        <p:nvSpPr>
          <p:cNvPr id="4" name="">
            <a:extLst xmlns:a="http://schemas.openxmlformats.org/drawingml/2006/main">
              <a:ext uri="{FF2B5EF4-FFF2-40B4-BE49-F238E27FC236}">
                <a16:creationId xmlns:a16="http://schemas.microsoft.com/office/drawing/2014/main" id="{59A15ADE-559C-41E5-9B1B-234EA822CA8E}"/>
              </a:ext>
            </a:extLst>
          </p:cNvPr>
          <p:cNvSpPr>
            <a:spLocks xmlns:a="http://schemas.openxmlformats.org/drawingml/2006/main" noGrp="1"/>
          </p:cNvSpPr>
          <p:nvPr/>
        </p:nvSpPr>
        <p:spPr>
          <a:xfrm xmlns:a="http://schemas.openxmlformats.org/drawingml/2006/main">
            <a:off x="457200" y="666750"/>
            <a:ext cx="11049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850" b="1">
                <a:solidFill>
                  <a:srgbClr val="FFFFFF"/>
                </a:solidFill>
                <a:latin typeface="Aptos Display"/>
                <a:ea typeface="Aptos Display"/>
                <a:cs typeface="Aptos Display"/>
              </a:defRPr>
            </a:pPr>
            <a:r>
              <a:rPr sz="2850" b="1">
                <a:solidFill>
                  <a:srgbClr val="FFFFFF"/>
                </a:solidFill>
                <a:latin typeface="Aptos Display"/>
                <a:ea typeface="Aptos Display"/>
                <a:cs typeface="Aptos Display"/>
              </a:rPr>
              <a:t>Vague words are unanswered design and verification questions.</a:t>
            </a:r>
          </a:p>
        </p:txBody>
      </p:sp>
      <p:sp>
        <p:nvSpPr>
          <p:cNvPr id="5" name="">
            <a:extLst xmlns:a="http://schemas.openxmlformats.org/drawingml/2006/main">
              <a:ext uri="{FF2B5EF4-FFF2-40B4-BE49-F238E27FC236}">
                <a16:creationId xmlns:a16="http://schemas.microsoft.com/office/drawing/2014/main" id="{DDB94466-733A-4E27-AE1A-9D88382CFE28}"/>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46616F"/>
          </a:solidFill>
          <a:ln xmlns:a="http://schemas.openxmlformats.org/drawingml/2006/main" w="9525">
            <a:solidFill>
              <a:srgbClr val="46616F"/>
            </a:solidFill>
            <a:prstDash val="solid"/>
          </a:ln>
        </p:spPr>
      </p:sp>
      <p:sp>
        <p:nvSpPr>
          <p:cNvPr id="6" name="">
            <a:extLst xmlns:a="http://schemas.openxmlformats.org/drawingml/2006/main">
              <a:ext uri="{FF2B5EF4-FFF2-40B4-BE49-F238E27FC236}">
                <a16:creationId xmlns:a16="http://schemas.microsoft.com/office/drawing/2014/main" id="{0F0B0030-1080-4F18-938A-983BF8F5583A}"/>
              </a:ext>
            </a:extLst>
          </p:cNvPr>
          <p:cNvSpPr>
            <a:spLocks xmlns:a="http://schemas.openxmlformats.org/drawingml/2006/main" noGrp="1"/>
          </p:cNvSpPr>
          <p:nvPr/>
        </p:nvSpPr>
        <p:spPr>
          <a:xfrm xmlns:a="http://schemas.openxmlformats.org/drawingml/2006/main">
            <a:off x="4572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C9D8DC"/>
                </a:solidFill>
                <a:latin typeface="Aptos"/>
                <a:ea typeface="Aptos"/>
                <a:cs typeface="Aptos"/>
              </a:defRPr>
            </a:pPr>
            <a:r>
              <a:rPr sz="750" b="1">
                <a:solidFill>
                  <a:srgbClr val="C9D8DC"/>
                </a:solidFill>
                <a:latin typeface="Aptos"/>
                <a:ea typeface="Aptos"/>
                <a:cs typeface="Aptos"/>
              </a:rPr>
              <a:t>SESSION 2</a:t>
            </a:r>
          </a:p>
        </p:txBody>
      </p:sp>
      <p:sp>
        <p:nvSpPr>
          <p:cNvPr id="7" name="">
            <a:extLst xmlns:a="http://schemas.openxmlformats.org/drawingml/2006/main">
              <a:ext uri="{FF2B5EF4-FFF2-40B4-BE49-F238E27FC236}">
                <a16:creationId xmlns:a16="http://schemas.microsoft.com/office/drawing/2014/main" id="{7BF757AF-D148-4B54-82C2-F25B9911D842}"/>
              </a:ext>
            </a:extLst>
          </p:cNvPr>
          <p:cNvSpPr>
            <a:spLocks xmlns:a="http://schemas.openxmlformats.org/drawingml/2006/main" noGrp="1"/>
          </p:cNvSpPr>
          <p:nvPr/>
        </p:nvSpPr>
        <p:spPr>
          <a:xfrm xmlns:a="http://schemas.openxmlformats.org/drawingml/2006/main">
            <a:off x="11144250" y="6515100"/>
            <a:ext cx="590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C9D8DC"/>
                </a:solidFill>
                <a:latin typeface="Aptos"/>
                <a:ea typeface="Aptos"/>
                <a:cs typeface="Aptos"/>
              </a:defRPr>
            </a:pPr>
            <a:r>
              <a:rPr sz="825" b="1">
                <a:solidFill>
                  <a:srgbClr val="C9D8DC"/>
                </a:solidFill>
                <a:latin typeface="Aptos"/>
                <a:ea typeface="Aptos"/>
                <a:cs typeface="Aptos"/>
              </a:rPr>
              <a:t>11</a:t>
            </a:r>
          </a:p>
        </p:txBody>
      </p:sp>
      <p:sp>
        <p:nvSpPr>
          <p:cNvPr id="8" name="">
            <a:extLst xmlns:a="http://schemas.openxmlformats.org/drawingml/2006/main">
              <a:ext uri="{FF2B5EF4-FFF2-40B4-BE49-F238E27FC236}">
                <a16:creationId xmlns:a16="http://schemas.microsoft.com/office/drawing/2014/main" id="{B397B7DB-2CAA-4515-9F76-0655118D5A07}"/>
              </a:ext>
            </a:extLst>
          </p:cNvPr>
          <p:cNvSpPr>
            <a:spLocks xmlns:a="http://schemas.openxmlformats.org/drawingml/2006/main" noGrp="1"/>
          </p:cNvSpPr>
          <p:nvPr/>
        </p:nvSpPr>
        <p:spPr>
          <a:xfrm xmlns:a="http://schemas.openxmlformats.org/drawingml/2006/main">
            <a:off x="857250" y="1638300"/>
            <a:ext cx="10477500" cy="1047750"/>
          </a:xfrm>
          <a:prstGeom xmlns:a="http://schemas.openxmlformats.org/drawingml/2006/main" prst="roundRect">
            <a:avLst>
              <a:gd name="adj" fmla="val 7273"/>
            </a:avLst>
          </a:prstGeom>
          <a:solidFill xmlns:a="http://schemas.openxmlformats.org/drawingml/2006/main">
            <a:srgbClr val="102A36"/>
          </a:solidFill>
          <a:ln xmlns:a="http://schemas.openxmlformats.org/drawingml/2006/main" w="14288">
            <a:solidFill>
              <a:srgbClr val="FF9F43"/>
            </a:solidFill>
            <a:prstDash val="solid"/>
          </a:ln>
        </p:spPr>
      </p:sp>
      <p:sp>
        <p:nvSpPr>
          <p:cNvPr id="9" name="">
            <a:extLst xmlns:a="http://schemas.openxmlformats.org/drawingml/2006/main">
              <a:ext uri="{FF2B5EF4-FFF2-40B4-BE49-F238E27FC236}">
                <a16:creationId xmlns:a16="http://schemas.microsoft.com/office/drawing/2014/main" id="{308164A2-7595-471B-8E90-09A806862281}"/>
              </a:ext>
            </a:extLst>
          </p:cNvPr>
          <p:cNvSpPr>
            <a:spLocks xmlns:a="http://schemas.openxmlformats.org/drawingml/2006/main" noGrp="1"/>
          </p:cNvSpPr>
          <p:nvPr/>
        </p:nvSpPr>
        <p:spPr>
          <a:xfrm xmlns:a="http://schemas.openxmlformats.org/drawingml/2006/main">
            <a:off x="1066800" y="1809750"/>
            <a:ext cx="1005840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500" b="0">
                <a:solidFill>
                  <a:srgbClr val="FFFFFF"/>
                </a:solidFill>
                <a:latin typeface="Aptos Mono"/>
                <a:ea typeface="Aptos Mono"/>
                <a:cs typeface="Aptos Mono"/>
              </a:defRPr>
            </a:pPr>
            <a:r>
              <a:rPr sz="1500" b="0">
                <a:solidFill>
                  <a:srgbClr val="FFFFFF"/>
                </a:solidFill>
                <a:latin typeface="Aptos Mono"/>
                <a:ea typeface="Aptos Mono"/>
                <a:cs typeface="Aptos Mono"/>
              </a:rPr>
              <a:t>During normal operations, the Flight Software shall periodically check battery state and take appropriate action.</a:t>
            </a:r>
          </a:p>
        </p:txBody>
      </p:sp>
      <p:sp>
        <p:nvSpPr>
          <p:cNvPr id="10" name="">
            <a:extLst xmlns:a="http://schemas.openxmlformats.org/drawingml/2006/main">
              <a:ext uri="{FF2B5EF4-FFF2-40B4-BE49-F238E27FC236}">
                <a16:creationId xmlns:a16="http://schemas.microsoft.com/office/drawing/2014/main" id="{2CDC52CF-4841-4252-8D73-8D84D6DA1A0E}"/>
              </a:ext>
            </a:extLst>
          </p:cNvPr>
          <p:cNvSpPr>
            <a:spLocks xmlns:a="http://schemas.openxmlformats.org/drawingml/2006/main" noGrp="1"/>
          </p:cNvSpPr>
          <p:nvPr/>
        </p:nvSpPr>
        <p:spPr>
          <a:xfrm xmlns:a="http://schemas.openxmlformats.org/drawingml/2006/main">
            <a:off x="1695450" y="2724150"/>
            <a:ext cx="19050" cy="438150"/>
          </a:xfrm>
          <a:prstGeom xmlns:a="http://schemas.openxmlformats.org/drawingml/2006/main" prst="rect">
            <a:avLst/>
          </a:prstGeom>
          <a:solidFill xmlns:a="http://schemas.openxmlformats.org/drawingml/2006/main">
            <a:srgbClr val="FF9F43"/>
          </a:solidFill>
          <a:ln xmlns:a="http://schemas.openxmlformats.org/drawingml/2006/main" w="19050">
            <a:solidFill>
              <a:srgbClr val="FF9F43"/>
            </a:solidFill>
            <a:prstDash val="solid"/>
          </a:ln>
        </p:spPr>
      </p:sp>
      <p:sp>
        <p:nvSpPr>
          <p:cNvPr id="11" name="">
            <a:extLst xmlns:a="http://schemas.openxmlformats.org/drawingml/2006/main">
              <a:ext uri="{FF2B5EF4-FFF2-40B4-BE49-F238E27FC236}">
                <a16:creationId xmlns:a16="http://schemas.microsoft.com/office/drawing/2014/main" id="{3FA53DB5-D6DB-4640-B89A-9CBB7396A56B}"/>
              </a:ext>
            </a:extLst>
          </p:cNvPr>
          <p:cNvSpPr>
            <a:spLocks xmlns:a="http://schemas.openxmlformats.org/drawingml/2006/main" noGrp="1"/>
          </p:cNvSpPr>
          <p:nvPr/>
        </p:nvSpPr>
        <p:spPr>
          <a:xfrm xmlns:a="http://schemas.openxmlformats.org/drawingml/2006/main">
            <a:off x="609600" y="3276600"/>
            <a:ext cx="2381250" cy="1409700"/>
          </a:xfrm>
          <a:prstGeom xmlns:a="http://schemas.openxmlformats.org/drawingml/2006/main" prst="roundRect">
            <a:avLst>
              <a:gd name="adj" fmla="val 5405"/>
            </a:avLst>
          </a:prstGeom>
          <a:solidFill xmlns:a="http://schemas.openxmlformats.org/drawingml/2006/main">
            <a:srgbClr val="FFE0B8"/>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7AAE449C-35DB-487C-BEA5-BF04F26745DA}"/>
              </a:ext>
            </a:extLst>
          </p:cNvPr>
          <p:cNvSpPr>
            <a:spLocks xmlns:a="http://schemas.openxmlformats.org/drawingml/2006/main" noGrp="1"/>
          </p:cNvSpPr>
          <p:nvPr/>
        </p:nvSpPr>
        <p:spPr>
          <a:xfrm xmlns:a="http://schemas.openxmlformats.org/drawingml/2006/main">
            <a:off x="781050" y="3448050"/>
            <a:ext cx="2038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71821"/>
                </a:solidFill>
                <a:latin typeface="Aptos"/>
                <a:ea typeface="Aptos"/>
                <a:cs typeface="Aptos"/>
              </a:defRPr>
            </a:pPr>
            <a:r>
              <a:rPr sz="975" b="1">
                <a:solidFill>
                  <a:srgbClr val="071821"/>
                </a:solidFill>
                <a:latin typeface="Aptos"/>
                <a:ea typeface="Aptos"/>
                <a:cs typeface="Aptos"/>
              </a:rPr>
              <a:t>NORMAL</a:t>
            </a:r>
          </a:p>
        </p:txBody>
      </p:sp>
      <p:sp>
        <p:nvSpPr>
          <p:cNvPr id="13" name="">
            <a:extLst xmlns:a="http://schemas.openxmlformats.org/drawingml/2006/main">
              <a:ext uri="{FF2B5EF4-FFF2-40B4-BE49-F238E27FC236}">
                <a16:creationId xmlns:a16="http://schemas.microsoft.com/office/drawing/2014/main" id="{E772FF3A-9452-43F0-8E34-8A72DF8F5D9C}"/>
              </a:ext>
            </a:extLst>
          </p:cNvPr>
          <p:cNvSpPr>
            <a:spLocks xmlns:a="http://schemas.openxmlformats.org/drawingml/2006/main" noGrp="1"/>
          </p:cNvSpPr>
          <p:nvPr/>
        </p:nvSpPr>
        <p:spPr>
          <a:xfrm xmlns:a="http://schemas.openxmlformats.org/drawingml/2006/main">
            <a:off x="819150" y="3867150"/>
            <a:ext cx="196215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071821"/>
                </a:solidFill>
                <a:latin typeface="Aptos"/>
                <a:ea typeface="Aptos"/>
                <a:cs typeface="Aptos"/>
              </a:defRPr>
            </a:pPr>
            <a:r>
              <a:rPr sz="1275" b="1">
                <a:solidFill>
                  <a:srgbClr val="071821"/>
                </a:solidFill>
                <a:latin typeface="Aptos"/>
                <a:ea typeface="Aptos"/>
                <a:cs typeface="Aptos"/>
              </a:rPr>
              <a:t>Which modes or states?</a:t>
            </a:r>
          </a:p>
        </p:txBody>
      </p:sp>
      <p:sp>
        <p:nvSpPr>
          <p:cNvPr id="14" name="">
            <a:extLst xmlns:a="http://schemas.openxmlformats.org/drawingml/2006/main">
              <a:ext uri="{FF2B5EF4-FFF2-40B4-BE49-F238E27FC236}">
                <a16:creationId xmlns:a16="http://schemas.microsoft.com/office/drawing/2014/main" id="{E9EF0361-993F-4A13-82D6-AF6259CD8635}"/>
              </a:ext>
            </a:extLst>
          </p:cNvPr>
          <p:cNvSpPr>
            <a:spLocks xmlns:a="http://schemas.openxmlformats.org/drawingml/2006/main" noGrp="1"/>
          </p:cNvSpPr>
          <p:nvPr/>
        </p:nvSpPr>
        <p:spPr>
          <a:xfrm xmlns:a="http://schemas.openxmlformats.org/drawingml/2006/main">
            <a:off x="4457700" y="2724150"/>
            <a:ext cx="19050" cy="438150"/>
          </a:xfrm>
          <a:prstGeom xmlns:a="http://schemas.openxmlformats.org/drawingml/2006/main" prst="rect">
            <a:avLst/>
          </a:prstGeom>
          <a:solidFill xmlns:a="http://schemas.openxmlformats.org/drawingml/2006/main">
            <a:srgbClr val="FF9F43"/>
          </a:solidFill>
          <a:ln xmlns:a="http://schemas.openxmlformats.org/drawingml/2006/main" w="19050">
            <a:solidFill>
              <a:srgbClr val="FF9F43"/>
            </a:solidFill>
            <a:prstDash val="solid"/>
          </a:ln>
        </p:spPr>
      </p:sp>
      <p:sp>
        <p:nvSpPr>
          <p:cNvPr id="15" name="">
            <a:extLst xmlns:a="http://schemas.openxmlformats.org/drawingml/2006/main">
              <a:ext uri="{FF2B5EF4-FFF2-40B4-BE49-F238E27FC236}">
                <a16:creationId xmlns:a16="http://schemas.microsoft.com/office/drawing/2014/main" id="{FAEBC4C5-A218-42C5-A9EE-276B94D82A1B}"/>
              </a:ext>
            </a:extLst>
          </p:cNvPr>
          <p:cNvSpPr>
            <a:spLocks xmlns:a="http://schemas.openxmlformats.org/drawingml/2006/main" noGrp="1"/>
          </p:cNvSpPr>
          <p:nvPr/>
        </p:nvSpPr>
        <p:spPr>
          <a:xfrm xmlns:a="http://schemas.openxmlformats.org/drawingml/2006/main">
            <a:off x="3371850" y="3276600"/>
            <a:ext cx="2381250" cy="1409700"/>
          </a:xfrm>
          <a:prstGeom xmlns:a="http://schemas.openxmlformats.org/drawingml/2006/main" prst="roundRect">
            <a:avLst>
              <a:gd name="adj" fmla="val 5405"/>
            </a:avLst>
          </a:prstGeom>
          <a:solidFill xmlns:a="http://schemas.openxmlformats.org/drawingml/2006/main">
            <a:srgbClr val="FFE0B8"/>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350769BF-7A80-404E-8828-53F912A06C9B}"/>
              </a:ext>
            </a:extLst>
          </p:cNvPr>
          <p:cNvSpPr>
            <a:spLocks xmlns:a="http://schemas.openxmlformats.org/drawingml/2006/main" noGrp="1"/>
          </p:cNvSpPr>
          <p:nvPr/>
        </p:nvSpPr>
        <p:spPr>
          <a:xfrm xmlns:a="http://schemas.openxmlformats.org/drawingml/2006/main">
            <a:off x="3543300" y="3448050"/>
            <a:ext cx="2038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71821"/>
                </a:solidFill>
                <a:latin typeface="Aptos"/>
                <a:ea typeface="Aptos"/>
                <a:cs typeface="Aptos"/>
              </a:defRPr>
            </a:pPr>
            <a:r>
              <a:rPr sz="975" b="1">
                <a:solidFill>
                  <a:srgbClr val="071821"/>
                </a:solidFill>
                <a:latin typeface="Aptos"/>
                <a:ea typeface="Aptos"/>
                <a:cs typeface="Aptos"/>
              </a:rPr>
              <a:t>PERIODICALLY</a:t>
            </a:r>
          </a:p>
        </p:txBody>
      </p:sp>
      <p:sp>
        <p:nvSpPr>
          <p:cNvPr id="17" name="">
            <a:extLst xmlns:a="http://schemas.openxmlformats.org/drawingml/2006/main">
              <a:ext uri="{FF2B5EF4-FFF2-40B4-BE49-F238E27FC236}">
                <a16:creationId xmlns:a16="http://schemas.microsoft.com/office/drawing/2014/main" id="{88D3AD71-9451-43A8-A4F7-E39C4D2BD890}"/>
              </a:ext>
            </a:extLst>
          </p:cNvPr>
          <p:cNvSpPr>
            <a:spLocks xmlns:a="http://schemas.openxmlformats.org/drawingml/2006/main" noGrp="1"/>
          </p:cNvSpPr>
          <p:nvPr/>
        </p:nvSpPr>
        <p:spPr>
          <a:xfrm xmlns:a="http://schemas.openxmlformats.org/drawingml/2006/main">
            <a:off x="3581400" y="3867150"/>
            <a:ext cx="196215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071821"/>
                </a:solidFill>
                <a:latin typeface="Aptos"/>
                <a:ea typeface="Aptos"/>
                <a:cs typeface="Aptos"/>
              </a:defRPr>
            </a:pPr>
            <a:r>
              <a:rPr sz="1275" b="1">
                <a:solidFill>
                  <a:srgbClr val="071821"/>
                </a:solidFill>
                <a:latin typeface="Aptos"/>
                <a:ea typeface="Aptos"/>
                <a:cs typeface="Aptos"/>
              </a:rPr>
              <a:t>At what interval or trigger?</a:t>
            </a:r>
          </a:p>
        </p:txBody>
      </p:sp>
      <p:sp>
        <p:nvSpPr>
          <p:cNvPr id="18" name="">
            <a:extLst xmlns:a="http://schemas.openxmlformats.org/drawingml/2006/main">
              <a:ext uri="{FF2B5EF4-FFF2-40B4-BE49-F238E27FC236}">
                <a16:creationId xmlns:a16="http://schemas.microsoft.com/office/drawing/2014/main" id="{33B6DAC6-66C4-4F53-8646-D670193C31FC}"/>
              </a:ext>
            </a:extLst>
          </p:cNvPr>
          <p:cNvSpPr>
            <a:spLocks xmlns:a="http://schemas.openxmlformats.org/drawingml/2006/main" noGrp="1"/>
          </p:cNvSpPr>
          <p:nvPr/>
        </p:nvSpPr>
        <p:spPr>
          <a:xfrm xmlns:a="http://schemas.openxmlformats.org/drawingml/2006/main">
            <a:off x="7219950" y="2724150"/>
            <a:ext cx="19050" cy="438150"/>
          </a:xfrm>
          <a:prstGeom xmlns:a="http://schemas.openxmlformats.org/drawingml/2006/main" prst="rect">
            <a:avLst/>
          </a:prstGeom>
          <a:solidFill xmlns:a="http://schemas.openxmlformats.org/drawingml/2006/main">
            <a:srgbClr val="FF9F43"/>
          </a:solidFill>
          <a:ln xmlns:a="http://schemas.openxmlformats.org/drawingml/2006/main" w="19050">
            <a:solidFill>
              <a:srgbClr val="FF9F43"/>
            </a:solidFill>
            <a:prstDash val="solid"/>
          </a:ln>
        </p:spPr>
      </p:sp>
      <p:sp>
        <p:nvSpPr>
          <p:cNvPr id="19" name="">
            <a:extLst xmlns:a="http://schemas.openxmlformats.org/drawingml/2006/main">
              <a:ext uri="{FF2B5EF4-FFF2-40B4-BE49-F238E27FC236}">
                <a16:creationId xmlns:a16="http://schemas.microsoft.com/office/drawing/2014/main" id="{6F8E7AB6-97B5-4CBA-9810-3B14F794132F}"/>
              </a:ext>
            </a:extLst>
          </p:cNvPr>
          <p:cNvSpPr>
            <a:spLocks xmlns:a="http://schemas.openxmlformats.org/drawingml/2006/main" noGrp="1"/>
          </p:cNvSpPr>
          <p:nvPr/>
        </p:nvSpPr>
        <p:spPr>
          <a:xfrm xmlns:a="http://schemas.openxmlformats.org/drawingml/2006/main">
            <a:off x="6134100" y="3276600"/>
            <a:ext cx="2381250" cy="1409700"/>
          </a:xfrm>
          <a:prstGeom xmlns:a="http://schemas.openxmlformats.org/drawingml/2006/main" prst="roundRect">
            <a:avLst>
              <a:gd name="adj" fmla="val 5405"/>
            </a:avLst>
          </a:prstGeom>
          <a:solidFill xmlns:a="http://schemas.openxmlformats.org/drawingml/2006/main">
            <a:srgbClr val="FFE0B8"/>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2549E9ED-F1EE-4BB8-B5DC-01981ECB936E}"/>
              </a:ext>
            </a:extLst>
          </p:cNvPr>
          <p:cNvSpPr>
            <a:spLocks xmlns:a="http://schemas.openxmlformats.org/drawingml/2006/main" noGrp="1"/>
          </p:cNvSpPr>
          <p:nvPr/>
        </p:nvSpPr>
        <p:spPr>
          <a:xfrm xmlns:a="http://schemas.openxmlformats.org/drawingml/2006/main">
            <a:off x="6305550" y="3448050"/>
            <a:ext cx="2038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71821"/>
                </a:solidFill>
                <a:latin typeface="Aptos"/>
                <a:ea typeface="Aptos"/>
                <a:cs typeface="Aptos"/>
              </a:defRPr>
            </a:pPr>
            <a:r>
              <a:rPr sz="975" b="1">
                <a:solidFill>
                  <a:srgbClr val="071821"/>
                </a:solidFill>
                <a:latin typeface="Aptos"/>
                <a:ea typeface="Aptos"/>
                <a:cs typeface="Aptos"/>
              </a:rPr>
              <a:t>BATTERY STATE</a:t>
            </a:r>
          </a:p>
        </p:txBody>
      </p:sp>
      <p:sp>
        <p:nvSpPr>
          <p:cNvPr id="21" name="">
            <a:extLst xmlns:a="http://schemas.openxmlformats.org/drawingml/2006/main">
              <a:ext uri="{FF2B5EF4-FFF2-40B4-BE49-F238E27FC236}">
                <a16:creationId xmlns:a16="http://schemas.microsoft.com/office/drawing/2014/main" id="{981D6780-F80D-4293-9E19-F34E0FAA9287}"/>
              </a:ext>
            </a:extLst>
          </p:cNvPr>
          <p:cNvSpPr>
            <a:spLocks xmlns:a="http://schemas.openxmlformats.org/drawingml/2006/main" noGrp="1"/>
          </p:cNvSpPr>
          <p:nvPr/>
        </p:nvSpPr>
        <p:spPr>
          <a:xfrm xmlns:a="http://schemas.openxmlformats.org/drawingml/2006/main">
            <a:off x="6343650" y="3867150"/>
            <a:ext cx="196215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071821"/>
                </a:solidFill>
                <a:latin typeface="Aptos"/>
                <a:ea typeface="Aptos"/>
                <a:cs typeface="Aptos"/>
              </a:defRPr>
            </a:pPr>
            <a:r>
              <a:rPr sz="1275" b="1">
                <a:solidFill>
                  <a:srgbClr val="071821"/>
                </a:solidFill>
                <a:latin typeface="Aptos"/>
                <a:ea typeface="Aptos"/>
                <a:cs typeface="Aptos"/>
              </a:rPr>
              <a:t>Which data, validity, units, and range?</a:t>
            </a:r>
          </a:p>
        </p:txBody>
      </p:sp>
      <p:sp>
        <p:nvSpPr>
          <p:cNvPr id="22" name="">
            <a:extLst xmlns:a="http://schemas.openxmlformats.org/drawingml/2006/main">
              <a:ext uri="{FF2B5EF4-FFF2-40B4-BE49-F238E27FC236}">
                <a16:creationId xmlns:a16="http://schemas.microsoft.com/office/drawing/2014/main" id="{FB7A4ABC-36DC-4FC9-B76F-7980C3D81957}"/>
              </a:ext>
            </a:extLst>
          </p:cNvPr>
          <p:cNvSpPr>
            <a:spLocks xmlns:a="http://schemas.openxmlformats.org/drawingml/2006/main" noGrp="1"/>
          </p:cNvSpPr>
          <p:nvPr/>
        </p:nvSpPr>
        <p:spPr>
          <a:xfrm xmlns:a="http://schemas.openxmlformats.org/drawingml/2006/main">
            <a:off x="9982200" y="2724150"/>
            <a:ext cx="19050" cy="438150"/>
          </a:xfrm>
          <a:prstGeom xmlns:a="http://schemas.openxmlformats.org/drawingml/2006/main" prst="rect">
            <a:avLst/>
          </a:prstGeom>
          <a:solidFill xmlns:a="http://schemas.openxmlformats.org/drawingml/2006/main">
            <a:srgbClr val="FF9F43"/>
          </a:solidFill>
          <a:ln xmlns:a="http://schemas.openxmlformats.org/drawingml/2006/main" w="19050">
            <a:solidFill>
              <a:srgbClr val="FF9F43"/>
            </a:solidFill>
            <a:prstDash val="solid"/>
          </a:ln>
        </p:spPr>
      </p:sp>
      <p:sp>
        <p:nvSpPr>
          <p:cNvPr id="23" name="">
            <a:extLst xmlns:a="http://schemas.openxmlformats.org/drawingml/2006/main">
              <a:ext uri="{FF2B5EF4-FFF2-40B4-BE49-F238E27FC236}">
                <a16:creationId xmlns:a16="http://schemas.microsoft.com/office/drawing/2014/main" id="{B78CCB67-9F13-436F-BBF4-68D10781CD19}"/>
              </a:ext>
            </a:extLst>
          </p:cNvPr>
          <p:cNvSpPr>
            <a:spLocks xmlns:a="http://schemas.openxmlformats.org/drawingml/2006/main" noGrp="1"/>
          </p:cNvSpPr>
          <p:nvPr/>
        </p:nvSpPr>
        <p:spPr>
          <a:xfrm xmlns:a="http://schemas.openxmlformats.org/drawingml/2006/main">
            <a:off x="8896350" y="3276600"/>
            <a:ext cx="2381250" cy="1409700"/>
          </a:xfrm>
          <a:prstGeom xmlns:a="http://schemas.openxmlformats.org/drawingml/2006/main" prst="roundRect">
            <a:avLst>
              <a:gd name="adj" fmla="val 5405"/>
            </a:avLst>
          </a:prstGeom>
          <a:solidFill xmlns:a="http://schemas.openxmlformats.org/drawingml/2006/main">
            <a:srgbClr val="FFE0B8"/>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DF946D83-C298-4B0A-A999-C2FE3BE9F30F}"/>
              </a:ext>
            </a:extLst>
          </p:cNvPr>
          <p:cNvSpPr>
            <a:spLocks xmlns:a="http://schemas.openxmlformats.org/drawingml/2006/main" noGrp="1"/>
          </p:cNvSpPr>
          <p:nvPr/>
        </p:nvSpPr>
        <p:spPr>
          <a:xfrm xmlns:a="http://schemas.openxmlformats.org/drawingml/2006/main">
            <a:off x="9067800" y="3448050"/>
            <a:ext cx="2038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71821"/>
                </a:solidFill>
                <a:latin typeface="Aptos"/>
                <a:ea typeface="Aptos"/>
                <a:cs typeface="Aptos"/>
              </a:defRPr>
            </a:pPr>
            <a:r>
              <a:rPr sz="975" b="1">
                <a:solidFill>
                  <a:srgbClr val="071821"/>
                </a:solidFill>
                <a:latin typeface="Aptos"/>
                <a:ea typeface="Aptos"/>
                <a:cs typeface="Aptos"/>
              </a:rPr>
              <a:t>APPROPRIATE</a:t>
            </a:r>
          </a:p>
        </p:txBody>
      </p:sp>
      <p:sp>
        <p:nvSpPr>
          <p:cNvPr id="25" name="">
            <a:extLst xmlns:a="http://schemas.openxmlformats.org/drawingml/2006/main">
              <a:ext uri="{FF2B5EF4-FFF2-40B4-BE49-F238E27FC236}">
                <a16:creationId xmlns:a16="http://schemas.microsoft.com/office/drawing/2014/main" id="{3481737F-54D0-469E-8633-12536E4B173E}"/>
              </a:ext>
            </a:extLst>
          </p:cNvPr>
          <p:cNvSpPr>
            <a:spLocks xmlns:a="http://schemas.openxmlformats.org/drawingml/2006/main" noGrp="1"/>
          </p:cNvSpPr>
          <p:nvPr/>
        </p:nvSpPr>
        <p:spPr>
          <a:xfrm xmlns:a="http://schemas.openxmlformats.org/drawingml/2006/main">
            <a:off x="9105900" y="3867150"/>
            <a:ext cx="196215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071821"/>
                </a:solidFill>
                <a:latin typeface="Aptos"/>
                <a:ea typeface="Aptos"/>
                <a:cs typeface="Aptos"/>
              </a:defRPr>
            </a:pPr>
            <a:r>
              <a:rPr sz="1275" b="1">
                <a:solidFill>
                  <a:srgbClr val="071821"/>
                </a:solidFill>
                <a:latin typeface="Aptos"/>
                <a:ea typeface="Aptos"/>
                <a:cs typeface="Aptos"/>
              </a:rPr>
              <a:t>What observable response?</a:t>
            </a:r>
          </a:p>
        </p:txBody>
      </p:sp>
      <p:sp>
        <p:nvSpPr>
          <p:cNvPr id="26" name="">
            <a:extLst xmlns:a="http://schemas.openxmlformats.org/drawingml/2006/main">
              <a:ext uri="{FF2B5EF4-FFF2-40B4-BE49-F238E27FC236}">
                <a16:creationId xmlns:a16="http://schemas.microsoft.com/office/drawing/2014/main" id="{B45F1C4D-D5AF-4E90-9D9D-F75D115BC429}"/>
              </a:ext>
            </a:extLst>
          </p:cNvPr>
          <p:cNvSpPr>
            <a:spLocks xmlns:a="http://schemas.openxmlformats.org/drawingml/2006/main" noGrp="1"/>
          </p:cNvSpPr>
          <p:nvPr/>
        </p:nvSpPr>
        <p:spPr>
          <a:xfrm xmlns:a="http://schemas.openxmlformats.org/drawingml/2006/main">
            <a:off x="457200" y="5905500"/>
            <a:ext cx="11277600" cy="361950"/>
          </a:xfrm>
          <a:prstGeom xmlns:a="http://schemas.openxmlformats.org/drawingml/2006/main" prst="roundRect">
            <a:avLst>
              <a:gd name="adj" fmla="val 21053"/>
            </a:avLst>
          </a:prstGeom>
          <a:solidFill xmlns:a="http://schemas.openxmlformats.org/drawingml/2006/main">
            <a:srgbClr val="FF9F43"/>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059EB841-5027-4F24-A564-0279D0D9D8E7}"/>
              </a:ext>
            </a:extLst>
          </p:cNvPr>
          <p:cNvSpPr>
            <a:spLocks xmlns:a="http://schemas.openxmlformats.org/drawingml/2006/main" noGrp="1"/>
          </p:cNvSpPr>
          <p:nvPr/>
        </p:nvSpPr>
        <p:spPr>
          <a:xfrm xmlns:a="http://schemas.openxmlformats.org/drawingml/2006/main">
            <a:off x="628650" y="5972175"/>
            <a:ext cx="8953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071821"/>
                </a:solidFill>
                <a:latin typeface="Aptos"/>
                <a:ea typeface="Aptos"/>
                <a:cs typeface="Aptos"/>
              </a:defRPr>
            </a:pPr>
            <a:r>
              <a:rPr sz="900" b="1">
                <a:solidFill>
                  <a:srgbClr val="071821"/>
                </a:solidFill>
                <a:latin typeface="Aptos"/>
                <a:ea typeface="Aptos"/>
                <a:cs typeface="Aptos"/>
              </a:rPr>
              <a:t>DISCUSS</a:t>
            </a:r>
          </a:p>
        </p:txBody>
      </p:sp>
      <p:sp>
        <p:nvSpPr>
          <p:cNvPr id="28" name="">
            <a:extLst xmlns:a="http://schemas.openxmlformats.org/drawingml/2006/main">
              <a:ext uri="{FF2B5EF4-FFF2-40B4-BE49-F238E27FC236}">
                <a16:creationId xmlns:a16="http://schemas.microsoft.com/office/drawing/2014/main" id="{4F1EEE94-3603-494C-A709-484E6F81C675}"/>
              </a:ext>
            </a:extLst>
          </p:cNvPr>
          <p:cNvSpPr>
            <a:spLocks xmlns:a="http://schemas.openxmlformats.org/drawingml/2006/main" noGrp="1"/>
          </p:cNvSpPr>
          <p:nvPr/>
        </p:nvSpPr>
        <p:spPr>
          <a:xfrm xmlns:a="http://schemas.openxmlformats.org/drawingml/2006/main">
            <a:off x="1581150" y="5972175"/>
            <a:ext cx="9906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0">
                <a:solidFill>
                  <a:srgbClr val="071821"/>
                </a:solidFill>
                <a:latin typeface="Aptos"/>
                <a:ea typeface="Aptos"/>
                <a:cs typeface="Aptos"/>
              </a:defRPr>
            </a:pPr>
            <a:r>
              <a:rPr sz="1125" b="0">
                <a:solidFill>
                  <a:srgbClr val="071821"/>
                </a:solidFill>
                <a:latin typeface="Aptos"/>
                <a:ea typeface="Aptos"/>
                <a:cs typeface="Aptos"/>
              </a:rPr>
              <a:t>Choose the first technical decision you would resolve before attempting a rewrite.</a:t>
            </a:r>
          </a:p>
        </p:txBody>
      </p:sp>
    </p:spTree>
    <p:extLst>
      <p:ext uri="{BB962C8B-B14F-4D97-AF65-F5344CB8AC3E}">
        <p14:creationId xmlns:p14="http://schemas.microsoft.com/office/powerpoint/2010/main" val="72257516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7A204D0-7580-4B8A-BEA0-E8BCD72693C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1E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9EF892A-C903-4613-8F2A-BD1E97B61973}"/>
              </a:ext>
            </a:extLst>
          </p:cNvPr>
          <p:cNvSpPr>
            <a:spLocks xmlns:a="http://schemas.openxmlformats.org/drawingml/2006/main" noGrp="1"/>
          </p:cNvSpPr>
          <p:nvPr/>
        </p:nvSpPr>
        <p:spPr>
          <a:xfrm xmlns:a="http://schemas.openxmlformats.org/drawingml/2006/main">
            <a:off x="457200" y="361950"/>
            <a:ext cx="76200" cy="76200"/>
          </a:xfrm>
          <a:prstGeom xmlns:a="http://schemas.openxmlformats.org/drawingml/2006/main" prst="rect">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3F19A70-A2F2-49EA-8B8A-1C3A8F4E5F59}"/>
              </a:ext>
            </a:extLst>
          </p:cNvPr>
          <p:cNvSpPr>
            <a:spLocks xmlns:a="http://schemas.openxmlformats.org/drawingml/2006/main" noGrp="1"/>
          </p:cNvSpPr>
          <p:nvPr/>
        </p:nvSpPr>
        <p:spPr>
          <a:xfrm xmlns:a="http://schemas.openxmlformats.org/drawingml/2006/main">
            <a:off x="64770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46616F"/>
                </a:solidFill>
                <a:latin typeface="Aptos"/>
                <a:ea typeface="Aptos"/>
                <a:cs typeface="Aptos"/>
              </a:defRPr>
            </a:pPr>
            <a:r>
              <a:rPr sz="1050" b="1">
                <a:solidFill>
                  <a:srgbClr val="46616F"/>
                </a:solidFill>
                <a:latin typeface="Aptos"/>
                <a:ea typeface="Aptos"/>
                <a:cs typeface="Aptos"/>
              </a:rPr>
              <a:t>REVIEW PRACTICE 2</a:t>
            </a:r>
          </a:p>
        </p:txBody>
      </p:sp>
      <p:sp>
        <p:nvSpPr>
          <p:cNvPr id="4" name="">
            <a:extLst xmlns:a="http://schemas.openxmlformats.org/drawingml/2006/main">
              <a:ext uri="{FF2B5EF4-FFF2-40B4-BE49-F238E27FC236}">
                <a16:creationId xmlns:a16="http://schemas.microsoft.com/office/drawing/2014/main" id="{5794AE2C-263A-4111-A6B5-EB797B0578EC}"/>
              </a:ext>
            </a:extLst>
          </p:cNvPr>
          <p:cNvSpPr>
            <a:spLocks xmlns:a="http://schemas.openxmlformats.org/drawingml/2006/main" noGrp="1"/>
          </p:cNvSpPr>
          <p:nvPr/>
        </p:nvSpPr>
        <p:spPr>
          <a:xfrm xmlns:a="http://schemas.openxmlformats.org/drawingml/2006/main">
            <a:off x="457200" y="666750"/>
            <a:ext cx="11049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850" b="1">
                <a:solidFill>
                  <a:srgbClr val="071821"/>
                </a:solidFill>
                <a:latin typeface="Aptos Display"/>
                <a:ea typeface="Aptos Display"/>
                <a:cs typeface="Aptos Display"/>
              </a:defRPr>
            </a:pPr>
            <a:r>
              <a:rPr sz="2850" b="1">
                <a:solidFill>
                  <a:srgbClr val="071821"/>
                </a:solidFill>
                <a:latin typeface="Aptos Display"/>
                <a:ea typeface="Aptos Display"/>
                <a:cs typeface="Aptos Display"/>
              </a:rPr>
              <a:t>Specific words can still conceal a compound requirement.</a:t>
            </a:r>
          </a:p>
        </p:txBody>
      </p:sp>
      <p:sp>
        <p:nvSpPr>
          <p:cNvPr id="5" name="">
            <a:extLst xmlns:a="http://schemas.openxmlformats.org/drawingml/2006/main">
              <a:ext uri="{FF2B5EF4-FFF2-40B4-BE49-F238E27FC236}">
                <a16:creationId xmlns:a16="http://schemas.microsoft.com/office/drawing/2014/main" id="{3A3B1FF5-0F62-4BC7-9026-6EB96F284A4E}"/>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C9D8DC"/>
          </a:solidFill>
          <a:ln xmlns:a="http://schemas.openxmlformats.org/drawingml/2006/main" w="9525">
            <a:solidFill>
              <a:srgbClr val="C9D8DC"/>
            </a:solidFill>
            <a:prstDash val="solid"/>
          </a:ln>
        </p:spPr>
      </p:sp>
      <p:sp>
        <p:nvSpPr>
          <p:cNvPr id="6" name="">
            <a:extLst xmlns:a="http://schemas.openxmlformats.org/drawingml/2006/main">
              <a:ext uri="{FF2B5EF4-FFF2-40B4-BE49-F238E27FC236}">
                <a16:creationId xmlns:a16="http://schemas.microsoft.com/office/drawing/2014/main" id="{DC1BECEB-C4DF-4E27-8045-595BEA237465}"/>
              </a:ext>
            </a:extLst>
          </p:cNvPr>
          <p:cNvSpPr>
            <a:spLocks xmlns:a="http://schemas.openxmlformats.org/drawingml/2006/main" noGrp="1"/>
          </p:cNvSpPr>
          <p:nvPr/>
        </p:nvSpPr>
        <p:spPr>
          <a:xfrm xmlns:a="http://schemas.openxmlformats.org/drawingml/2006/main">
            <a:off x="4572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46616F"/>
                </a:solidFill>
                <a:latin typeface="Aptos"/>
                <a:ea typeface="Aptos"/>
                <a:cs typeface="Aptos"/>
              </a:defRPr>
            </a:pPr>
            <a:r>
              <a:rPr sz="750" b="1">
                <a:solidFill>
                  <a:srgbClr val="46616F"/>
                </a:solidFill>
                <a:latin typeface="Aptos"/>
                <a:ea typeface="Aptos"/>
                <a:cs typeface="Aptos"/>
              </a:rPr>
              <a:t>SESSION 2</a:t>
            </a:r>
          </a:p>
        </p:txBody>
      </p:sp>
      <p:sp>
        <p:nvSpPr>
          <p:cNvPr id="7" name="">
            <a:extLst xmlns:a="http://schemas.openxmlformats.org/drawingml/2006/main">
              <a:ext uri="{FF2B5EF4-FFF2-40B4-BE49-F238E27FC236}">
                <a16:creationId xmlns:a16="http://schemas.microsoft.com/office/drawing/2014/main" id="{FA819EE9-2384-4792-ADE4-6CC4E114F7A7}"/>
              </a:ext>
            </a:extLst>
          </p:cNvPr>
          <p:cNvSpPr>
            <a:spLocks xmlns:a="http://schemas.openxmlformats.org/drawingml/2006/main" noGrp="1"/>
          </p:cNvSpPr>
          <p:nvPr/>
        </p:nvSpPr>
        <p:spPr>
          <a:xfrm xmlns:a="http://schemas.openxmlformats.org/drawingml/2006/main">
            <a:off x="11144250" y="6515100"/>
            <a:ext cx="590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46616F"/>
                </a:solidFill>
                <a:latin typeface="Aptos"/>
                <a:ea typeface="Aptos"/>
                <a:cs typeface="Aptos"/>
              </a:defRPr>
            </a:pPr>
            <a:r>
              <a:rPr sz="825" b="1">
                <a:solidFill>
                  <a:srgbClr val="46616F"/>
                </a:solidFill>
                <a:latin typeface="Aptos"/>
                <a:ea typeface="Aptos"/>
                <a:cs typeface="Aptos"/>
              </a:rPr>
              <a:t>12</a:t>
            </a:r>
          </a:p>
        </p:txBody>
      </p:sp>
      <p:sp>
        <p:nvSpPr>
          <p:cNvPr id="8" name="">
            <a:extLst xmlns:a="http://schemas.openxmlformats.org/drawingml/2006/main">
              <a:ext uri="{FF2B5EF4-FFF2-40B4-BE49-F238E27FC236}">
                <a16:creationId xmlns:a16="http://schemas.microsoft.com/office/drawing/2014/main" id="{F4A3D05C-4F0E-4F0A-993F-39980C119568}"/>
              </a:ext>
            </a:extLst>
          </p:cNvPr>
          <p:cNvSpPr>
            <a:spLocks xmlns:a="http://schemas.openxmlformats.org/drawingml/2006/main" noGrp="1"/>
          </p:cNvSpPr>
          <p:nvPr/>
        </p:nvSpPr>
        <p:spPr>
          <a:xfrm xmlns:a="http://schemas.openxmlformats.org/drawingml/2006/main">
            <a:off x="1047750" y="1581150"/>
            <a:ext cx="100965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14288">
            <a:solidFill>
              <a:srgbClr val="FF9F43"/>
            </a:solidFill>
            <a:prstDash val="solid"/>
          </a:ln>
        </p:spPr>
      </p:sp>
      <p:sp>
        <p:nvSpPr>
          <p:cNvPr id="9" name="">
            <a:extLst xmlns:a="http://schemas.openxmlformats.org/drawingml/2006/main">
              <a:ext uri="{FF2B5EF4-FFF2-40B4-BE49-F238E27FC236}">
                <a16:creationId xmlns:a16="http://schemas.microsoft.com/office/drawing/2014/main" id="{679A8581-C641-439E-9ED6-E8B584EE5E9D}"/>
              </a:ext>
            </a:extLst>
          </p:cNvPr>
          <p:cNvSpPr>
            <a:spLocks xmlns:a="http://schemas.openxmlformats.org/drawingml/2006/main" noGrp="1"/>
          </p:cNvSpPr>
          <p:nvPr/>
        </p:nvSpPr>
        <p:spPr>
          <a:xfrm xmlns:a="http://schemas.openxmlformats.org/drawingml/2006/main">
            <a:off x="1257300" y="1752600"/>
            <a:ext cx="96774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0">
                <a:solidFill>
                  <a:srgbClr val="071821"/>
                </a:solidFill>
                <a:latin typeface="Aptos Mono"/>
                <a:ea typeface="Aptos Mono"/>
                <a:cs typeface="Aptos Mono"/>
              </a:defRPr>
            </a:pPr>
            <a:r>
              <a:rPr sz="1350" b="0">
                <a:solidFill>
                  <a:srgbClr val="071821"/>
                </a:solidFill>
                <a:latin typeface="Aptos Mono"/>
                <a:ea typeface="Aptos Mono"/>
                <a:cs typeface="Aptos Mono"/>
              </a:rPr>
              <a:t>When battery state of charge is low, the Flight Software shall set a warning, shed payload loads, and enter Survival Mode.</a:t>
            </a:r>
          </a:p>
        </p:txBody>
      </p:sp>
      <p:sp>
        <p:nvSpPr>
          <p:cNvPr id="10" name="">
            <a:extLst xmlns:a="http://schemas.openxmlformats.org/drawingml/2006/main">
              <a:ext uri="{FF2B5EF4-FFF2-40B4-BE49-F238E27FC236}">
                <a16:creationId xmlns:a16="http://schemas.microsoft.com/office/drawing/2014/main" id="{9CA3821A-F963-4109-94B4-792142CC0E74}"/>
              </a:ext>
            </a:extLst>
          </p:cNvPr>
          <p:cNvSpPr>
            <a:spLocks xmlns:a="http://schemas.openxmlformats.org/drawingml/2006/main" noGrp="1"/>
          </p:cNvSpPr>
          <p:nvPr/>
        </p:nvSpPr>
        <p:spPr>
          <a:xfrm xmlns:a="http://schemas.openxmlformats.org/drawingml/2006/main">
            <a:off x="876300" y="3162300"/>
            <a:ext cx="2857500" cy="1352550"/>
          </a:xfrm>
          <a:prstGeom xmlns:a="http://schemas.openxmlformats.org/drawingml/2006/main" prst="roundRect">
            <a:avLst>
              <a:gd name="adj" fmla="val 5634"/>
            </a:avLst>
          </a:prstGeom>
          <a:solidFill xmlns:a="http://schemas.openxmlformats.org/drawingml/2006/main">
            <a:srgbClr val="BCEAF0"/>
          </a:solidFill>
          <a:ln xmlns:a="http://schemas.openxmlformats.org/drawingml/2006/main" w="14288">
            <a:solidFill>
              <a:srgbClr val="2EC4D6"/>
            </a:solidFill>
            <a:prstDash val="solid"/>
          </a:ln>
        </p:spPr>
      </p:sp>
      <p:sp>
        <p:nvSpPr>
          <p:cNvPr id="11" name="">
            <a:extLst xmlns:a="http://schemas.openxmlformats.org/drawingml/2006/main">
              <a:ext uri="{FF2B5EF4-FFF2-40B4-BE49-F238E27FC236}">
                <a16:creationId xmlns:a16="http://schemas.microsoft.com/office/drawing/2014/main" id="{20FB6285-A10A-49D7-8856-AFC5B03F52B2}"/>
              </a:ext>
            </a:extLst>
          </p:cNvPr>
          <p:cNvSpPr>
            <a:spLocks xmlns:a="http://schemas.openxmlformats.org/drawingml/2006/main" noGrp="1"/>
          </p:cNvSpPr>
          <p:nvPr/>
        </p:nvSpPr>
        <p:spPr>
          <a:xfrm xmlns:a="http://schemas.openxmlformats.org/drawingml/2006/main">
            <a:off x="1028700" y="3295650"/>
            <a:ext cx="25527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071821"/>
                </a:solidFill>
                <a:latin typeface="Aptos"/>
                <a:ea typeface="Aptos"/>
                <a:cs typeface="Aptos"/>
              </a:defRPr>
            </a:pPr>
            <a:r>
              <a:rPr sz="1350" b="1">
                <a:solidFill>
                  <a:srgbClr val="071821"/>
                </a:solidFill>
                <a:latin typeface="Aptos"/>
                <a:ea typeface="Aptos"/>
                <a:cs typeface="Aptos"/>
              </a:rPr>
              <a:t>Set warning</a:t>
            </a:r>
          </a:p>
        </p:txBody>
      </p:sp>
      <p:sp>
        <p:nvSpPr>
          <p:cNvPr id="12" name="">
            <a:extLst xmlns:a="http://schemas.openxmlformats.org/drawingml/2006/main">
              <a:ext uri="{FF2B5EF4-FFF2-40B4-BE49-F238E27FC236}">
                <a16:creationId xmlns:a16="http://schemas.microsoft.com/office/drawing/2014/main" id="{2560C9DA-08A3-4340-B2CB-A707FAB2ADFE}"/>
              </a:ext>
            </a:extLst>
          </p:cNvPr>
          <p:cNvSpPr>
            <a:spLocks xmlns:a="http://schemas.openxmlformats.org/drawingml/2006/main" noGrp="1"/>
          </p:cNvSpPr>
          <p:nvPr/>
        </p:nvSpPr>
        <p:spPr>
          <a:xfrm xmlns:a="http://schemas.openxmlformats.org/drawingml/2006/main">
            <a:off x="1009650" y="3619500"/>
            <a:ext cx="25908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46616F"/>
                </a:solidFill>
                <a:latin typeface="Aptos"/>
                <a:ea typeface="Aptos"/>
                <a:cs typeface="Aptos"/>
              </a:defRPr>
            </a:pPr>
            <a:r>
              <a:rPr sz="975" b="0">
                <a:solidFill>
                  <a:srgbClr val="46616F"/>
                </a:solidFill>
                <a:latin typeface="Aptos"/>
                <a:ea typeface="Aptos"/>
                <a:cs typeface="Aptos"/>
              </a:rPr>
              <a:t>Telemetry state and deadline</a:t>
            </a:r>
          </a:p>
        </p:txBody>
      </p:sp>
      <p:sp>
        <p:nvSpPr>
          <p:cNvPr id="13" name="">
            <a:extLst xmlns:a="http://schemas.openxmlformats.org/drawingml/2006/main">
              <a:ext uri="{FF2B5EF4-FFF2-40B4-BE49-F238E27FC236}">
                <a16:creationId xmlns:a16="http://schemas.microsoft.com/office/drawing/2014/main" id="{745FA0CB-0480-42E5-8A1F-16B73D6A6319}"/>
              </a:ext>
            </a:extLst>
          </p:cNvPr>
          <p:cNvSpPr>
            <a:spLocks xmlns:a="http://schemas.openxmlformats.org/drawingml/2006/main" noGrp="1"/>
          </p:cNvSpPr>
          <p:nvPr/>
        </p:nvSpPr>
        <p:spPr>
          <a:xfrm xmlns:a="http://schemas.openxmlformats.org/drawingml/2006/main">
            <a:off x="4667250" y="3162300"/>
            <a:ext cx="2857500" cy="1352550"/>
          </a:xfrm>
          <a:prstGeom xmlns:a="http://schemas.openxmlformats.org/drawingml/2006/main" prst="roundRect">
            <a:avLst>
              <a:gd name="adj" fmla="val 5634"/>
            </a:avLst>
          </a:prstGeom>
          <a:solidFill xmlns:a="http://schemas.openxmlformats.org/drawingml/2006/main">
            <a:srgbClr val="FFFFFF"/>
          </a:solidFill>
          <a:ln xmlns:a="http://schemas.openxmlformats.org/drawingml/2006/main" w="14288">
            <a:solidFill>
              <a:srgbClr val="46616F"/>
            </a:solidFill>
            <a:prstDash val="solid"/>
          </a:ln>
        </p:spPr>
      </p:sp>
      <p:sp>
        <p:nvSpPr>
          <p:cNvPr id="14" name="">
            <a:extLst xmlns:a="http://schemas.openxmlformats.org/drawingml/2006/main">
              <a:ext uri="{FF2B5EF4-FFF2-40B4-BE49-F238E27FC236}">
                <a16:creationId xmlns:a16="http://schemas.microsoft.com/office/drawing/2014/main" id="{C3017858-4A36-43D9-BCD7-CA9D566F8283}"/>
              </a:ext>
            </a:extLst>
          </p:cNvPr>
          <p:cNvSpPr>
            <a:spLocks xmlns:a="http://schemas.openxmlformats.org/drawingml/2006/main" noGrp="1"/>
          </p:cNvSpPr>
          <p:nvPr/>
        </p:nvSpPr>
        <p:spPr>
          <a:xfrm xmlns:a="http://schemas.openxmlformats.org/drawingml/2006/main">
            <a:off x="4819650" y="3295650"/>
            <a:ext cx="25527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071821"/>
                </a:solidFill>
                <a:latin typeface="Aptos"/>
                <a:ea typeface="Aptos"/>
                <a:cs typeface="Aptos"/>
              </a:defRPr>
            </a:pPr>
            <a:r>
              <a:rPr sz="1350" b="1">
                <a:solidFill>
                  <a:srgbClr val="071821"/>
                </a:solidFill>
                <a:latin typeface="Aptos"/>
                <a:ea typeface="Aptos"/>
                <a:cs typeface="Aptos"/>
              </a:rPr>
              <a:t>Shed payload loads</a:t>
            </a:r>
          </a:p>
        </p:txBody>
      </p:sp>
      <p:sp>
        <p:nvSpPr>
          <p:cNvPr id="15" name="">
            <a:extLst xmlns:a="http://schemas.openxmlformats.org/drawingml/2006/main">
              <a:ext uri="{FF2B5EF4-FFF2-40B4-BE49-F238E27FC236}">
                <a16:creationId xmlns:a16="http://schemas.microsoft.com/office/drawing/2014/main" id="{06589C68-C703-47E4-A695-58B95FEC0321}"/>
              </a:ext>
            </a:extLst>
          </p:cNvPr>
          <p:cNvSpPr>
            <a:spLocks xmlns:a="http://schemas.openxmlformats.org/drawingml/2006/main" noGrp="1"/>
          </p:cNvSpPr>
          <p:nvPr/>
        </p:nvSpPr>
        <p:spPr>
          <a:xfrm xmlns:a="http://schemas.openxmlformats.org/drawingml/2006/main">
            <a:off x="4800600" y="3619500"/>
            <a:ext cx="25908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46616F"/>
                </a:solidFill>
                <a:latin typeface="Aptos"/>
                <a:ea typeface="Aptos"/>
                <a:cs typeface="Aptos"/>
              </a:defRPr>
            </a:pPr>
            <a:r>
              <a:rPr sz="975" b="0">
                <a:solidFill>
                  <a:srgbClr val="46616F"/>
                </a:solidFill>
                <a:latin typeface="Aptos"/>
                <a:ea typeface="Aptos"/>
                <a:cs typeface="Aptos"/>
              </a:rPr>
              <a:t>Authority, interface, and sequence</a:t>
            </a:r>
          </a:p>
        </p:txBody>
      </p:sp>
      <p:sp>
        <p:nvSpPr>
          <p:cNvPr id="16" name="">
            <a:extLst xmlns:a="http://schemas.openxmlformats.org/drawingml/2006/main">
              <a:ext uri="{FF2B5EF4-FFF2-40B4-BE49-F238E27FC236}">
                <a16:creationId xmlns:a16="http://schemas.microsoft.com/office/drawing/2014/main" id="{09A775EC-1F56-46DF-B60C-6AA7453047B0}"/>
              </a:ext>
            </a:extLst>
          </p:cNvPr>
          <p:cNvSpPr>
            <a:spLocks xmlns:a="http://schemas.openxmlformats.org/drawingml/2006/main" noGrp="1"/>
          </p:cNvSpPr>
          <p:nvPr/>
        </p:nvSpPr>
        <p:spPr>
          <a:xfrm xmlns:a="http://schemas.openxmlformats.org/drawingml/2006/main">
            <a:off x="8458200" y="3162300"/>
            <a:ext cx="2857500" cy="1352550"/>
          </a:xfrm>
          <a:prstGeom xmlns:a="http://schemas.openxmlformats.org/drawingml/2006/main" prst="roundRect">
            <a:avLst>
              <a:gd name="adj" fmla="val 5634"/>
            </a:avLst>
          </a:prstGeom>
          <a:solidFill xmlns:a="http://schemas.openxmlformats.org/drawingml/2006/main">
            <a:srgbClr val="FFE0B8"/>
          </a:solidFill>
          <a:ln xmlns:a="http://schemas.openxmlformats.org/drawingml/2006/main" w="14288">
            <a:solidFill>
              <a:srgbClr val="FF9F43"/>
            </a:solidFill>
            <a:prstDash val="solid"/>
          </a:ln>
        </p:spPr>
      </p:sp>
      <p:sp>
        <p:nvSpPr>
          <p:cNvPr id="17" name="">
            <a:extLst xmlns:a="http://schemas.openxmlformats.org/drawingml/2006/main">
              <a:ext uri="{FF2B5EF4-FFF2-40B4-BE49-F238E27FC236}">
                <a16:creationId xmlns:a16="http://schemas.microsoft.com/office/drawing/2014/main" id="{83946BC7-1CD1-41CE-9A25-393B68765805}"/>
              </a:ext>
            </a:extLst>
          </p:cNvPr>
          <p:cNvSpPr>
            <a:spLocks xmlns:a="http://schemas.openxmlformats.org/drawingml/2006/main" noGrp="1"/>
          </p:cNvSpPr>
          <p:nvPr/>
        </p:nvSpPr>
        <p:spPr>
          <a:xfrm xmlns:a="http://schemas.openxmlformats.org/drawingml/2006/main">
            <a:off x="8610600" y="3295650"/>
            <a:ext cx="25527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071821"/>
                </a:solidFill>
                <a:latin typeface="Aptos"/>
                <a:ea typeface="Aptos"/>
                <a:cs typeface="Aptos"/>
              </a:defRPr>
            </a:pPr>
            <a:r>
              <a:rPr sz="1350" b="1">
                <a:solidFill>
                  <a:srgbClr val="071821"/>
                </a:solidFill>
                <a:latin typeface="Aptos"/>
                <a:ea typeface="Aptos"/>
                <a:cs typeface="Aptos"/>
              </a:rPr>
              <a:t>Enter Survival Mode</a:t>
            </a:r>
          </a:p>
        </p:txBody>
      </p:sp>
      <p:sp>
        <p:nvSpPr>
          <p:cNvPr id="18" name="">
            <a:extLst xmlns:a="http://schemas.openxmlformats.org/drawingml/2006/main">
              <a:ext uri="{FF2B5EF4-FFF2-40B4-BE49-F238E27FC236}">
                <a16:creationId xmlns:a16="http://schemas.microsoft.com/office/drawing/2014/main" id="{AE446E07-9014-438B-AD7D-AF777905137E}"/>
              </a:ext>
            </a:extLst>
          </p:cNvPr>
          <p:cNvSpPr>
            <a:spLocks xmlns:a="http://schemas.openxmlformats.org/drawingml/2006/main" noGrp="1"/>
          </p:cNvSpPr>
          <p:nvPr/>
        </p:nvSpPr>
        <p:spPr>
          <a:xfrm xmlns:a="http://schemas.openxmlformats.org/drawingml/2006/main">
            <a:off x="8591550" y="3619500"/>
            <a:ext cx="25908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46616F"/>
                </a:solidFill>
                <a:latin typeface="Aptos"/>
                <a:ea typeface="Aptos"/>
                <a:cs typeface="Aptos"/>
              </a:defRPr>
            </a:pPr>
            <a:r>
              <a:rPr sz="975" b="0">
                <a:solidFill>
                  <a:srgbClr val="46616F"/>
                </a:solidFill>
                <a:latin typeface="Aptos"/>
                <a:ea typeface="Aptos"/>
                <a:cs typeface="Aptos"/>
              </a:rPr>
              <a:t>Request or confirmed transition?</a:t>
            </a:r>
          </a:p>
        </p:txBody>
      </p:sp>
      <p:cxnSp>
        <p:nvCxnSpPr>
          <p:cNvPr id="44" name=""/>
          <p:cNvCxnSpPr>
            <a:stCxn xmlns:a="http://schemas.openxmlformats.org/drawingml/2006/main" id="10" idx="3"/>
            <a:endCxn xmlns:a="http://schemas.openxmlformats.org/drawingml/2006/main" id="13" idx="1"/>
          </p:cNvCxnSpPr>
          <p:nvPr/>
        </p:nvCxnSpPr>
        <p:spPr>
          <a:xfrm xmlns:a="http://schemas.openxmlformats.org/drawingml/2006/main">
            <a:off x="3733800" y="3838575"/>
            <a:ext cx="933450" cy="0"/>
          </a:xfrm>
          <a:prstGeom xmlns:a="http://schemas.openxmlformats.org/drawingml/2006/main" prst="straightConnector1">
            <a:avLst/>
          </a:prstGeom>
          <a:ln xmlns:a="http://schemas.openxmlformats.org/drawingml/2006/main" w="19050">
            <a:solidFill>
              <a:srgbClr val="46616F"/>
            </a:solidFill>
            <a:prstDash val="solid"/>
            <a:headEnd type="arrow" w="med" len="med"/>
          </a:ln>
        </p:spPr>
      </p:cxnSp>
      <p:cxnSp>
        <p:nvCxnSpPr>
          <p:cNvPr id="45" name=""/>
          <p:cNvCxnSpPr>
            <a:stCxn xmlns:a="http://schemas.openxmlformats.org/drawingml/2006/main" id="13" idx="3"/>
            <a:endCxn xmlns:a="http://schemas.openxmlformats.org/drawingml/2006/main" id="16" idx="1"/>
          </p:cNvCxnSpPr>
          <p:nvPr/>
        </p:nvCxnSpPr>
        <p:spPr>
          <a:xfrm xmlns:a="http://schemas.openxmlformats.org/drawingml/2006/main">
            <a:off x="7524750" y="3838575"/>
            <a:ext cx="933450" cy="0"/>
          </a:xfrm>
          <a:prstGeom xmlns:a="http://schemas.openxmlformats.org/drawingml/2006/main" prst="straightConnector1">
            <a:avLst/>
          </a:prstGeom>
          <a:ln xmlns:a="http://schemas.openxmlformats.org/drawingml/2006/main" w="19050">
            <a:solidFill>
              <a:srgbClr val="46616F"/>
            </a:solidFill>
            <a:prstDash val="solid"/>
            <a:headEnd type="arrow" w="med" len="med"/>
          </a:ln>
        </p:spPr>
      </p:cxnSp>
      <p:sp>
        <p:nvSpPr>
          <p:cNvPr id="21" name="">
            <a:extLst xmlns:a="http://schemas.openxmlformats.org/drawingml/2006/main">
              <a:ext uri="{FF2B5EF4-FFF2-40B4-BE49-F238E27FC236}">
                <a16:creationId xmlns:a16="http://schemas.microsoft.com/office/drawing/2014/main" id="{54E28443-DE84-49AC-88B0-4C54B6B6C459}"/>
              </a:ext>
            </a:extLst>
          </p:cNvPr>
          <p:cNvSpPr>
            <a:spLocks xmlns:a="http://schemas.openxmlformats.org/drawingml/2006/main" noGrp="1"/>
          </p:cNvSpPr>
          <p:nvPr/>
        </p:nvSpPr>
        <p:spPr>
          <a:xfrm xmlns:a="http://schemas.openxmlformats.org/drawingml/2006/main">
            <a:off x="2000250" y="4953000"/>
            <a:ext cx="8191500" cy="476250"/>
          </a:xfrm>
          <a:prstGeom xmlns:a="http://schemas.openxmlformats.org/drawingml/2006/main" prst="roundRect">
            <a:avLst>
              <a:gd name="adj" fmla="val 16000"/>
            </a:avLst>
          </a:prstGeom>
          <a:solidFill xmlns:a="http://schemas.openxmlformats.org/drawingml/2006/main">
            <a:srgbClr val="071821"/>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D1305D23-5A07-421D-9EB3-84E808652B03}"/>
              </a:ext>
            </a:extLst>
          </p:cNvPr>
          <p:cNvSpPr>
            <a:spLocks xmlns:a="http://schemas.openxmlformats.org/drawingml/2006/main" noGrp="1"/>
          </p:cNvSpPr>
          <p:nvPr/>
        </p:nvSpPr>
        <p:spPr>
          <a:xfrm xmlns:a="http://schemas.openxmlformats.org/drawingml/2006/main">
            <a:off x="2247900" y="5067300"/>
            <a:ext cx="76962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Each action may have a different owner, condition, sequence, and pass/fail result.</a:t>
            </a:r>
          </a:p>
        </p:txBody>
      </p:sp>
      <p:sp>
        <p:nvSpPr>
          <p:cNvPr id="23" name="">
            <a:extLst xmlns:a="http://schemas.openxmlformats.org/drawingml/2006/main">
              <a:ext uri="{FF2B5EF4-FFF2-40B4-BE49-F238E27FC236}">
                <a16:creationId xmlns:a16="http://schemas.microsoft.com/office/drawing/2014/main" id="{B349E726-7E94-48D8-9237-C4D9A72381C4}"/>
              </a:ext>
            </a:extLst>
          </p:cNvPr>
          <p:cNvSpPr>
            <a:spLocks xmlns:a="http://schemas.openxmlformats.org/drawingml/2006/main" noGrp="1"/>
          </p:cNvSpPr>
          <p:nvPr/>
        </p:nvSpPr>
        <p:spPr>
          <a:xfrm xmlns:a="http://schemas.openxmlformats.org/drawingml/2006/main">
            <a:off x="457200" y="5905500"/>
            <a:ext cx="11277600" cy="361950"/>
          </a:xfrm>
          <a:prstGeom xmlns:a="http://schemas.openxmlformats.org/drawingml/2006/main" prst="roundRect">
            <a:avLst>
              <a:gd name="adj" fmla="val 21053"/>
            </a:avLst>
          </a:prstGeom>
          <a:solidFill xmlns:a="http://schemas.openxmlformats.org/drawingml/2006/main">
            <a:srgbClr val="FFE0B8"/>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0D77D306-B255-4D40-9856-95C83C4F6453}"/>
              </a:ext>
            </a:extLst>
          </p:cNvPr>
          <p:cNvSpPr>
            <a:spLocks xmlns:a="http://schemas.openxmlformats.org/drawingml/2006/main" noGrp="1"/>
          </p:cNvSpPr>
          <p:nvPr/>
        </p:nvSpPr>
        <p:spPr>
          <a:xfrm xmlns:a="http://schemas.openxmlformats.org/drawingml/2006/main">
            <a:off x="628650" y="5972175"/>
            <a:ext cx="8953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071821"/>
                </a:solidFill>
                <a:latin typeface="Aptos"/>
                <a:ea typeface="Aptos"/>
                <a:cs typeface="Aptos"/>
              </a:defRPr>
            </a:pPr>
            <a:r>
              <a:rPr sz="900" b="1">
                <a:solidFill>
                  <a:srgbClr val="071821"/>
                </a:solidFill>
                <a:latin typeface="Aptos"/>
                <a:ea typeface="Aptos"/>
                <a:cs typeface="Aptos"/>
              </a:rPr>
              <a:t>DISCUSS</a:t>
            </a:r>
          </a:p>
        </p:txBody>
      </p:sp>
      <p:sp>
        <p:nvSpPr>
          <p:cNvPr id="25" name="">
            <a:extLst xmlns:a="http://schemas.openxmlformats.org/drawingml/2006/main">
              <a:ext uri="{FF2B5EF4-FFF2-40B4-BE49-F238E27FC236}">
                <a16:creationId xmlns:a16="http://schemas.microsoft.com/office/drawing/2014/main" id="{7122B215-8444-46B6-9F8B-FA77F48A6E42}"/>
              </a:ext>
            </a:extLst>
          </p:cNvPr>
          <p:cNvSpPr>
            <a:spLocks xmlns:a="http://schemas.openxmlformats.org/drawingml/2006/main" noGrp="1"/>
          </p:cNvSpPr>
          <p:nvPr/>
        </p:nvSpPr>
        <p:spPr>
          <a:xfrm xmlns:a="http://schemas.openxmlformats.org/drawingml/2006/main">
            <a:off x="1581150" y="5972175"/>
            <a:ext cx="9906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0">
                <a:solidFill>
                  <a:srgbClr val="071821"/>
                </a:solidFill>
                <a:latin typeface="Aptos"/>
                <a:ea typeface="Aptos"/>
                <a:cs typeface="Aptos"/>
              </a:defRPr>
            </a:pPr>
            <a:r>
              <a:rPr sz="1125" b="0">
                <a:solidFill>
                  <a:srgbClr val="071821"/>
                </a:solidFill>
                <a:latin typeface="Aptos"/>
                <a:ea typeface="Aptos"/>
                <a:cs typeface="Aptos"/>
              </a:rPr>
              <a:t>Which actions belong to this software element, and which need separate requirements?</a:t>
            </a:r>
          </a:p>
        </p:txBody>
      </p:sp>
    </p:spTree>
    <p:extLst>
      <p:ext uri="{BB962C8B-B14F-4D97-AF65-F5344CB8AC3E}">
        <p14:creationId xmlns:p14="http://schemas.microsoft.com/office/powerpoint/2010/main" val="15196064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A4F38EE-3966-4599-AE51-C4B387E89B6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821"/>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4D791DD-A6B7-4C67-B10B-A66CF483F09A}"/>
              </a:ext>
            </a:extLst>
          </p:cNvPr>
          <p:cNvSpPr>
            <a:spLocks xmlns:a="http://schemas.openxmlformats.org/drawingml/2006/main" noGrp="1"/>
          </p:cNvSpPr>
          <p:nvPr/>
        </p:nvSpPr>
        <p:spPr>
          <a:xfrm xmlns:a="http://schemas.openxmlformats.org/drawingml/2006/main">
            <a:off x="457200" y="361950"/>
            <a:ext cx="76200" cy="76200"/>
          </a:xfrm>
          <a:prstGeom xmlns:a="http://schemas.openxmlformats.org/drawingml/2006/main" prst="rect">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75CBAD7-C0E4-4F94-ABC0-6037B4324DAE}"/>
              </a:ext>
            </a:extLst>
          </p:cNvPr>
          <p:cNvSpPr>
            <a:spLocks xmlns:a="http://schemas.openxmlformats.org/drawingml/2006/main" noGrp="1"/>
          </p:cNvSpPr>
          <p:nvPr/>
        </p:nvSpPr>
        <p:spPr>
          <a:xfrm xmlns:a="http://schemas.openxmlformats.org/drawingml/2006/main">
            <a:off x="64770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BCEAF0"/>
                </a:solidFill>
                <a:latin typeface="Aptos"/>
                <a:ea typeface="Aptos"/>
                <a:cs typeface="Aptos"/>
              </a:defRPr>
            </a:pPr>
            <a:r>
              <a:rPr sz="1050" b="1">
                <a:solidFill>
                  <a:srgbClr val="BCEAF0"/>
                </a:solidFill>
                <a:latin typeface="Aptos"/>
                <a:ea typeface="Aptos"/>
                <a:cs typeface="Aptos"/>
              </a:rPr>
              <a:t>GROUP REWRITE</a:t>
            </a:r>
          </a:p>
        </p:txBody>
      </p:sp>
      <p:sp>
        <p:nvSpPr>
          <p:cNvPr id="4" name="">
            <a:extLst xmlns:a="http://schemas.openxmlformats.org/drawingml/2006/main">
              <a:ext uri="{FF2B5EF4-FFF2-40B4-BE49-F238E27FC236}">
                <a16:creationId xmlns:a16="http://schemas.microsoft.com/office/drawing/2014/main" id="{6269AF7D-7B0B-4330-9EB5-1773EDD405B8}"/>
              </a:ext>
            </a:extLst>
          </p:cNvPr>
          <p:cNvSpPr>
            <a:spLocks xmlns:a="http://schemas.openxmlformats.org/drawingml/2006/main" noGrp="1"/>
          </p:cNvSpPr>
          <p:nvPr/>
        </p:nvSpPr>
        <p:spPr>
          <a:xfrm xmlns:a="http://schemas.openxmlformats.org/drawingml/2006/main">
            <a:off x="457200" y="666750"/>
            <a:ext cx="11049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850" b="1">
                <a:solidFill>
                  <a:srgbClr val="FFFFFF"/>
                </a:solidFill>
                <a:latin typeface="Aptos Display"/>
                <a:ea typeface="Aptos Display"/>
                <a:cs typeface="Aptos Display"/>
              </a:defRPr>
            </a:pPr>
            <a:r>
              <a:rPr sz="2850" b="1">
                <a:solidFill>
                  <a:srgbClr val="FFFFFF"/>
                </a:solidFill>
                <a:latin typeface="Aptos Display"/>
                <a:ea typeface="Aptos Display"/>
                <a:cs typeface="Aptos Display"/>
              </a:rPr>
              <a:t>Write one atomic obligation from agreed technical facts.</a:t>
            </a:r>
          </a:p>
        </p:txBody>
      </p:sp>
      <p:sp>
        <p:nvSpPr>
          <p:cNvPr id="5" name="">
            <a:extLst xmlns:a="http://schemas.openxmlformats.org/drawingml/2006/main">
              <a:ext uri="{FF2B5EF4-FFF2-40B4-BE49-F238E27FC236}">
                <a16:creationId xmlns:a16="http://schemas.microsoft.com/office/drawing/2014/main" id="{2D5F1BF4-50B4-4D03-BDFB-EE5D8BFEF057}"/>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46616F"/>
          </a:solidFill>
          <a:ln xmlns:a="http://schemas.openxmlformats.org/drawingml/2006/main" w="9525">
            <a:solidFill>
              <a:srgbClr val="46616F"/>
            </a:solidFill>
            <a:prstDash val="solid"/>
          </a:ln>
        </p:spPr>
      </p:sp>
      <p:sp>
        <p:nvSpPr>
          <p:cNvPr id="6" name="">
            <a:extLst xmlns:a="http://schemas.openxmlformats.org/drawingml/2006/main">
              <a:ext uri="{FF2B5EF4-FFF2-40B4-BE49-F238E27FC236}">
                <a16:creationId xmlns:a16="http://schemas.microsoft.com/office/drawing/2014/main" id="{33514CBA-212C-4DD6-87E7-8B8A8E96AA00}"/>
              </a:ext>
            </a:extLst>
          </p:cNvPr>
          <p:cNvSpPr>
            <a:spLocks xmlns:a="http://schemas.openxmlformats.org/drawingml/2006/main" noGrp="1"/>
          </p:cNvSpPr>
          <p:nvPr/>
        </p:nvSpPr>
        <p:spPr>
          <a:xfrm xmlns:a="http://schemas.openxmlformats.org/drawingml/2006/main">
            <a:off x="4572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C9D8DC"/>
                </a:solidFill>
                <a:latin typeface="Aptos"/>
                <a:ea typeface="Aptos"/>
                <a:cs typeface="Aptos"/>
              </a:defRPr>
            </a:pPr>
            <a:r>
              <a:rPr sz="750" b="1">
                <a:solidFill>
                  <a:srgbClr val="C9D8DC"/>
                </a:solidFill>
                <a:latin typeface="Aptos"/>
                <a:ea typeface="Aptos"/>
                <a:cs typeface="Aptos"/>
              </a:rPr>
              <a:t>SESSION 2</a:t>
            </a:r>
          </a:p>
        </p:txBody>
      </p:sp>
      <p:sp>
        <p:nvSpPr>
          <p:cNvPr id="7" name="">
            <a:extLst xmlns:a="http://schemas.openxmlformats.org/drawingml/2006/main">
              <a:ext uri="{FF2B5EF4-FFF2-40B4-BE49-F238E27FC236}">
                <a16:creationId xmlns:a16="http://schemas.microsoft.com/office/drawing/2014/main" id="{9D3B69A7-7F66-4513-AB76-B38A0ADB18D8}"/>
              </a:ext>
            </a:extLst>
          </p:cNvPr>
          <p:cNvSpPr>
            <a:spLocks xmlns:a="http://schemas.openxmlformats.org/drawingml/2006/main" noGrp="1"/>
          </p:cNvSpPr>
          <p:nvPr/>
        </p:nvSpPr>
        <p:spPr>
          <a:xfrm xmlns:a="http://schemas.openxmlformats.org/drawingml/2006/main">
            <a:off x="11144250" y="6515100"/>
            <a:ext cx="590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C9D8DC"/>
                </a:solidFill>
                <a:latin typeface="Aptos"/>
                <a:ea typeface="Aptos"/>
                <a:cs typeface="Aptos"/>
              </a:defRPr>
            </a:pPr>
            <a:r>
              <a:rPr sz="825" b="1">
                <a:solidFill>
                  <a:srgbClr val="C9D8DC"/>
                </a:solidFill>
                <a:latin typeface="Aptos"/>
                <a:ea typeface="Aptos"/>
                <a:cs typeface="Aptos"/>
              </a:rPr>
              <a:t>13</a:t>
            </a:r>
          </a:p>
        </p:txBody>
      </p:sp>
      <p:sp>
        <p:nvSpPr>
          <p:cNvPr id="8" name="">
            <a:extLst xmlns:a="http://schemas.openxmlformats.org/drawingml/2006/main">
              <a:ext uri="{FF2B5EF4-FFF2-40B4-BE49-F238E27FC236}">
                <a16:creationId xmlns:a16="http://schemas.microsoft.com/office/drawing/2014/main" id="{75377C68-927A-426C-A059-66E606650CD7}"/>
              </a:ext>
            </a:extLst>
          </p:cNvPr>
          <p:cNvSpPr>
            <a:spLocks xmlns:a="http://schemas.openxmlformats.org/drawingml/2006/main" noGrp="1"/>
          </p:cNvSpPr>
          <p:nvPr/>
        </p:nvSpPr>
        <p:spPr>
          <a:xfrm xmlns:a="http://schemas.openxmlformats.org/drawingml/2006/main">
            <a:off x="590550" y="1676400"/>
            <a:ext cx="3524250" cy="933450"/>
          </a:xfrm>
          <a:prstGeom xmlns:a="http://schemas.openxmlformats.org/drawingml/2006/main" prst="roundRect">
            <a:avLst>
              <a:gd name="adj" fmla="val 8163"/>
            </a:avLst>
          </a:prstGeom>
          <a:solidFill xmlns:a="http://schemas.openxmlformats.org/drawingml/2006/main">
            <a:srgbClr val="102A36"/>
          </a:solidFill>
          <a:ln xmlns:a="http://schemas.openxmlformats.org/drawingml/2006/main" w="9525">
            <a:solidFill>
              <a:srgbClr val="2EC4D6"/>
            </a:solidFill>
            <a:prstDash val="solid"/>
          </a:ln>
        </p:spPr>
      </p:sp>
      <p:sp>
        <p:nvSpPr>
          <p:cNvPr id="9" name="">
            <a:extLst xmlns:a="http://schemas.openxmlformats.org/drawingml/2006/main">
              <a:ext uri="{FF2B5EF4-FFF2-40B4-BE49-F238E27FC236}">
                <a16:creationId xmlns:a16="http://schemas.microsoft.com/office/drawing/2014/main" id="{3D3B3665-6F40-46D7-B119-74944F4B7C4D}"/>
              </a:ext>
            </a:extLst>
          </p:cNvPr>
          <p:cNvSpPr>
            <a:spLocks xmlns:a="http://schemas.openxmlformats.org/drawingml/2006/main" noGrp="1"/>
          </p:cNvSpPr>
          <p:nvPr/>
        </p:nvSpPr>
        <p:spPr>
          <a:xfrm xmlns:a="http://schemas.openxmlformats.org/drawingml/2006/main">
            <a:off x="762000" y="1828800"/>
            <a:ext cx="895350" cy="285750"/>
          </a:xfrm>
          <a:prstGeom xmlns:a="http://schemas.openxmlformats.org/drawingml/2006/main" prst="roundRect">
            <a:avLst>
              <a:gd name="adj" fmla="val 26667"/>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00BD1423-B839-4709-8A7C-F9E5CFDFBE4E}"/>
              </a:ext>
            </a:extLst>
          </p:cNvPr>
          <p:cNvSpPr>
            <a:spLocks xmlns:a="http://schemas.openxmlformats.org/drawingml/2006/main" noGrp="1"/>
          </p:cNvSpPr>
          <p:nvPr/>
        </p:nvSpPr>
        <p:spPr>
          <a:xfrm xmlns:a="http://schemas.openxmlformats.org/drawingml/2006/main">
            <a:off x="857250" y="1876425"/>
            <a:ext cx="704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071821"/>
                </a:solidFill>
                <a:latin typeface="Aptos"/>
                <a:ea typeface="Aptos"/>
                <a:cs typeface="Aptos"/>
              </a:defRPr>
            </a:pPr>
            <a:r>
              <a:rPr sz="900" b="1">
                <a:solidFill>
                  <a:srgbClr val="071821"/>
                </a:solidFill>
                <a:latin typeface="Aptos"/>
                <a:ea typeface="Aptos"/>
                <a:cs typeface="Aptos"/>
              </a:rPr>
              <a:t>MODE</a:t>
            </a:r>
          </a:p>
        </p:txBody>
      </p:sp>
      <p:sp>
        <p:nvSpPr>
          <p:cNvPr id="11" name="">
            <a:extLst xmlns:a="http://schemas.openxmlformats.org/drawingml/2006/main">
              <a:ext uri="{FF2B5EF4-FFF2-40B4-BE49-F238E27FC236}">
                <a16:creationId xmlns:a16="http://schemas.microsoft.com/office/drawing/2014/main" id="{786D5B4B-1ACA-408C-8168-5D7CF943130D}"/>
              </a:ext>
            </a:extLst>
          </p:cNvPr>
          <p:cNvSpPr>
            <a:spLocks xmlns:a="http://schemas.openxmlformats.org/drawingml/2006/main" noGrp="1"/>
          </p:cNvSpPr>
          <p:nvPr/>
        </p:nvSpPr>
        <p:spPr>
          <a:xfrm xmlns:a="http://schemas.openxmlformats.org/drawingml/2006/main">
            <a:off x="1790700" y="1847850"/>
            <a:ext cx="21145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FFFFFF"/>
                </a:solidFill>
                <a:latin typeface="Aptos"/>
                <a:ea typeface="Aptos"/>
                <a:cs typeface="Aptos"/>
              </a:defRPr>
            </a:pPr>
            <a:r>
              <a:rPr sz="1200" b="1">
                <a:solidFill>
                  <a:srgbClr val="FFFFFF"/>
                </a:solidFill>
                <a:latin typeface="Aptos"/>
                <a:ea typeface="Aptos"/>
                <a:cs typeface="Aptos"/>
              </a:rPr>
              <a:t>Applies in Normal Mode</a:t>
            </a:r>
          </a:p>
        </p:txBody>
      </p:sp>
      <p:sp>
        <p:nvSpPr>
          <p:cNvPr id="12" name="">
            <a:extLst xmlns:a="http://schemas.openxmlformats.org/drawingml/2006/main">
              <a:ext uri="{FF2B5EF4-FFF2-40B4-BE49-F238E27FC236}">
                <a16:creationId xmlns:a16="http://schemas.microsoft.com/office/drawing/2014/main" id="{AA6FD53F-7381-4D01-9D31-A57E2781F16F}"/>
              </a:ext>
            </a:extLst>
          </p:cNvPr>
          <p:cNvSpPr>
            <a:spLocks xmlns:a="http://schemas.openxmlformats.org/drawingml/2006/main" noGrp="1"/>
          </p:cNvSpPr>
          <p:nvPr/>
        </p:nvSpPr>
        <p:spPr>
          <a:xfrm xmlns:a="http://schemas.openxmlformats.org/drawingml/2006/main">
            <a:off x="4400550" y="1676400"/>
            <a:ext cx="3524250" cy="933450"/>
          </a:xfrm>
          <a:prstGeom xmlns:a="http://schemas.openxmlformats.org/drawingml/2006/main" prst="roundRect">
            <a:avLst>
              <a:gd name="adj" fmla="val 8163"/>
            </a:avLst>
          </a:prstGeom>
          <a:solidFill xmlns:a="http://schemas.openxmlformats.org/drawingml/2006/main">
            <a:srgbClr val="102A36"/>
          </a:solidFill>
          <a:ln xmlns:a="http://schemas.openxmlformats.org/drawingml/2006/main" w="9525">
            <a:solidFill>
              <a:srgbClr val="2EC4D6"/>
            </a:solidFill>
            <a:prstDash val="solid"/>
          </a:ln>
        </p:spPr>
      </p:sp>
      <p:sp>
        <p:nvSpPr>
          <p:cNvPr id="13" name="">
            <a:extLst xmlns:a="http://schemas.openxmlformats.org/drawingml/2006/main">
              <a:ext uri="{FF2B5EF4-FFF2-40B4-BE49-F238E27FC236}">
                <a16:creationId xmlns:a16="http://schemas.microsoft.com/office/drawing/2014/main" id="{9F808172-93E2-4F3A-A146-9F784305C7CF}"/>
              </a:ext>
            </a:extLst>
          </p:cNvPr>
          <p:cNvSpPr>
            <a:spLocks xmlns:a="http://schemas.openxmlformats.org/drawingml/2006/main" noGrp="1"/>
          </p:cNvSpPr>
          <p:nvPr/>
        </p:nvSpPr>
        <p:spPr>
          <a:xfrm xmlns:a="http://schemas.openxmlformats.org/drawingml/2006/main">
            <a:off x="4572000" y="1828800"/>
            <a:ext cx="895350" cy="285750"/>
          </a:xfrm>
          <a:prstGeom xmlns:a="http://schemas.openxmlformats.org/drawingml/2006/main" prst="roundRect">
            <a:avLst>
              <a:gd name="adj" fmla="val 26667"/>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054EAD42-DFFD-4981-AA03-C4EF0C7AE90E}"/>
              </a:ext>
            </a:extLst>
          </p:cNvPr>
          <p:cNvSpPr>
            <a:spLocks xmlns:a="http://schemas.openxmlformats.org/drawingml/2006/main" noGrp="1"/>
          </p:cNvSpPr>
          <p:nvPr/>
        </p:nvSpPr>
        <p:spPr>
          <a:xfrm xmlns:a="http://schemas.openxmlformats.org/drawingml/2006/main">
            <a:off x="4667250" y="1876425"/>
            <a:ext cx="704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071821"/>
                </a:solidFill>
                <a:latin typeface="Aptos"/>
                <a:ea typeface="Aptos"/>
                <a:cs typeface="Aptos"/>
              </a:defRPr>
            </a:pPr>
            <a:r>
              <a:rPr sz="900" b="1">
                <a:solidFill>
                  <a:srgbClr val="071821"/>
                </a:solidFill>
                <a:latin typeface="Aptos"/>
                <a:ea typeface="Aptos"/>
                <a:cs typeface="Aptos"/>
              </a:rPr>
              <a:t>DATA</a:t>
            </a:r>
          </a:p>
        </p:txBody>
      </p:sp>
      <p:sp>
        <p:nvSpPr>
          <p:cNvPr id="15" name="">
            <a:extLst xmlns:a="http://schemas.openxmlformats.org/drawingml/2006/main">
              <a:ext uri="{FF2B5EF4-FFF2-40B4-BE49-F238E27FC236}">
                <a16:creationId xmlns:a16="http://schemas.microsoft.com/office/drawing/2014/main" id="{29CD1A7E-B104-4B76-94B6-2008747EBBCA}"/>
              </a:ext>
            </a:extLst>
          </p:cNvPr>
          <p:cNvSpPr>
            <a:spLocks xmlns:a="http://schemas.openxmlformats.org/drawingml/2006/main" noGrp="1"/>
          </p:cNvSpPr>
          <p:nvPr/>
        </p:nvSpPr>
        <p:spPr>
          <a:xfrm xmlns:a="http://schemas.openxmlformats.org/drawingml/2006/main">
            <a:off x="5600700" y="1847850"/>
            <a:ext cx="21145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FFFFFF"/>
                </a:solidFill>
                <a:latin typeface="Aptos"/>
                <a:ea typeface="Aptos"/>
                <a:cs typeface="Aptos"/>
              </a:defRPr>
            </a:pPr>
            <a:r>
              <a:rPr sz="1200" b="1">
                <a:solidFill>
                  <a:srgbClr val="FFFFFF"/>
                </a:solidFill>
                <a:latin typeface="Aptos"/>
                <a:ea typeface="Aptos"/>
                <a:cs typeface="Aptos"/>
              </a:rPr>
              <a:t>Valid battery state-of-charge samples arrive at 1 Hz</a:t>
            </a:r>
          </a:p>
        </p:txBody>
      </p:sp>
      <p:sp>
        <p:nvSpPr>
          <p:cNvPr id="16" name="">
            <a:extLst xmlns:a="http://schemas.openxmlformats.org/drawingml/2006/main">
              <a:ext uri="{FF2B5EF4-FFF2-40B4-BE49-F238E27FC236}">
                <a16:creationId xmlns:a16="http://schemas.microsoft.com/office/drawing/2014/main" id="{29A356BC-51A5-405E-9120-59830C041F99}"/>
              </a:ext>
            </a:extLst>
          </p:cNvPr>
          <p:cNvSpPr>
            <a:spLocks xmlns:a="http://schemas.openxmlformats.org/drawingml/2006/main" noGrp="1"/>
          </p:cNvSpPr>
          <p:nvPr/>
        </p:nvSpPr>
        <p:spPr>
          <a:xfrm xmlns:a="http://schemas.openxmlformats.org/drawingml/2006/main">
            <a:off x="8210550" y="1676400"/>
            <a:ext cx="3524250" cy="933450"/>
          </a:xfrm>
          <a:prstGeom xmlns:a="http://schemas.openxmlformats.org/drawingml/2006/main" prst="roundRect">
            <a:avLst>
              <a:gd name="adj" fmla="val 8163"/>
            </a:avLst>
          </a:prstGeom>
          <a:solidFill xmlns:a="http://schemas.openxmlformats.org/drawingml/2006/main">
            <a:srgbClr val="102A36"/>
          </a:solidFill>
          <a:ln xmlns:a="http://schemas.openxmlformats.org/drawingml/2006/main" w="9525">
            <a:solidFill>
              <a:srgbClr val="2EC4D6"/>
            </a:solidFill>
            <a:prstDash val="solid"/>
          </a:ln>
        </p:spPr>
      </p:sp>
      <p:sp>
        <p:nvSpPr>
          <p:cNvPr id="17" name="">
            <a:extLst xmlns:a="http://schemas.openxmlformats.org/drawingml/2006/main">
              <a:ext uri="{FF2B5EF4-FFF2-40B4-BE49-F238E27FC236}">
                <a16:creationId xmlns:a16="http://schemas.microsoft.com/office/drawing/2014/main" id="{537F3BD7-7CDD-43D2-8F54-DFB8DFAF392E}"/>
              </a:ext>
            </a:extLst>
          </p:cNvPr>
          <p:cNvSpPr>
            <a:spLocks xmlns:a="http://schemas.openxmlformats.org/drawingml/2006/main" noGrp="1"/>
          </p:cNvSpPr>
          <p:nvPr/>
        </p:nvSpPr>
        <p:spPr>
          <a:xfrm xmlns:a="http://schemas.openxmlformats.org/drawingml/2006/main">
            <a:off x="8382000" y="1828800"/>
            <a:ext cx="895350" cy="285750"/>
          </a:xfrm>
          <a:prstGeom xmlns:a="http://schemas.openxmlformats.org/drawingml/2006/main" prst="roundRect">
            <a:avLst>
              <a:gd name="adj" fmla="val 26667"/>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B738E776-399B-4BE6-A929-D00A7E374D20}"/>
              </a:ext>
            </a:extLst>
          </p:cNvPr>
          <p:cNvSpPr>
            <a:spLocks xmlns:a="http://schemas.openxmlformats.org/drawingml/2006/main" noGrp="1"/>
          </p:cNvSpPr>
          <p:nvPr/>
        </p:nvSpPr>
        <p:spPr>
          <a:xfrm xmlns:a="http://schemas.openxmlformats.org/drawingml/2006/main">
            <a:off x="8477250" y="1876425"/>
            <a:ext cx="704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071821"/>
                </a:solidFill>
                <a:latin typeface="Aptos"/>
                <a:ea typeface="Aptos"/>
                <a:cs typeface="Aptos"/>
              </a:defRPr>
            </a:pPr>
            <a:r>
              <a:rPr sz="900" b="1">
                <a:solidFill>
                  <a:srgbClr val="071821"/>
                </a:solidFill>
                <a:latin typeface="Aptos"/>
                <a:ea typeface="Aptos"/>
                <a:cs typeface="Aptos"/>
              </a:rPr>
              <a:t>TRIGGER</a:t>
            </a:r>
          </a:p>
        </p:txBody>
      </p:sp>
      <p:sp>
        <p:nvSpPr>
          <p:cNvPr id="19" name="">
            <a:extLst xmlns:a="http://schemas.openxmlformats.org/drawingml/2006/main">
              <a:ext uri="{FF2B5EF4-FFF2-40B4-BE49-F238E27FC236}">
                <a16:creationId xmlns:a16="http://schemas.microsoft.com/office/drawing/2014/main" id="{251738B2-799A-4A14-BEED-AB82CFD86AF7}"/>
              </a:ext>
            </a:extLst>
          </p:cNvPr>
          <p:cNvSpPr>
            <a:spLocks xmlns:a="http://schemas.openxmlformats.org/drawingml/2006/main" noGrp="1"/>
          </p:cNvSpPr>
          <p:nvPr/>
        </p:nvSpPr>
        <p:spPr>
          <a:xfrm xmlns:a="http://schemas.openxmlformats.org/drawingml/2006/main">
            <a:off x="9410700" y="1847850"/>
            <a:ext cx="21145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FFFFFF"/>
                </a:solidFill>
                <a:latin typeface="Aptos"/>
                <a:ea typeface="Aptos"/>
                <a:cs typeface="Aptos"/>
              </a:defRPr>
            </a:pPr>
            <a:r>
              <a:rPr sz="1200" b="1">
                <a:solidFill>
                  <a:srgbClr val="FFFFFF"/>
                </a:solidFill>
                <a:latin typeface="Aptos"/>
                <a:ea typeface="Aptos"/>
                <a:cs typeface="Aptos"/>
              </a:rPr>
              <a:t>Three consecutive samples at or below 25 percent</a:t>
            </a:r>
          </a:p>
        </p:txBody>
      </p:sp>
      <p:sp>
        <p:nvSpPr>
          <p:cNvPr id="20" name="">
            <a:extLst xmlns:a="http://schemas.openxmlformats.org/drawingml/2006/main">
              <a:ext uri="{FF2B5EF4-FFF2-40B4-BE49-F238E27FC236}">
                <a16:creationId xmlns:a16="http://schemas.microsoft.com/office/drawing/2014/main" id="{F2F10FC6-34A0-49B3-B7DF-FF6A49F58F2E}"/>
              </a:ext>
            </a:extLst>
          </p:cNvPr>
          <p:cNvSpPr>
            <a:spLocks xmlns:a="http://schemas.openxmlformats.org/drawingml/2006/main" noGrp="1"/>
          </p:cNvSpPr>
          <p:nvPr/>
        </p:nvSpPr>
        <p:spPr>
          <a:xfrm xmlns:a="http://schemas.openxmlformats.org/drawingml/2006/main">
            <a:off x="590550" y="2876550"/>
            <a:ext cx="3524250" cy="933450"/>
          </a:xfrm>
          <a:prstGeom xmlns:a="http://schemas.openxmlformats.org/drawingml/2006/main" prst="roundRect">
            <a:avLst>
              <a:gd name="adj" fmla="val 8163"/>
            </a:avLst>
          </a:prstGeom>
          <a:solidFill xmlns:a="http://schemas.openxmlformats.org/drawingml/2006/main">
            <a:srgbClr val="102A36"/>
          </a:solidFill>
          <a:ln xmlns:a="http://schemas.openxmlformats.org/drawingml/2006/main" w="9525">
            <a:solidFill>
              <a:srgbClr val="2EC4D6"/>
            </a:solidFill>
            <a:prstDash val="solid"/>
          </a:ln>
        </p:spPr>
      </p:sp>
      <p:sp>
        <p:nvSpPr>
          <p:cNvPr id="21" name="">
            <a:extLst xmlns:a="http://schemas.openxmlformats.org/drawingml/2006/main">
              <a:ext uri="{FF2B5EF4-FFF2-40B4-BE49-F238E27FC236}">
                <a16:creationId xmlns:a16="http://schemas.microsoft.com/office/drawing/2014/main" id="{033C067D-9CDB-42B7-BA1F-601944FD20EF}"/>
              </a:ext>
            </a:extLst>
          </p:cNvPr>
          <p:cNvSpPr>
            <a:spLocks xmlns:a="http://schemas.openxmlformats.org/drawingml/2006/main" noGrp="1"/>
          </p:cNvSpPr>
          <p:nvPr/>
        </p:nvSpPr>
        <p:spPr>
          <a:xfrm xmlns:a="http://schemas.openxmlformats.org/drawingml/2006/main">
            <a:off x="762000" y="3028950"/>
            <a:ext cx="895350" cy="285750"/>
          </a:xfrm>
          <a:prstGeom xmlns:a="http://schemas.openxmlformats.org/drawingml/2006/main" prst="roundRect">
            <a:avLst>
              <a:gd name="adj" fmla="val 26667"/>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AC901A2E-AEAB-438A-B687-AD1F3506606C}"/>
              </a:ext>
            </a:extLst>
          </p:cNvPr>
          <p:cNvSpPr>
            <a:spLocks xmlns:a="http://schemas.openxmlformats.org/drawingml/2006/main" noGrp="1"/>
          </p:cNvSpPr>
          <p:nvPr/>
        </p:nvSpPr>
        <p:spPr>
          <a:xfrm xmlns:a="http://schemas.openxmlformats.org/drawingml/2006/main">
            <a:off x="857250" y="3076575"/>
            <a:ext cx="704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071821"/>
                </a:solidFill>
                <a:latin typeface="Aptos"/>
                <a:ea typeface="Aptos"/>
                <a:cs typeface="Aptos"/>
              </a:defRPr>
            </a:pPr>
            <a:r>
              <a:rPr sz="900" b="1">
                <a:solidFill>
                  <a:srgbClr val="071821"/>
                </a:solidFill>
                <a:latin typeface="Aptos"/>
                <a:ea typeface="Aptos"/>
                <a:cs typeface="Aptos"/>
              </a:rPr>
              <a:t>OWNER</a:t>
            </a:r>
          </a:p>
        </p:txBody>
      </p:sp>
      <p:sp>
        <p:nvSpPr>
          <p:cNvPr id="23" name="">
            <a:extLst xmlns:a="http://schemas.openxmlformats.org/drawingml/2006/main">
              <a:ext uri="{FF2B5EF4-FFF2-40B4-BE49-F238E27FC236}">
                <a16:creationId xmlns:a16="http://schemas.microsoft.com/office/drawing/2014/main" id="{CF56FDA7-EB75-4656-84AD-E27ECACC1AAE}"/>
              </a:ext>
            </a:extLst>
          </p:cNvPr>
          <p:cNvSpPr>
            <a:spLocks xmlns:a="http://schemas.openxmlformats.org/drawingml/2006/main" noGrp="1"/>
          </p:cNvSpPr>
          <p:nvPr/>
        </p:nvSpPr>
        <p:spPr>
          <a:xfrm xmlns:a="http://schemas.openxmlformats.org/drawingml/2006/main">
            <a:off x="1790700" y="3048000"/>
            <a:ext cx="21145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FFFFFF"/>
                </a:solidFill>
                <a:latin typeface="Aptos"/>
                <a:ea typeface="Aptos"/>
                <a:cs typeface="Aptos"/>
              </a:defRPr>
            </a:pPr>
            <a:r>
              <a:rPr sz="1200" b="1">
                <a:solidFill>
                  <a:srgbClr val="FFFFFF"/>
                </a:solidFill>
                <a:latin typeface="Aptos"/>
                <a:ea typeface="Aptos"/>
                <a:cs typeface="Aptos"/>
              </a:rPr>
              <a:t>Power Management application</a:t>
            </a:r>
          </a:p>
        </p:txBody>
      </p:sp>
      <p:sp>
        <p:nvSpPr>
          <p:cNvPr id="24" name="">
            <a:extLst xmlns:a="http://schemas.openxmlformats.org/drawingml/2006/main">
              <a:ext uri="{FF2B5EF4-FFF2-40B4-BE49-F238E27FC236}">
                <a16:creationId xmlns:a16="http://schemas.microsoft.com/office/drawing/2014/main" id="{4F6EA02A-463E-4060-9846-66BEFCCFF884}"/>
              </a:ext>
            </a:extLst>
          </p:cNvPr>
          <p:cNvSpPr>
            <a:spLocks xmlns:a="http://schemas.openxmlformats.org/drawingml/2006/main" noGrp="1"/>
          </p:cNvSpPr>
          <p:nvPr/>
        </p:nvSpPr>
        <p:spPr>
          <a:xfrm xmlns:a="http://schemas.openxmlformats.org/drawingml/2006/main">
            <a:off x="4400550" y="2876550"/>
            <a:ext cx="3524250" cy="933450"/>
          </a:xfrm>
          <a:prstGeom xmlns:a="http://schemas.openxmlformats.org/drawingml/2006/main" prst="roundRect">
            <a:avLst>
              <a:gd name="adj" fmla="val 8163"/>
            </a:avLst>
          </a:prstGeom>
          <a:solidFill xmlns:a="http://schemas.openxmlformats.org/drawingml/2006/main">
            <a:srgbClr val="102A36"/>
          </a:solidFill>
          <a:ln xmlns:a="http://schemas.openxmlformats.org/drawingml/2006/main" w="9525">
            <a:solidFill>
              <a:srgbClr val="2EC4D6"/>
            </a:solidFill>
            <a:prstDash val="solid"/>
          </a:ln>
        </p:spPr>
      </p:sp>
      <p:sp>
        <p:nvSpPr>
          <p:cNvPr id="25" name="">
            <a:extLst xmlns:a="http://schemas.openxmlformats.org/drawingml/2006/main">
              <a:ext uri="{FF2B5EF4-FFF2-40B4-BE49-F238E27FC236}">
                <a16:creationId xmlns:a16="http://schemas.microsoft.com/office/drawing/2014/main" id="{E26076A8-3D53-4283-BD2E-7CA9D88A1258}"/>
              </a:ext>
            </a:extLst>
          </p:cNvPr>
          <p:cNvSpPr>
            <a:spLocks xmlns:a="http://schemas.openxmlformats.org/drawingml/2006/main" noGrp="1"/>
          </p:cNvSpPr>
          <p:nvPr/>
        </p:nvSpPr>
        <p:spPr>
          <a:xfrm xmlns:a="http://schemas.openxmlformats.org/drawingml/2006/main">
            <a:off x="4572000" y="3028950"/>
            <a:ext cx="895350" cy="285750"/>
          </a:xfrm>
          <a:prstGeom xmlns:a="http://schemas.openxmlformats.org/drawingml/2006/main" prst="roundRect">
            <a:avLst>
              <a:gd name="adj" fmla="val 26667"/>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4008E773-D585-41F8-BA06-BA404F616AC0}"/>
              </a:ext>
            </a:extLst>
          </p:cNvPr>
          <p:cNvSpPr>
            <a:spLocks xmlns:a="http://schemas.openxmlformats.org/drawingml/2006/main" noGrp="1"/>
          </p:cNvSpPr>
          <p:nvPr/>
        </p:nvSpPr>
        <p:spPr>
          <a:xfrm xmlns:a="http://schemas.openxmlformats.org/drawingml/2006/main">
            <a:off x="4667250" y="3076575"/>
            <a:ext cx="704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071821"/>
                </a:solidFill>
                <a:latin typeface="Aptos"/>
                <a:ea typeface="Aptos"/>
                <a:cs typeface="Aptos"/>
              </a:defRPr>
            </a:pPr>
            <a:r>
              <a:rPr sz="900" b="1">
                <a:solidFill>
                  <a:srgbClr val="071821"/>
                </a:solidFill>
                <a:latin typeface="Aptos"/>
                <a:ea typeface="Aptos"/>
                <a:cs typeface="Aptos"/>
              </a:rPr>
              <a:t>ACTION</a:t>
            </a:r>
          </a:p>
        </p:txBody>
      </p:sp>
      <p:sp>
        <p:nvSpPr>
          <p:cNvPr id="27" name="">
            <a:extLst xmlns:a="http://schemas.openxmlformats.org/drawingml/2006/main">
              <a:ext uri="{FF2B5EF4-FFF2-40B4-BE49-F238E27FC236}">
                <a16:creationId xmlns:a16="http://schemas.microsoft.com/office/drawing/2014/main" id="{057557B2-F4DA-480D-8B54-71F6C5B88D2E}"/>
              </a:ext>
            </a:extLst>
          </p:cNvPr>
          <p:cNvSpPr>
            <a:spLocks xmlns:a="http://schemas.openxmlformats.org/drawingml/2006/main" noGrp="1"/>
          </p:cNvSpPr>
          <p:nvPr/>
        </p:nvSpPr>
        <p:spPr>
          <a:xfrm xmlns:a="http://schemas.openxmlformats.org/drawingml/2006/main">
            <a:off x="5600700" y="3048000"/>
            <a:ext cx="21145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FFFFFF"/>
                </a:solidFill>
                <a:latin typeface="Aptos"/>
                <a:ea typeface="Aptos"/>
                <a:cs typeface="Aptos"/>
              </a:defRPr>
            </a:pPr>
            <a:r>
              <a:rPr sz="1200" b="1">
                <a:solidFill>
                  <a:srgbClr val="FFFFFF"/>
                </a:solidFill>
                <a:latin typeface="Aptos"/>
                <a:ea typeface="Aptos"/>
                <a:cs typeface="Aptos"/>
              </a:rPr>
              <a:t>Issue a Low-Power Mode transition request</a:t>
            </a:r>
          </a:p>
        </p:txBody>
      </p:sp>
      <p:sp>
        <p:nvSpPr>
          <p:cNvPr id="28" name="">
            <a:extLst xmlns:a="http://schemas.openxmlformats.org/drawingml/2006/main">
              <a:ext uri="{FF2B5EF4-FFF2-40B4-BE49-F238E27FC236}">
                <a16:creationId xmlns:a16="http://schemas.microsoft.com/office/drawing/2014/main" id="{541182A3-CD21-4045-AB2A-51694577A78B}"/>
              </a:ext>
            </a:extLst>
          </p:cNvPr>
          <p:cNvSpPr>
            <a:spLocks xmlns:a="http://schemas.openxmlformats.org/drawingml/2006/main" noGrp="1"/>
          </p:cNvSpPr>
          <p:nvPr/>
        </p:nvSpPr>
        <p:spPr>
          <a:xfrm xmlns:a="http://schemas.openxmlformats.org/drawingml/2006/main">
            <a:off x="8210550" y="2876550"/>
            <a:ext cx="3524250" cy="933450"/>
          </a:xfrm>
          <a:prstGeom xmlns:a="http://schemas.openxmlformats.org/drawingml/2006/main" prst="roundRect">
            <a:avLst>
              <a:gd name="adj" fmla="val 8163"/>
            </a:avLst>
          </a:prstGeom>
          <a:solidFill xmlns:a="http://schemas.openxmlformats.org/drawingml/2006/main">
            <a:srgbClr val="102A36"/>
          </a:solidFill>
          <a:ln xmlns:a="http://schemas.openxmlformats.org/drawingml/2006/main" w="9525">
            <a:solidFill>
              <a:srgbClr val="FF9F43"/>
            </a:solidFill>
            <a:prstDash val="solid"/>
          </a:ln>
        </p:spPr>
      </p:sp>
      <p:sp>
        <p:nvSpPr>
          <p:cNvPr id="29" name="">
            <a:extLst xmlns:a="http://schemas.openxmlformats.org/drawingml/2006/main">
              <a:ext uri="{FF2B5EF4-FFF2-40B4-BE49-F238E27FC236}">
                <a16:creationId xmlns:a16="http://schemas.microsoft.com/office/drawing/2014/main" id="{374BC04F-F769-44B5-A2CF-D667582FF7DD}"/>
              </a:ext>
            </a:extLst>
          </p:cNvPr>
          <p:cNvSpPr>
            <a:spLocks xmlns:a="http://schemas.openxmlformats.org/drawingml/2006/main" noGrp="1"/>
          </p:cNvSpPr>
          <p:nvPr/>
        </p:nvSpPr>
        <p:spPr>
          <a:xfrm xmlns:a="http://schemas.openxmlformats.org/drawingml/2006/main">
            <a:off x="8382000" y="3028950"/>
            <a:ext cx="895350" cy="285750"/>
          </a:xfrm>
          <a:prstGeom xmlns:a="http://schemas.openxmlformats.org/drawingml/2006/main" prst="roundRect">
            <a:avLst>
              <a:gd name="adj" fmla="val 26667"/>
            </a:avLst>
          </a:prstGeom>
          <a:solidFill xmlns:a="http://schemas.openxmlformats.org/drawingml/2006/main">
            <a:srgbClr val="FF9F43"/>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B29CCE93-2AF4-41B1-9A96-670FA046F45E}"/>
              </a:ext>
            </a:extLst>
          </p:cNvPr>
          <p:cNvSpPr>
            <a:spLocks xmlns:a="http://schemas.openxmlformats.org/drawingml/2006/main" noGrp="1"/>
          </p:cNvSpPr>
          <p:nvPr/>
        </p:nvSpPr>
        <p:spPr>
          <a:xfrm xmlns:a="http://schemas.openxmlformats.org/drawingml/2006/main">
            <a:off x="8477250" y="3076575"/>
            <a:ext cx="704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071821"/>
                </a:solidFill>
                <a:latin typeface="Aptos"/>
                <a:ea typeface="Aptos"/>
                <a:cs typeface="Aptos"/>
              </a:defRPr>
            </a:pPr>
            <a:r>
              <a:rPr sz="900" b="1">
                <a:solidFill>
                  <a:srgbClr val="071821"/>
                </a:solidFill>
                <a:latin typeface="Aptos"/>
                <a:ea typeface="Aptos"/>
                <a:cs typeface="Aptos"/>
              </a:rPr>
              <a:t>DEADLINE</a:t>
            </a:r>
          </a:p>
        </p:txBody>
      </p:sp>
      <p:sp>
        <p:nvSpPr>
          <p:cNvPr id="31" name="">
            <a:extLst xmlns:a="http://schemas.openxmlformats.org/drawingml/2006/main">
              <a:ext uri="{FF2B5EF4-FFF2-40B4-BE49-F238E27FC236}">
                <a16:creationId xmlns:a16="http://schemas.microsoft.com/office/drawing/2014/main" id="{E8935506-60A6-4401-9F10-31E6EDFF99B9}"/>
              </a:ext>
            </a:extLst>
          </p:cNvPr>
          <p:cNvSpPr>
            <a:spLocks xmlns:a="http://schemas.openxmlformats.org/drawingml/2006/main" noGrp="1"/>
          </p:cNvSpPr>
          <p:nvPr/>
        </p:nvSpPr>
        <p:spPr>
          <a:xfrm xmlns:a="http://schemas.openxmlformats.org/drawingml/2006/main">
            <a:off x="9410700" y="3048000"/>
            <a:ext cx="21145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FFFFFF"/>
                </a:solidFill>
                <a:latin typeface="Aptos"/>
                <a:ea typeface="Aptos"/>
                <a:cs typeface="Aptos"/>
              </a:defRPr>
            </a:pPr>
            <a:r>
              <a:rPr sz="1200" b="1">
                <a:solidFill>
                  <a:srgbClr val="FFFFFF"/>
                </a:solidFill>
                <a:latin typeface="Aptos"/>
                <a:ea typeface="Aptos"/>
                <a:cs typeface="Aptos"/>
              </a:rPr>
              <a:t>Within 2 seconds of the third qualifying sample</a:t>
            </a:r>
          </a:p>
        </p:txBody>
      </p:sp>
      <p:sp>
        <p:nvSpPr>
          <p:cNvPr id="32" name="">
            <a:extLst xmlns:a="http://schemas.openxmlformats.org/drawingml/2006/main">
              <a:ext uri="{FF2B5EF4-FFF2-40B4-BE49-F238E27FC236}">
                <a16:creationId xmlns:a16="http://schemas.microsoft.com/office/drawing/2014/main" id="{D5A331C4-4FAF-4469-85B7-0112386687F5}"/>
              </a:ext>
            </a:extLst>
          </p:cNvPr>
          <p:cNvSpPr>
            <a:spLocks xmlns:a="http://schemas.openxmlformats.org/drawingml/2006/main" noGrp="1"/>
          </p:cNvSpPr>
          <p:nvPr/>
        </p:nvSpPr>
        <p:spPr>
          <a:xfrm xmlns:a="http://schemas.openxmlformats.org/drawingml/2006/main">
            <a:off x="1428750" y="4362450"/>
            <a:ext cx="9334500" cy="952500"/>
          </a:xfrm>
          <a:prstGeom xmlns:a="http://schemas.openxmlformats.org/drawingml/2006/main" prst="roundRect">
            <a:avLst>
              <a:gd name="adj" fmla="val 8000"/>
            </a:avLst>
          </a:prstGeom>
          <a:solidFill xmlns:a="http://schemas.openxmlformats.org/drawingml/2006/main">
            <a:srgbClr val="3B2A18"/>
          </a:solidFill>
          <a:ln xmlns:a="http://schemas.openxmlformats.org/drawingml/2006/main" w="14288">
            <a:solidFill>
              <a:srgbClr val="FF9F43"/>
            </a:solidFill>
            <a:prstDash val="solid"/>
          </a:ln>
        </p:spPr>
      </p:sp>
      <p:sp>
        <p:nvSpPr>
          <p:cNvPr id="33" name="">
            <a:extLst xmlns:a="http://schemas.openxmlformats.org/drawingml/2006/main">
              <a:ext uri="{FF2B5EF4-FFF2-40B4-BE49-F238E27FC236}">
                <a16:creationId xmlns:a16="http://schemas.microsoft.com/office/drawing/2014/main" id="{A3EC34D4-7815-4E94-8CB2-4292254B91C2}"/>
              </a:ext>
            </a:extLst>
          </p:cNvPr>
          <p:cNvSpPr>
            <a:spLocks xmlns:a="http://schemas.openxmlformats.org/drawingml/2006/main" noGrp="1"/>
          </p:cNvSpPr>
          <p:nvPr/>
        </p:nvSpPr>
        <p:spPr>
          <a:xfrm xmlns:a="http://schemas.openxmlformats.org/drawingml/2006/main">
            <a:off x="1752600" y="4591050"/>
            <a:ext cx="86868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575" b="1">
                <a:solidFill>
                  <a:srgbClr val="FFFFFF"/>
                </a:solidFill>
                <a:latin typeface="Aptos"/>
                <a:ea typeface="Aptos"/>
                <a:cs typeface="Aptos"/>
              </a:defRPr>
            </a:pPr>
            <a:r>
              <a:rPr sz="1575" b="1">
                <a:solidFill>
                  <a:srgbClr val="FFFFFF"/>
                </a:solidFill>
                <a:latin typeface="Aptos"/>
                <a:ea typeface="Aptos"/>
                <a:cs typeface="Aptos"/>
              </a:rPr>
              <a:t>Write the requirement. Then review it for subject, one primary action, defined condition, and measurable bound.</a:t>
            </a:r>
          </a:p>
        </p:txBody>
      </p:sp>
      <p:sp>
        <p:nvSpPr>
          <p:cNvPr id="34" name="">
            <a:extLst xmlns:a="http://schemas.openxmlformats.org/drawingml/2006/main">
              <a:ext uri="{FF2B5EF4-FFF2-40B4-BE49-F238E27FC236}">
                <a16:creationId xmlns:a16="http://schemas.microsoft.com/office/drawing/2014/main" id="{46D03EE4-E7E6-4ACE-AA28-7CF1D19B293E}"/>
              </a:ext>
            </a:extLst>
          </p:cNvPr>
          <p:cNvSpPr>
            <a:spLocks xmlns:a="http://schemas.openxmlformats.org/drawingml/2006/main" noGrp="1"/>
          </p:cNvSpPr>
          <p:nvPr/>
        </p:nvSpPr>
        <p:spPr>
          <a:xfrm xmlns:a="http://schemas.openxmlformats.org/drawingml/2006/main">
            <a:off x="457200" y="5905500"/>
            <a:ext cx="11277600" cy="361950"/>
          </a:xfrm>
          <a:prstGeom xmlns:a="http://schemas.openxmlformats.org/drawingml/2006/main" prst="roundRect">
            <a:avLst>
              <a:gd name="adj" fmla="val 21053"/>
            </a:avLst>
          </a:prstGeom>
          <a:solidFill xmlns:a="http://schemas.openxmlformats.org/drawingml/2006/main">
            <a:srgbClr val="FF9F43"/>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AAC41E0A-7BDD-4BB9-BC7F-01C5B57E8FBC}"/>
              </a:ext>
            </a:extLst>
          </p:cNvPr>
          <p:cNvSpPr>
            <a:spLocks xmlns:a="http://schemas.openxmlformats.org/drawingml/2006/main" noGrp="1"/>
          </p:cNvSpPr>
          <p:nvPr/>
        </p:nvSpPr>
        <p:spPr>
          <a:xfrm xmlns:a="http://schemas.openxmlformats.org/drawingml/2006/main">
            <a:off x="628650" y="5972175"/>
            <a:ext cx="8953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071821"/>
                </a:solidFill>
                <a:latin typeface="Aptos"/>
                <a:ea typeface="Aptos"/>
                <a:cs typeface="Aptos"/>
              </a:defRPr>
            </a:pPr>
            <a:r>
              <a:rPr sz="900" b="1">
                <a:solidFill>
                  <a:srgbClr val="071821"/>
                </a:solidFill>
                <a:latin typeface="Aptos"/>
                <a:ea typeface="Aptos"/>
                <a:cs typeface="Aptos"/>
              </a:rPr>
              <a:t>DISCUSS</a:t>
            </a:r>
          </a:p>
        </p:txBody>
      </p:sp>
      <p:sp>
        <p:nvSpPr>
          <p:cNvPr id="36" name="">
            <a:extLst xmlns:a="http://schemas.openxmlformats.org/drawingml/2006/main">
              <a:ext uri="{FF2B5EF4-FFF2-40B4-BE49-F238E27FC236}">
                <a16:creationId xmlns:a16="http://schemas.microsoft.com/office/drawing/2014/main" id="{1C44C8A5-6AD9-4FAA-A3E1-0FD0AEC971DC}"/>
              </a:ext>
            </a:extLst>
          </p:cNvPr>
          <p:cNvSpPr>
            <a:spLocks xmlns:a="http://schemas.openxmlformats.org/drawingml/2006/main" noGrp="1"/>
          </p:cNvSpPr>
          <p:nvPr/>
        </p:nvSpPr>
        <p:spPr>
          <a:xfrm xmlns:a="http://schemas.openxmlformats.org/drawingml/2006/main">
            <a:off x="1581150" y="5972175"/>
            <a:ext cx="9906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0">
                <a:solidFill>
                  <a:srgbClr val="071821"/>
                </a:solidFill>
                <a:latin typeface="Aptos"/>
                <a:ea typeface="Aptos"/>
                <a:cs typeface="Aptos"/>
              </a:defRPr>
            </a:pPr>
            <a:r>
              <a:rPr sz="1125" b="0">
                <a:solidFill>
                  <a:srgbClr val="071821"/>
                </a:solidFill>
                <a:latin typeface="Aptos"/>
                <a:ea typeface="Aptos"/>
                <a:cs typeface="Aptos"/>
              </a:rPr>
              <a:t>Take 3 minutes. Build one sentence, then let another person review it.</a:t>
            </a:r>
          </a:p>
        </p:txBody>
      </p:sp>
    </p:spTree>
    <p:extLst>
      <p:ext uri="{BB962C8B-B14F-4D97-AF65-F5344CB8AC3E}">
        <p14:creationId xmlns:p14="http://schemas.microsoft.com/office/powerpoint/2010/main" val="57299968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2DADDAB-C23C-4084-9341-8487092CEB0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1E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02AD10D-2E17-4899-8B67-187D1077A0F0}"/>
              </a:ext>
            </a:extLst>
          </p:cNvPr>
          <p:cNvSpPr>
            <a:spLocks xmlns:a="http://schemas.openxmlformats.org/drawingml/2006/main" noGrp="1"/>
          </p:cNvSpPr>
          <p:nvPr/>
        </p:nvSpPr>
        <p:spPr>
          <a:xfrm xmlns:a="http://schemas.openxmlformats.org/drawingml/2006/main">
            <a:off x="457200" y="361950"/>
            <a:ext cx="76200" cy="76200"/>
          </a:xfrm>
          <a:prstGeom xmlns:a="http://schemas.openxmlformats.org/drawingml/2006/main" prst="rect">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3C631EA-F5DF-40DE-BED3-C1C1019C3013}"/>
              </a:ext>
            </a:extLst>
          </p:cNvPr>
          <p:cNvSpPr>
            <a:spLocks xmlns:a="http://schemas.openxmlformats.org/drawingml/2006/main" noGrp="1"/>
          </p:cNvSpPr>
          <p:nvPr/>
        </p:nvSpPr>
        <p:spPr>
          <a:xfrm xmlns:a="http://schemas.openxmlformats.org/drawingml/2006/main">
            <a:off x="64770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46616F"/>
                </a:solidFill>
                <a:latin typeface="Aptos"/>
                <a:ea typeface="Aptos"/>
                <a:cs typeface="Aptos"/>
              </a:defRPr>
            </a:pPr>
            <a:r>
              <a:rPr sz="1050" b="1">
                <a:solidFill>
                  <a:srgbClr val="46616F"/>
                </a:solidFill>
                <a:latin typeface="Aptos"/>
                <a:ea typeface="Aptos"/>
                <a:cs typeface="Aptos"/>
              </a:rPr>
              <a:t>DEBRIEF</a:t>
            </a:r>
          </a:p>
        </p:txBody>
      </p:sp>
      <p:sp>
        <p:nvSpPr>
          <p:cNvPr id="4" name="">
            <a:extLst xmlns:a="http://schemas.openxmlformats.org/drawingml/2006/main">
              <a:ext uri="{FF2B5EF4-FFF2-40B4-BE49-F238E27FC236}">
                <a16:creationId xmlns:a16="http://schemas.microsoft.com/office/drawing/2014/main" id="{4EBA19FF-8099-4545-97EF-D2AB8414F1FE}"/>
              </a:ext>
            </a:extLst>
          </p:cNvPr>
          <p:cNvSpPr>
            <a:spLocks xmlns:a="http://schemas.openxmlformats.org/drawingml/2006/main" noGrp="1"/>
          </p:cNvSpPr>
          <p:nvPr/>
        </p:nvSpPr>
        <p:spPr>
          <a:xfrm xmlns:a="http://schemas.openxmlformats.org/drawingml/2006/main">
            <a:off x="457200" y="666750"/>
            <a:ext cx="11049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850" b="1">
                <a:solidFill>
                  <a:srgbClr val="071821"/>
                </a:solidFill>
                <a:latin typeface="Aptos Display"/>
                <a:ea typeface="Aptos Display"/>
                <a:cs typeface="Aptos Display"/>
              </a:defRPr>
            </a:pPr>
            <a:r>
              <a:rPr sz="2850" b="1">
                <a:solidFill>
                  <a:srgbClr val="071821"/>
                </a:solidFill>
                <a:latin typeface="Aptos Display"/>
                <a:ea typeface="Aptos Display"/>
                <a:cs typeface="Aptos Display"/>
              </a:rPr>
              <a:t>A clear requirement can expose the next decisions without inventing them.</a:t>
            </a:r>
          </a:p>
        </p:txBody>
      </p:sp>
      <p:sp>
        <p:nvSpPr>
          <p:cNvPr id="5" name="">
            <a:extLst xmlns:a="http://schemas.openxmlformats.org/drawingml/2006/main">
              <a:ext uri="{FF2B5EF4-FFF2-40B4-BE49-F238E27FC236}">
                <a16:creationId xmlns:a16="http://schemas.microsoft.com/office/drawing/2014/main" id="{E3D988BA-11E5-4A6B-A721-272C54F2643E}"/>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C9D8DC"/>
          </a:solidFill>
          <a:ln xmlns:a="http://schemas.openxmlformats.org/drawingml/2006/main" w="9525">
            <a:solidFill>
              <a:srgbClr val="C9D8DC"/>
            </a:solidFill>
            <a:prstDash val="solid"/>
          </a:ln>
        </p:spPr>
      </p:sp>
      <p:sp>
        <p:nvSpPr>
          <p:cNvPr id="6" name="">
            <a:extLst xmlns:a="http://schemas.openxmlformats.org/drawingml/2006/main">
              <a:ext uri="{FF2B5EF4-FFF2-40B4-BE49-F238E27FC236}">
                <a16:creationId xmlns:a16="http://schemas.microsoft.com/office/drawing/2014/main" id="{2458B339-B8EE-4989-ACD5-0DF16006A2F4}"/>
              </a:ext>
            </a:extLst>
          </p:cNvPr>
          <p:cNvSpPr>
            <a:spLocks xmlns:a="http://schemas.openxmlformats.org/drawingml/2006/main" noGrp="1"/>
          </p:cNvSpPr>
          <p:nvPr/>
        </p:nvSpPr>
        <p:spPr>
          <a:xfrm xmlns:a="http://schemas.openxmlformats.org/drawingml/2006/main">
            <a:off x="4572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46616F"/>
                </a:solidFill>
                <a:latin typeface="Aptos"/>
                <a:ea typeface="Aptos"/>
                <a:cs typeface="Aptos"/>
              </a:defRPr>
            </a:pPr>
            <a:r>
              <a:rPr sz="750" b="1">
                <a:solidFill>
                  <a:srgbClr val="46616F"/>
                </a:solidFill>
                <a:latin typeface="Aptos"/>
                <a:ea typeface="Aptos"/>
                <a:cs typeface="Aptos"/>
              </a:rPr>
              <a:t>SESSION 2</a:t>
            </a:r>
          </a:p>
        </p:txBody>
      </p:sp>
      <p:sp>
        <p:nvSpPr>
          <p:cNvPr id="7" name="">
            <a:extLst xmlns:a="http://schemas.openxmlformats.org/drawingml/2006/main">
              <a:ext uri="{FF2B5EF4-FFF2-40B4-BE49-F238E27FC236}">
                <a16:creationId xmlns:a16="http://schemas.microsoft.com/office/drawing/2014/main" id="{E6E6E782-B119-466E-AFFA-A8F812987903}"/>
              </a:ext>
            </a:extLst>
          </p:cNvPr>
          <p:cNvSpPr>
            <a:spLocks xmlns:a="http://schemas.openxmlformats.org/drawingml/2006/main" noGrp="1"/>
          </p:cNvSpPr>
          <p:nvPr/>
        </p:nvSpPr>
        <p:spPr>
          <a:xfrm xmlns:a="http://schemas.openxmlformats.org/drawingml/2006/main">
            <a:off x="11144250" y="6515100"/>
            <a:ext cx="590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46616F"/>
                </a:solidFill>
                <a:latin typeface="Aptos"/>
                <a:ea typeface="Aptos"/>
                <a:cs typeface="Aptos"/>
              </a:defRPr>
            </a:pPr>
            <a:r>
              <a:rPr sz="825" b="1">
                <a:solidFill>
                  <a:srgbClr val="46616F"/>
                </a:solidFill>
                <a:latin typeface="Aptos"/>
                <a:ea typeface="Aptos"/>
                <a:cs typeface="Aptos"/>
              </a:rPr>
              <a:t>14</a:t>
            </a:r>
          </a:p>
        </p:txBody>
      </p:sp>
      <p:sp>
        <p:nvSpPr>
          <p:cNvPr id="8" name="">
            <a:extLst xmlns:a="http://schemas.openxmlformats.org/drawingml/2006/main">
              <a:ext uri="{FF2B5EF4-FFF2-40B4-BE49-F238E27FC236}">
                <a16:creationId xmlns:a16="http://schemas.microsoft.com/office/drawing/2014/main" id="{D51F18CA-500D-44B8-A61E-693C24413E4C}"/>
              </a:ext>
            </a:extLst>
          </p:cNvPr>
          <p:cNvSpPr>
            <a:spLocks xmlns:a="http://schemas.openxmlformats.org/drawingml/2006/main" noGrp="1"/>
          </p:cNvSpPr>
          <p:nvPr/>
        </p:nvSpPr>
        <p:spPr>
          <a:xfrm xmlns:a="http://schemas.openxmlformats.org/drawingml/2006/main">
            <a:off x="666750" y="1600200"/>
            <a:ext cx="1771650" cy="285750"/>
          </a:xfrm>
          <a:prstGeom xmlns:a="http://schemas.openxmlformats.org/drawingml/2006/main" prst="roundRect">
            <a:avLst>
              <a:gd name="adj" fmla="val 26667"/>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B9F420AF-710E-4FE7-B25B-143EFFD3FAD4}"/>
              </a:ext>
            </a:extLst>
          </p:cNvPr>
          <p:cNvSpPr>
            <a:spLocks xmlns:a="http://schemas.openxmlformats.org/drawingml/2006/main" noGrp="1"/>
          </p:cNvSpPr>
          <p:nvPr/>
        </p:nvSpPr>
        <p:spPr>
          <a:xfrm xmlns:a="http://schemas.openxmlformats.org/drawingml/2006/main">
            <a:off x="762000" y="1647825"/>
            <a:ext cx="1581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071821"/>
                </a:solidFill>
                <a:latin typeface="Aptos"/>
                <a:ea typeface="Aptos"/>
                <a:cs typeface="Aptos"/>
              </a:defRPr>
            </a:pPr>
            <a:r>
              <a:rPr sz="900" b="1">
                <a:solidFill>
                  <a:srgbClr val="071821"/>
                </a:solidFill>
                <a:latin typeface="Aptos"/>
                <a:ea typeface="Aptos"/>
                <a:cs typeface="Aptos"/>
              </a:rPr>
              <a:t>POSSIBLE REQUIREMENT</a:t>
            </a:r>
          </a:p>
        </p:txBody>
      </p:sp>
      <p:sp>
        <p:nvSpPr>
          <p:cNvPr id="10" name="">
            <a:extLst xmlns:a="http://schemas.openxmlformats.org/drawingml/2006/main">
              <a:ext uri="{FF2B5EF4-FFF2-40B4-BE49-F238E27FC236}">
                <a16:creationId xmlns:a16="http://schemas.microsoft.com/office/drawing/2014/main" id="{30D77745-5A33-4CD1-BAAC-D014D4E8A1E5}"/>
              </a:ext>
            </a:extLst>
          </p:cNvPr>
          <p:cNvSpPr>
            <a:spLocks xmlns:a="http://schemas.openxmlformats.org/drawingml/2006/main" noGrp="1"/>
          </p:cNvSpPr>
          <p:nvPr/>
        </p:nvSpPr>
        <p:spPr>
          <a:xfrm xmlns:a="http://schemas.openxmlformats.org/drawingml/2006/main">
            <a:off x="666750" y="2019300"/>
            <a:ext cx="10858500" cy="1200150"/>
          </a:xfrm>
          <a:prstGeom xmlns:a="http://schemas.openxmlformats.org/drawingml/2006/main" prst="roundRect">
            <a:avLst>
              <a:gd name="adj" fmla="val 6349"/>
            </a:avLst>
          </a:prstGeom>
          <a:solidFill xmlns:a="http://schemas.openxmlformats.org/drawingml/2006/main">
            <a:srgbClr val="102A36"/>
          </a:solidFill>
          <a:ln xmlns:a="http://schemas.openxmlformats.org/drawingml/2006/main" w="14288">
            <a:solidFill>
              <a:srgbClr val="2EC4D6"/>
            </a:solidFill>
            <a:prstDash val="solid"/>
          </a:ln>
        </p:spPr>
      </p:sp>
      <p:sp>
        <p:nvSpPr>
          <p:cNvPr id="11" name="">
            <a:extLst xmlns:a="http://schemas.openxmlformats.org/drawingml/2006/main">
              <a:ext uri="{FF2B5EF4-FFF2-40B4-BE49-F238E27FC236}">
                <a16:creationId xmlns:a16="http://schemas.microsoft.com/office/drawing/2014/main" id="{A89EDD5A-AB3C-4C49-A98A-C745A4B80C7E}"/>
              </a:ext>
            </a:extLst>
          </p:cNvPr>
          <p:cNvSpPr>
            <a:spLocks xmlns:a="http://schemas.openxmlformats.org/drawingml/2006/main" noGrp="1"/>
          </p:cNvSpPr>
          <p:nvPr/>
        </p:nvSpPr>
        <p:spPr>
          <a:xfrm xmlns:a="http://schemas.openxmlformats.org/drawingml/2006/main">
            <a:off x="876300" y="2190750"/>
            <a:ext cx="104394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0">
                <a:solidFill>
                  <a:srgbClr val="FFFFFF"/>
                </a:solidFill>
                <a:latin typeface="Aptos Mono"/>
                <a:ea typeface="Aptos Mono"/>
                <a:cs typeface="Aptos Mono"/>
              </a:defRPr>
            </a:pPr>
            <a:r>
              <a:rPr sz="1275" b="0">
                <a:solidFill>
                  <a:srgbClr val="FFFFFF"/>
                </a:solidFill>
                <a:latin typeface="Aptos Mono"/>
                <a:ea typeface="Aptos Mono"/>
                <a:cs typeface="Aptos Mono"/>
              </a:rPr>
              <a:t>While operating in Normal Mode, when three consecutive valid battery state-of-charge samples are at or below 25 percent, the Power Management application shall issue a Low-Power Mode transition request within 2 seconds of receiving the third qualifying sample.</a:t>
            </a:r>
          </a:p>
        </p:txBody>
      </p:sp>
      <p:sp>
        <p:nvSpPr>
          <p:cNvPr id="12" name="">
            <a:extLst xmlns:a="http://schemas.openxmlformats.org/drawingml/2006/main">
              <a:ext uri="{FF2B5EF4-FFF2-40B4-BE49-F238E27FC236}">
                <a16:creationId xmlns:a16="http://schemas.microsoft.com/office/drawing/2014/main" id="{39F326E6-58FD-4662-B65C-D65C95A39B95}"/>
              </a:ext>
            </a:extLst>
          </p:cNvPr>
          <p:cNvSpPr>
            <a:spLocks xmlns:a="http://schemas.openxmlformats.org/drawingml/2006/main" noGrp="1"/>
          </p:cNvSpPr>
          <p:nvPr/>
        </p:nvSpPr>
        <p:spPr>
          <a:xfrm xmlns:a="http://schemas.openxmlformats.org/drawingml/2006/main">
            <a:off x="666750" y="3676650"/>
            <a:ext cx="5048250" cy="1733550"/>
          </a:xfrm>
          <a:prstGeom xmlns:a="http://schemas.openxmlformats.org/drawingml/2006/main" prst="roundRect">
            <a:avLst>
              <a:gd name="adj" fmla="val 4396"/>
            </a:avLst>
          </a:prstGeom>
          <a:solidFill xmlns:a="http://schemas.openxmlformats.org/drawingml/2006/main">
            <a:srgbClr val="BCEAF0"/>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FC854F0A-28D0-4A8E-8FCD-4C23FCAC4E22}"/>
              </a:ext>
            </a:extLst>
          </p:cNvPr>
          <p:cNvSpPr>
            <a:spLocks xmlns:a="http://schemas.openxmlformats.org/drawingml/2006/main" noGrp="1"/>
          </p:cNvSpPr>
          <p:nvPr/>
        </p:nvSpPr>
        <p:spPr>
          <a:xfrm xmlns:a="http://schemas.openxmlformats.org/drawingml/2006/main">
            <a:off x="914400" y="3886200"/>
            <a:ext cx="4552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6616F"/>
                </a:solidFill>
                <a:latin typeface="Aptos"/>
                <a:ea typeface="Aptos"/>
                <a:cs typeface="Aptos"/>
              </a:defRPr>
            </a:pPr>
            <a:r>
              <a:rPr sz="975" b="1">
                <a:solidFill>
                  <a:srgbClr val="46616F"/>
                </a:solidFill>
                <a:latin typeface="Aptos"/>
                <a:ea typeface="Aptos"/>
                <a:cs typeface="Aptos"/>
              </a:rPr>
              <a:t>WHAT IS RESOLVED</a:t>
            </a:r>
          </a:p>
        </p:txBody>
      </p:sp>
      <p:sp>
        <p:nvSpPr>
          <p:cNvPr id="14" name="">
            <a:extLst xmlns:a="http://schemas.openxmlformats.org/drawingml/2006/main">
              <a:ext uri="{FF2B5EF4-FFF2-40B4-BE49-F238E27FC236}">
                <a16:creationId xmlns:a16="http://schemas.microsoft.com/office/drawing/2014/main" id="{39B63E9A-4DD9-4101-B679-CD00E252C561}"/>
              </a:ext>
            </a:extLst>
          </p:cNvPr>
          <p:cNvSpPr>
            <a:spLocks xmlns:a="http://schemas.openxmlformats.org/drawingml/2006/main" noGrp="1"/>
          </p:cNvSpPr>
          <p:nvPr/>
        </p:nvSpPr>
        <p:spPr>
          <a:xfrm xmlns:a="http://schemas.openxmlformats.org/drawingml/2006/main">
            <a:off x="914400" y="4343400"/>
            <a:ext cx="66675" cy="66675"/>
          </a:xfrm>
          <a:prstGeom xmlns:a="http://schemas.openxmlformats.org/drawingml/2006/main" prst="rect">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BA97173E-002A-47A8-BE5C-258174E575AE}"/>
              </a:ext>
            </a:extLst>
          </p:cNvPr>
          <p:cNvSpPr>
            <a:spLocks xmlns:a="http://schemas.openxmlformats.org/drawingml/2006/main" noGrp="1"/>
          </p:cNvSpPr>
          <p:nvPr/>
        </p:nvSpPr>
        <p:spPr>
          <a:xfrm xmlns:a="http://schemas.openxmlformats.org/drawingml/2006/main">
            <a:off x="1085850" y="4267200"/>
            <a:ext cx="42100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071821"/>
                </a:solidFill>
                <a:latin typeface="Aptos"/>
                <a:ea typeface="Aptos"/>
                <a:cs typeface="Aptos"/>
              </a:defRPr>
            </a:pPr>
            <a:r>
              <a:rPr sz="1200" b="0">
                <a:solidFill>
                  <a:srgbClr val="071821"/>
                </a:solidFill>
                <a:latin typeface="Aptos"/>
                <a:ea typeface="Aptos"/>
                <a:cs typeface="Aptos"/>
              </a:rPr>
              <a:t>Mode, data validity, threshold, and persistence</a:t>
            </a:r>
          </a:p>
        </p:txBody>
      </p:sp>
      <p:sp>
        <p:nvSpPr>
          <p:cNvPr id="16" name="">
            <a:extLst xmlns:a="http://schemas.openxmlformats.org/drawingml/2006/main">
              <a:ext uri="{FF2B5EF4-FFF2-40B4-BE49-F238E27FC236}">
                <a16:creationId xmlns:a16="http://schemas.microsoft.com/office/drawing/2014/main" id="{27D3902D-47B9-4E45-838F-64D32268B1D0}"/>
              </a:ext>
            </a:extLst>
          </p:cNvPr>
          <p:cNvSpPr>
            <a:spLocks xmlns:a="http://schemas.openxmlformats.org/drawingml/2006/main" noGrp="1"/>
          </p:cNvSpPr>
          <p:nvPr/>
        </p:nvSpPr>
        <p:spPr>
          <a:xfrm xmlns:a="http://schemas.openxmlformats.org/drawingml/2006/main">
            <a:off x="914400" y="4762500"/>
            <a:ext cx="66675" cy="66675"/>
          </a:xfrm>
          <a:prstGeom xmlns:a="http://schemas.openxmlformats.org/drawingml/2006/main" prst="rect">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4E6BD8D5-A529-4852-8A5C-AF4738A0A749}"/>
              </a:ext>
            </a:extLst>
          </p:cNvPr>
          <p:cNvSpPr>
            <a:spLocks xmlns:a="http://schemas.openxmlformats.org/drawingml/2006/main" noGrp="1"/>
          </p:cNvSpPr>
          <p:nvPr/>
        </p:nvSpPr>
        <p:spPr>
          <a:xfrm xmlns:a="http://schemas.openxmlformats.org/drawingml/2006/main">
            <a:off x="1085850" y="4686300"/>
            <a:ext cx="42100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071821"/>
                </a:solidFill>
                <a:latin typeface="Aptos"/>
                <a:ea typeface="Aptos"/>
                <a:cs typeface="Aptos"/>
              </a:defRPr>
            </a:pPr>
            <a:r>
              <a:rPr sz="1200" b="0">
                <a:solidFill>
                  <a:srgbClr val="071821"/>
                </a:solidFill>
                <a:latin typeface="Aptos"/>
                <a:ea typeface="Aptos"/>
                <a:cs typeface="Aptos"/>
              </a:rPr>
              <a:t>Owning element and one primary action</a:t>
            </a:r>
          </a:p>
        </p:txBody>
      </p:sp>
      <p:sp>
        <p:nvSpPr>
          <p:cNvPr id="18" name="">
            <a:extLst xmlns:a="http://schemas.openxmlformats.org/drawingml/2006/main">
              <a:ext uri="{FF2B5EF4-FFF2-40B4-BE49-F238E27FC236}">
                <a16:creationId xmlns:a16="http://schemas.microsoft.com/office/drawing/2014/main" id="{B959457E-B3C3-4E38-9D91-814E79F49590}"/>
              </a:ext>
            </a:extLst>
          </p:cNvPr>
          <p:cNvSpPr>
            <a:spLocks xmlns:a="http://schemas.openxmlformats.org/drawingml/2006/main" noGrp="1"/>
          </p:cNvSpPr>
          <p:nvPr/>
        </p:nvSpPr>
        <p:spPr>
          <a:xfrm xmlns:a="http://schemas.openxmlformats.org/drawingml/2006/main">
            <a:off x="914400" y="5181600"/>
            <a:ext cx="66675" cy="66675"/>
          </a:xfrm>
          <a:prstGeom xmlns:a="http://schemas.openxmlformats.org/drawingml/2006/main" prst="rect">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BF82F6E0-909B-4AB2-B59F-002DCFB502E1}"/>
              </a:ext>
            </a:extLst>
          </p:cNvPr>
          <p:cNvSpPr>
            <a:spLocks xmlns:a="http://schemas.openxmlformats.org/drawingml/2006/main" noGrp="1"/>
          </p:cNvSpPr>
          <p:nvPr/>
        </p:nvSpPr>
        <p:spPr>
          <a:xfrm xmlns:a="http://schemas.openxmlformats.org/drawingml/2006/main">
            <a:off x="1085850" y="5105400"/>
            <a:ext cx="42100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071821"/>
                </a:solidFill>
                <a:latin typeface="Aptos"/>
                <a:ea typeface="Aptos"/>
                <a:cs typeface="Aptos"/>
              </a:defRPr>
            </a:pPr>
            <a:r>
              <a:rPr sz="1200" b="0">
                <a:solidFill>
                  <a:srgbClr val="071821"/>
                </a:solidFill>
                <a:latin typeface="Aptos"/>
                <a:ea typeface="Aptos"/>
                <a:cs typeface="Aptos"/>
              </a:rPr>
              <a:t>Clock start and response deadline</a:t>
            </a:r>
          </a:p>
        </p:txBody>
      </p:sp>
      <p:sp>
        <p:nvSpPr>
          <p:cNvPr id="20" name="">
            <a:extLst xmlns:a="http://schemas.openxmlformats.org/drawingml/2006/main">
              <a:ext uri="{FF2B5EF4-FFF2-40B4-BE49-F238E27FC236}">
                <a16:creationId xmlns:a16="http://schemas.microsoft.com/office/drawing/2014/main" id="{B30531C0-50BB-4801-8B5F-587A08587085}"/>
              </a:ext>
            </a:extLst>
          </p:cNvPr>
          <p:cNvSpPr>
            <a:spLocks xmlns:a="http://schemas.openxmlformats.org/drawingml/2006/main" noGrp="1"/>
          </p:cNvSpPr>
          <p:nvPr/>
        </p:nvSpPr>
        <p:spPr>
          <a:xfrm xmlns:a="http://schemas.openxmlformats.org/drawingml/2006/main">
            <a:off x="6096000" y="3676650"/>
            <a:ext cx="5429250" cy="1733550"/>
          </a:xfrm>
          <a:prstGeom xmlns:a="http://schemas.openxmlformats.org/drawingml/2006/main" prst="roundRect">
            <a:avLst>
              <a:gd name="adj" fmla="val 4396"/>
            </a:avLst>
          </a:prstGeom>
          <a:solidFill xmlns:a="http://schemas.openxmlformats.org/drawingml/2006/main">
            <a:srgbClr val="FFE0B8"/>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CC181C12-DC5B-47B5-A76E-191797DA6762}"/>
              </a:ext>
            </a:extLst>
          </p:cNvPr>
          <p:cNvSpPr>
            <a:spLocks xmlns:a="http://schemas.openxmlformats.org/drawingml/2006/main" noGrp="1"/>
          </p:cNvSpPr>
          <p:nvPr/>
        </p:nvSpPr>
        <p:spPr>
          <a:xfrm xmlns:a="http://schemas.openxmlformats.org/drawingml/2006/main">
            <a:off x="6343650" y="3886200"/>
            <a:ext cx="4933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6616F"/>
                </a:solidFill>
                <a:latin typeface="Aptos"/>
                <a:ea typeface="Aptos"/>
                <a:cs typeface="Aptos"/>
              </a:defRPr>
            </a:pPr>
            <a:r>
              <a:rPr sz="975" b="1">
                <a:solidFill>
                  <a:srgbClr val="46616F"/>
                </a:solidFill>
                <a:latin typeface="Aptos"/>
                <a:ea typeface="Aptos"/>
                <a:cs typeface="Aptos"/>
              </a:rPr>
              <a:t>WHAT REMAINS OUT OF SCOPE OR TBD</a:t>
            </a:r>
          </a:p>
        </p:txBody>
      </p:sp>
      <p:sp>
        <p:nvSpPr>
          <p:cNvPr id="22" name="">
            <a:extLst xmlns:a="http://schemas.openxmlformats.org/drawingml/2006/main">
              <a:ext uri="{FF2B5EF4-FFF2-40B4-BE49-F238E27FC236}">
                <a16:creationId xmlns:a16="http://schemas.microsoft.com/office/drawing/2014/main" id="{755A7AF4-CAA1-4FCE-8D07-D70914754958}"/>
              </a:ext>
            </a:extLst>
          </p:cNvPr>
          <p:cNvSpPr>
            <a:spLocks xmlns:a="http://schemas.openxmlformats.org/drawingml/2006/main" noGrp="1"/>
          </p:cNvSpPr>
          <p:nvPr/>
        </p:nvSpPr>
        <p:spPr>
          <a:xfrm xmlns:a="http://schemas.openxmlformats.org/drawingml/2006/main">
            <a:off x="6343650" y="4343400"/>
            <a:ext cx="66675" cy="66675"/>
          </a:xfrm>
          <a:prstGeom xmlns:a="http://schemas.openxmlformats.org/drawingml/2006/main" prst="rect">
            <a:avLst/>
          </a:prstGeom>
          <a:solidFill xmlns:a="http://schemas.openxmlformats.org/drawingml/2006/main">
            <a:srgbClr val="FF9F43"/>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C7231FA3-3646-4A29-8465-46406E187E8C}"/>
              </a:ext>
            </a:extLst>
          </p:cNvPr>
          <p:cNvSpPr>
            <a:spLocks xmlns:a="http://schemas.openxmlformats.org/drawingml/2006/main" noGrp="1"/>
          </p:cNvSpPr>
          <p:nvPr/>
        </p:nvSpPr>
        <p:spPr>
          <a:xfrm xmlns:a="http://schemas.openxmlformats.org/drawingml/2006/main">
            <a:off x="6515100" y="4267200"/>
            <a:ext cx="45148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071821"/>
                </a:solidFill>
                <a:latin typeface="Aptos"/>
                <a:ea typeface="Aptos"/>
                <a:cs typeface="Aptos"/>
              </a:defRPr>
            </a:pPr>
            <a:r>
              <a:rPr sz="1200" b="0">
                <a:solidFill>
                  <a:srgbClr val="071821"/>
                </a:solidFill>
                <a:latin typeface="Aptos"/>
                <a:ea typeface="Aptos"/>
                <a:cs typeface="Aptos"/>
              </a:rPr>
              <a:t>Hysteresis and recovery behavior</a:t>
            </a:r>
          </a:p>
        </p:txBody>
      </p:sp>
      <p:sp>
        <p:nvSpPr>
          <p:cNvPr id="24" name="">
            <a:extLst xmlns:a="http://schemas.openxmlformats.org/drawingml/2006/main">
              <a:ext uri="{FF2B5EF4-FFF2-40B4-BE49-F238E27FC236}">
                <a16:creationId xmlns:a16="http://schemas.microsoft.com/office/drawing/2014/main" id="{8004BB81-5227-40B0-ABBF-D52148482408}"/>
              </a:ext>
            </a:extLst>
          </p:cNvPr>
          <p:cNvSpPr>
            <a:spLocks xmlns:a="http://schemas.openxmlformats.org/drawingml/2006/main" noGrp="1"/>
          </p:cNvSpPr>
          <p:nvPr/>
        </p:nvSpPr>
        <p:spPr>
          <a:xfrm xmlns:a="http://schemas.openxmlformats.org/drawingml/2006/main">
            <a:off x="6343650" y="4762500"/>
            <a:ext cx="66675" cy="66675"/>
          </a:xfrm>
          <a:prstGeom xmlns:a="http://schemas.openxmlformats.org/drawingml/2006/main" prst="rect">
            <a:avLst/>
          </a:prstGeom>
          <a:solidFill xmlns:a="http://schemas.openxmlformats.org/drawingml/2006/main">
            <a:srgbClr val="FF9F43"/>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346ACD8D-A3E9-4421-9BE1-BDE6B9ACA6A6}"/>
              </a:ext>
            </a:extLst>
          </p:cNvPr>
          <p:cNvSpPr>
            <a:spLocks xmlns:a="http://schemas.openxmlformats.org/drawingml/2006/main" noGrp="1"/>
          </p:cNvSpPr>
          <p:nvPr/>
        </p:nvSpPr>
        <p:spPr>
          <a:xfrm xmlns:a="http://schemas.openxmlformats.org/drawingml/2006/main">
            <a:off x="6515100" y="4686300"/>
            <a:ext cx="45148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071821"/>
                </a:solidFill>
                <a:latin typeface="Aptos"/>
                <a:ea typeface="Aptos"/>
                <a:cs typeface="Aptos"/>
              </a:defRPr>
            </a:pPr>
            <a:r>
              <a:rPr sz="1200" b="0">
                <a:solidFill>
                  <a:srgbClr val="071821"/>
                </a:solidFill>
                <a:latin typeface="Aptos"/>
                <a:ea typeface="Aptos"/>
                <a:cs typeface="Aptos"/>
              </a:rPr>
              <a:t>Missing or invalid sample behavior</a:t>
            </a:r>
          </a:p>
        </p:txBody>
      </p:sp>
      <p:sp>
        <p:nvSpPr>
          <p:cNvPr id="26" name="">
            <a:extLst xmlns:a="http://schemas.openxmlformats.org/drawingml/2006/main">
              <a:ext uri="{FF2B5EF4-FFF2-40B4-BE49-F238E27FC236}">
                <a16:creationId xmlns:a16="http://schemas.microsoft.com/office/drawing/2014/main" id="{F55409D6-AFEB-4DA4-ADB2-6E19CABF582E}"/>
              </a:ext>
            </a:extLst>
          </p:cNvPr>
          <p:cNvSpPr>
            <a:spLocks xmlns:a="http://schemas.openxmlformats.org/drawingml/2006/main" noGrp="1"/>
          </p:cNvSpPr>
          <p:nvPr/>
        </p:nvSpPr>
        <p:spPr>
          <a:xfrm xmlns:a="http://schemas.openxmlformats.org/drawingml/2006/main">
            <a:off x="6343650" y="5181600"/>
            <a:ext cx="66675" cy="66675"/>
          </a:xfrm>
          <a:prstGeom xmlns:a="http://schemas.openxmlformats.org/drawingml/2006/main" prst="rect">
            <a:avLst/>
          </a:prstGeom>
          <a:solidFill xmlns:a="http://schemas.openxmlformats.org/drawingml/2006/main">
            <a:srgbClr val="FF9F43"/>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BEF74788-AF2C-4643-8FFF-A9502C324F4D}"/>
              </a:ext>
            </a:extLst>
          </p:cNvPr>
          <p:cNvSpPr>
            <a:spLocks xmlns:a="http://schemas.openxmlformats.org/drawingml/2006/main" noGrp="1"/>
          </p:cNvSpPr>
          <p:nvPr/>
        </p:nvSpPr>
        <p:spPr>
          <a:xfrm xmlns:a="http://schemas.openxmlformats.org/drawingml/2006/main">
            <a:off x="6515100" y="5105400"/>
            <a:ext cx="45148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071821"/>
                </a:solidFill>
                <a:latin typeface="Aptos"/>
                <a:ea typeface="Aptos"/>
                <a:cs typeface="Aptos"/>
              </a:defRPr>
            </a:pPr>
            <a:r>
              <a:rPr sz="1200" b="0">
                <a:solidFill>
                  <a:srgbClr val="071821"/>
                </a:solidFill>
                <a:latin typeface="Aptos"/>
                <a:ea typeface="Aptos"/>
                <a:cs typeface="Aptos"/>
              </a:rPr>
              <a:t>Request acknowledgment and failed transition</a:t>
            </a:r>
          </a:p>
        </p:txBody>
      </p:sp>
    </p:spTree>
    <p:extLst>
      <p:ext uri="{BB962C8B-B14F-4D97-AF65-F5344CB8AC3E}">
        <p14:creationId xmlns:p14="http://schemas.microsoft.com/office/powerpoint/2010/main" val="213240259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246D1A9-8D03-4496-A16F-FA1CADF8710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821"/>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510D0B2-6F18-4935-93AF-F48D0C56E96C}"/>
              </a:ext>
            </a:extLst>
          </p:cNvPr>
          <p:cNvSpPr>
            <a:spLocks xmlns:a="http://schemas.openxmlformats.org/drawingml/2006/main" noGrp="1"/>
          </p:cNvSpPr>
          <p:nvPr/>
        </p:nvSpPr>
        <p:spPr>
          <a:xfrm xmlns:a="http://schemas.openxmlformats.org/drawingml/2006/main">
            <a:off x="457200" y="361950"/>
            <a:ext cx="76200" cy="76200"/>
          </a:xfrm>
          <a:prstGeom xmlns:a="http://schemas.openxmlformats.org/drawingml/2006/main" prst="rect">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B5BE0F90-FE43-495D-80EF-7EC6CEC04439}"/>
              </a:ext>
            </a:extLst>
          </p:cNvPr>
          <p:cNvSpPr>
            <a:spLocks xmlns:a="http://schemas.openxmlformats.org/drawingml/2006/main" noGrp="1"/>
          </p:cNvSpPr>
          <p:nvPr/>
        </p:nvSpPr>
        <p:spPr>
          <a:xfrm xmlns:a="http://schemas.openxmlformats.org/drawingml/2006/main">
            <a:off x="64770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BCEAF0"/>
                </a:solidFill>
                <a:latin typeface="Aptos"/>
                <a:ea typeface="Aptos"/>
                <a:cs typeface="Aptos"/>
              </a:defRPr>
            </a:pPr>
            <a:r>
              <a:rPr sz="1050" b="1">
                <a:solidFill>
                  <a:srgbClr val="BCEAF0"/>
                </a:solidFill>
                <a:latin typeface="Aptos"/>
                <a:ea typeface="Aptos"/>
                <a:cs typeface="Aptos"/>
              </a:rPr>
              <a:t>CLOSE</a:t>
            </a:r>
          </a:p>
        </p:txBody>
      </p:sp>
      <p:sp>
        <p:nvSpPr>
          <p:cNvPr id="4" name="">
            <a:extLst xmlns:a="http://schemas.openxmlformats.org/drawingml/2006/main">
              <a:ext uri="{FF2B5EF4-FFF2-40B4-BE49-F238E27FC236}">
                <a16:creationId xmlns:a16="http://schemas.microsoft.com/office/drawing/2014/main" id="{A8314F70-D790-4BA8-B22A-CB5F176BEE5B}"/>
              </a:ext>
            </a:extLst>
          </p:cNvPr>
          <p:cNvSpPr>
            <a:spLocks xmlns:a="http://schemas.openxmlformats.org/drawingml/2006/main" noGrp="1"/>
          </p:cNvSpPr>
          <p:nvPr/>
        </p:nvSpPr>
        <p:spPr>
          <a:xfrm xmlns:a="http://schemas.openxmlformats.org/drawingml/2006/main">
            <a:off x="457200" y="666750"/>
            <a:ext cx="11049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850" b="1">
                <a:solidFill>
                  <a:srgbClr val="FFFFFF"/>
                </a:solidFill>
                <a:latin typeface="Aptos Display"/>
                <a:ea typeface="Aptos Display"/>
                <a:cs typeface="Aptos Display"/>
              </a:defRPr>
            </a:pPr>
            <a:r>
              <a:rPr sz="2850" b="1">
                <a:solidFill>
                  <a:srgbClr val="FFFFFF"/>
                </a:solidFill>
                <a:latin typeface="Aptos Display"/>
                <a:ea typeface="Aptos Display"/>
                <a:cs typeface="Aptos Display"/>
              </a:rPr>
              <a:t>Before sending a requirement to review, run five checks.</a:t>
            </a:r>
          </a:p>
        </p:txBody>
      </p:sp>
      <p:sp>
        <p:nvSpPr>
          <p:cNvPr id="5" name="">
            <a:extLst xmlns:a="http://schemas.openxmlformats.org/drawingml/2006/main">
              <a:ext uri="{FF2B5EF4-FFF2-40B4-BE49-F238E27FC236}">
                <a16:creationId xmlns:a16="http://schemas.microsoft.com/office/drawing/2014/main" id="{9E49B120-68BE-4747-8F15-EEA3DE639F75}"/>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46616F"/>
          </a:solidFill>
          <a:ln xmlns:a="http://schemas.openxmlformats.org/drawingml/2006/main" w="9525">
            <a:solidFill>
              <a:srgbClr val="46616F"/>
            </a:solidFill>
            <a:prstDash val="solid"/>
          </a:ln>
        </p:spPr>
      </p:sp>
      <p:sp>
        <p:nvSpPr>
          <p:cNvPr id="6" name="">
            <a:extLst xmlns:a="http://schemas.openxmlformats.org/drawingml/2006/main">
              <a:ext uri="{FF2B5EF4-FFF2-40B4-BE49-F238E27FC236}">
                <a16:creationId xmlns:a16="http://schemas.microsoft.com/office/drawing/2014/main" id="{E9BD0E8A-2D08-4BB5-A6EC-46E1003CDE8B}"/>
              </a:ext>
            </a:extLst>
          </p:cNvPr>
          <p:cNvSpPr>
            <a:spLocks xmlns:a="http://schemas.openxmlformats.org/drawingml/2006/main" noGrp="1"/>
          </p:cNvSpPr>
          <p:nvPr/>
        </p:nvSpPr>
        <p:spPr>
          <a:xfrm xmlns:a="http://schemas.openxmlformats.org/drawingml/2006/main">
            <a:off x="4572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C9D8DC"/>
                </a:solidFill>
                <a:latin typeface="Aptos"/>
                <a:ea typeface="Aptos"/>
                <a:cs typeface="Aptos"/>
              </a:defRPr>
            </a:pPr>
            <a:r>
              <a:rPr sz="750" b="1">
                <a:solidFill>
                  <a:srgbClr val="C9D8DC"/>
                </a:solidFill>
                <a:latin typeface="Aptos"/>
                <a:ea typeface="Aptos"/>
                <a:cs typeface="Aptos"/>
              </a:rPr>
              <a:t>SESSION 2</a:t>
            </a:r>
          </a:p>
        </p:txBody>
      </p:sp>
      <p:sp>
        <p:nvSpPr>
          <p:cNvPr id="7" name="">
            <a:extLst xmlns:a="http://schemas.openxmlformats.org/drawingml/2006/main">
              <a:ext uri="{FF2B5EF4-FFF2-40B4-BE49-F238E27FC236}">
                <a16:creationId xmlns:a16="http://schemas.microsoft.com/office/drawing/2014/main" id="{5E2FED2E-5F95-4B45-856B-3B1F02D9D30E}"/>
              </a:ext>
            </a:extLst>
          </p:cNvPr>
          <p:cNvSpPr>
            <a:spLocks xmlns:a="http://schemas.openxmlformats.org/drawingml/2006/main" noGrp="1"/>
          </p:cNvSpPr>
          <p:nvPr/>
        </p:nvSpPr>
        <p:spPr>
          <a:xfrm xmlns:a="http://schemas.openxmlformats.org/drawingml/2006/main">
            <a:off x="11144250" y="6515100"/>
            <a:ext cx="590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C9D8DC"/>
                </a:solidFill>
                <a:latin typeface="Aptos"/>
                <a:ea typeface="Aptos"/>
                <a:cs typeface="Aptos"/>
              </a:defRPr>
            </a:pPr>
            <a:r>
              <a:rPr sz="825" b="1">
                <a:solidFill>
                  <a:srgbClr val="C9D8DC"/>
                </a:solidFill>
                <a:latin typeface="Aptos"/>
                <a:ea typeface="Aptos"/>
                <a:cs typeface="Aptos"/>
              </a:rPr>
              <a:t>15</a:t>
            </a:r>
          </a:p>
        </p:txBody>
      </p:sp>
      <p:sp>
        <p:nvSpPr>
          <p:cNvPr id="8" name="">
            <a:extLst xmlns:a="http://schemas.openxmlformats.org/drawingml/2006/main">
              <a:ext uri="{FF2B5EF4-FFF2-40B4-BE49-F238E27FC236}">
                <a16:creationId xmlns:a16="http://schemas.microsoft.com/office/drawing/2014/main" id="{2B924A8F-92E0-4A6F-B4D5-ACEB4085A365}"/>
              </a:ext>
            </a:extLst>
          </p:cNvPr>
          <p:cNvSpPr>
            <a:spLocks xmlns:a="http://schemas.openxmlformats.org/drawingml/2006/main" noGrp="1"/>
          </p:cNvSpPr>
          <p:nvPr/>
        </p:nvSpPr>
        <p:spPr>
          <a:xfrm xmlns:a="http://schemas.openxmlformats.org/drawingml/2006/main">
            <a:off x="781050" y="1676400"/>
            <a:ext cx="533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2EC4D6"/>
                </a:solidFill>
                <a:latin typeface="Aptos"/>
                <a:ea typeface="Aptos"/>
                <a:cs typeface="Aptos"/>
              </a:defRPr>
            </a:pPr>
            <a:r>
              <a:rPr sz="1425" b="1">
                <a:solidFill>
                  <a:srgbClr val="2EC4D6"/>
                </a:solidFill>
                <a:latin typeface="Aptos"/>
                <a:ea typeface="Aptos"/>
                <a:cs typeface="Aptos"/>
              </a:rPr>
              <a:t>01</a:t>
            </a:r>
          </a:p>
        </p:txBody>
      </p:sp>
      <p:sp>
        <p:nvSpPr>
          <p:cNvPr id="9" name="">
            <a:extLst xmlns:a="http://schemas.openxmlformats.org/drawingml/2006/main">
              <a:ext uri="{FF2B5EF4-FFF2-40B4-BE49-F238E27FC236}">
                <a16:creationId xmlns:a16="http://schemas.microsoft.com/office/drawing/2014/main" id="{B11BD557-7DC0-47BF-B99B-51451F7E77A5}"/>
              </a:ext>
            </a:extLst>
          </p:cNvPr>
          <p:cNvSpPr>
            <a:spLocks xmlns:a="http://schemas.openxmlformats.org/drawingml/2006/main" noGrp="1"/>
          </p:cNvSpPr>
          <p:nvPr/>
        </p:nvSpPr>
        <p:spPr>
          <a:xfrm xmlns:a="http://schemas.openxmlformats.org/drawingml/2006/main">
            <a:off x="1466850" y="1600200"/>
            <a:ext cx="38100" cy="552450"/>
          </a:xfrm>
          <a:prstGeom xmlns:a="http://schemas.openxmlformats.org/drawingml/2006/main" prst="rect">
            <a:avLst/>
          </a:prstGeom>
          <a:solidFill xmlns:a="http://schemas.openxmlformats.org/drawingml/2006/main">
            <a:srgbClr val="2EC4D6"/>
          </a:solidFill>
          <a:ln xmlns:a="http://schemas.openxmlformats.org/drawingml/2006/main" w="38100">
            <a:solidFill>
              <a:srgbClr val="2EC4D6"/>
            </a:solidFill>
            <a:prstDash val="solid"/>
          </a:ln>
        </p:spPr>
      </p:sp>
      <p:sp>
        <p:nvSpPr>
          <p:cNvPr id="10" name="">
            <a:extLst xmlns:a="http://schemas.openxmlformats.org/drawingml/2006/main">
              <a:ext uri="{FF2B5EF4-FFF2-40B4-BE49-F238E27FC236}">
                <a16:creationId xmlns:a16="http://schemas.microsoft.com/office/drawing/2014/main" id="{209B5699-C9D5-4046-B914-942B87FE6C59}"/>
              </a:ext>
            </a:extLst>
          </p:cNvPr>
          <p:cNvSpPr>
            <a:spLocks xmlns:a="http://schemas.openxmlformats.org/drawingml/2006/main" noGrp="1"/>
          </p:cNvSpPr>
          <p:nvPr/>
        </p:nvSpPr>
        <p:spPr>
          <a:xfrm xmlns:a="http://schemas.openxmlformats.org/drawingml/2006/main">
            <a:off x="1733550" y="1628775"/>
            <a:ext cx="1562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C9D8DC"/>
                </a:solidFill>
                <a:latin typeface="Aptos"/>
                <a:ea typeface="Aptos"/>
                <a:cs typeface="Aptos"/>
              </a:defRPr>
            </a:pPr>
            <a:r>
              <a:rPr sz="900" b="1">
                <a:solidFill>
                  <a:srgbClr val="C9D8DC"/>
                </a:solidFill>
                <a:latin typeface="Aptos"/>
                <a:ea typeface="Aptos"/>
                <a:cs typeface="Aptos"/>
              </a:rPr>
              <a:t>OWNER</a:t>
            </a:r>
          </a:p>
        </p:txBody>
      </p:sp>
      <p:sp>
        <p:nvSpPr>
          <p:cNvPr id="11" name="">
            <a:extLst xmlns:a="http://schemas.openxmlformats.org/drawingml/2006/main">
              <a:ext uri="{FF2B5EF4-FFF2-40B4-BE49-F238E27FC236}">
                <a16:creationId xmlns:a16="http://schemas.microsoft.com/office/drawing/2014/main" id="{F5748BCC-3D19-4813-9F09-FFD48751A711}"/>
              </a:ext>
            </a:extLst>
          </p:cNvPr>
          <p:cNvSpPr>
            <a:spLocks xmlns:a="http://schemas.openxmlformats.org/drawingml/2006/main" noGrp="1"/>
          </p:cNvSpPr>
          <p:nvPr/>
        </p:nvSpPr>
        <p:spPr>
          <a:xfrm xmlns:a="http://schemas.openxmlformats.org/drawingml/2006/main">
            <a:off x="3486150" y="1619250"/>
            <a:ext cx="75247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1">
                <a:solidFill>
                  <a:srgbClr val="FFFFFF"/>
                </a:solidFill>
                <a:latin typeface="Aptos"/>
                <a:ea typeface="Aptos"/>
                <a:cs typeface="Aptos"/>
              </a:defRPr>
            </a:pPr>
            <a:r>
              <a:rPr sz="1575" b="1">
                <a:solidFill>
                  <a:srgbClr val="FFFFFF"/>
                </a:solidFill>
                <a:latin typeface="Aptos"/>
                <a:ea typeface="Aptos"/>
                <a:cs typeface="Aptos"/>
              </a:rPr>
              <a:t>Is the subject the element that owns the action?</a:t>
            </a:r>
          </a:p>
        </p:txBody>
      </p:sp>
      <p:sp>
        <p:nvSpPr>
          <p:cNvPr id="12" name="">
            <a:extLst xmlns:a="http://schemas.openxmlformats.org/drawingml/2006/main">
              <a:ext uri="{FF2B5EF4-FFF2-40B4-BE49-F238E27FC236}">
                <a16:creationId xmlns:a16="http://schemas.microsoft.com/office/drawing/2014/main" id="{A23DB74C-1B4F-4EE5-A436-5812B88259D8}"/>
              </a:ext>
            </a:extLst>
          </p:cNvPr>
          <p:cNvSpPr>
            <a:spLocks xmlns:a="http://schemas.openxmlformats.org/drawingml/2006/main" noGrp="1"/>
          </p:cNvSpPr>
          <p:nvPr/>
        </p:nvSpPr>
        <p:spPr>
          <a:xfrm xmlns:a="http://schemas.openxmlformats.org/drawingml/2006/main">
            <a:off x="781050" y="2495550"/>
            <a:ext cx="533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ptos"/>
                <a:ea typeface="Aptos"/>
                <a:cs typeface="Aptos"/>
              </a:defRPr>
            </a:pPr>
            <a:r>
              <a:rPr sz="1425" b="1">
                <a:solidFill>
                  <a:srgbClr val="FFFFFF"/>
                </a:solidFill>
                <a:latin typeface="Aptos"/>
                <a:ea typeface="Aptos"/>
                <a:cs typeface="Aptos"/>
              </a:rPr>
              <a:t>02</a:t>
            </a:r>
          </a:p>
        </p:txBody>
      </p:sp>
      <p:sp>
        <p:nvSpPr>
          <p:cNvPr id="13" name="">
            <a:extLst xmlns:a="http://schemas.openxmlformats.org/drawingml/2006/main">
              <a:ext uri="{FF2B5EF4-FFF2-40B4-BE49-F238E27FC236}">
                <a16:creationId xmlns:a16="http://schemas.microsoft.com/office/drawing/2014/main" id="{9E066381-1A3F-4193-B541-20777ED7AD6B}"/>
              </a:ext>
            </a:extLst>
          </p:cNvPr>
          <p:cNvSpPr>
            <a:spLocks xmlns:a="http://schemas.openxmlformats.org/drawingml/2006/main" noGrp="1"/>
          </p:cNvSpPr>
          <p:nvPr/>
        </p:nvSpPr>
        <p:spPr>
          <a:xfrm xmlns:a="http://schemas.openxmlformats.org/drawingml/2006/main">
            <a:off x="1466850" y="2419350"/>
            <a:ext cx="38100" cy="552450"/>
          </a:xfrm>
          <a:prstGeom xmlns:a="http://schemas.openxmlformats.org/drawingml/2006/main" prst="rect">
            <a:avLst/>
          </a:prstGeom>
          <a:solidFill xmlns:a="http://schemas.openxmlformats.org/drawingml/2006/main">
            <a:srgbClr val="FFFFFF"/>
          </a:solidFill>
          <a:ln xmlns:a="http://schemas.openxmlformats.org/drawingml/2006/main" w="38100">
            <a:solidFill>
              <a:srgbClr val="FFFFFF"/>
            </a:solidFill>
            <a:prstDash val="solid"/>
          </a:ln>
        </p:spPr>
      </p:sp>
      <p:sp>
        <p:nvSpPr>
          <p:cNvPr id="14" name="">
            <a:extLst xmlns:a="http://schemas.openxmlformats.org/drawingml/2006/main">
              <a:ext uri="{FF2B5EF4-FFF2-40B4-BE49-F238E27FC236}">
                <a16:creationId xmlns:a16="http://schemas.microsoft.com/office/drawing/2014/main" id="{61AEC791-593E-4A52-965C-2E67A9475AC0}"/>
              </a:ext>
            </a:extLst>
          </p:cNvPr>
          <p:cNvSpPr>
            <a:spLocks xmlns:a="http://schemas.openxmlformats.org/drawingml/2006/main" noGrp="1"/>
          </p:cNvSpPr>
          <p:nvPr/>
        </p:nvSpPr>
        <p:spPr>
          <a:xfrm xmlns:a="http://schemas.openxmlformats.org/drawingml/2006/main">
            <a:off x="1733550" y="2447925"/>
            <a:ext cx="1562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C9D8DC"/>
                </a:solidFill>
                <a:latin typeface="Aptos"/>
                <a:ea typeface="Aptos"/>
                <a:cs typeface="Aptos"/>
              </a:defRPr>
            </a:pPr>
            <a:r>
              <a:rPr sz="900" b="1">
                <a:solidFill>
                  <a:srgbClr val="C9D8DC"/>
                </a:solidFill>
                <a:latin typeface="Aptos"/>
                <a:ea typeface="Aptos"/>
                <a:cs typeface="Aptos"/>
              </a:rPr>
              <a:t>OBLIGATION</a:t>
            </a:r>
          </a:p>
        </p:txBody>
      </p:sp>
      <p:sp>
        <p:nvSpPr>
          <p:cNvPr id="15" name="">
            <a:extLst xmlns:a="http://schemas.openxmlformats.org/drawingml/2006/main">
              <a:ext uri="{FF2B5EF4-FFF2-40B4-BE49-F238E27FC236}">
                <a16:creationId xmlns:a16="http://schemas.microsoft.com/office/drawing/2014/main" id="{C7676EE1-6283-479A-9171-4289BE106F5F}"/>
              </a:ext>
            </a:extLst>
          </p:cNvPr>
          <p:cNvSpPr>
            <a:spLocks xmlns:a="http://schemas.openxmlformats.org/drawingml/2006/main" noGrp="1"/>
          </p:cNvSpPr>
          <p:nvPr/>
        </p:nvSpPr>
        <p:spPr>
          <a:xfrm xmlns:a="http://schemas.openxmlformats.org/drawingml/2006/main">
            <a:off x="3486150" y="2438400"/>
            <a:ext cx="75247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1">
                <a:solidFill>
                  <a:srgbClr val="FFFFFF"/>
                </a:solidFill>
                <a:latin typeface="Aptos"/>
                <a:ea typeface="Aptos"/>
                <a:cs typeface="Aptos"/>
              </a:defRPr>
            </a:pPr>
            <a:r>
              <a:rPr sz="1575" b="1">
                <a:solidFill>
                  <a:srgbClr val="FFFFFF"/>
                </a:solidFill>
                <a:latin typeface="Aptos"/>
                <a:ea typeface="Aptos"/>
                <a:cs typeface="Aptos"/>
              </a:rPr>
              <a:t>Is there one primary action and a consistent shall?</a:t>
            </a:r>
          </a:p>
        </p:txBody>
      </p:sp>
      <p:sp>
        <p:nvSpPr>
          <p:cNvPr id="16" name="">
            <a:extLst xmlns:a="http://schemas.openxmlformats.org/drawingml/2006/main">
              <a:ext uri="{FF2B5EF4-FFF2-40B4-BE49-F238E27FC236}">
                <a16:creationId xmlns:a16="http://schemas.microsoft.com/office/drawing/2014/main" id="{17B4F6FE-321A-4BBB-B57D-547DEF70B4D5}"/>
              </a:ext>
            </a:extLst>
          </p:cNvPr>
          <p:cNvSpPr>
            <a:spLocks xmlns:a="http://schemas.openxmlformats.org/drawingml/2006/main" noGrp="1"/>
          </p:cNvSpPr>
          <p:nvPr/>
        </p:nvSpPr>
        <p:spPr>
          <a:xfrm xmlns:a="http://schemas.openxmlformats.org/drawingml/2006/main">
            <a:off x="781050" y="3314700"/>
            <a:ext cx="533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2EC4D6"/>
                </a:solidFill>
                <a:latin typeface="Aptos"/>
                <a:ea typeface="Aptos"/>
                <a:cs typeface="Aptos"/>
              </a:defRPr>
            </a:pPr>
            <a:r>
              <a:rPr sz="1425" b="1">
                <a:solidFill>
                  <a:srgbClr val="2EC4D6"/>
                </a:solidFill>
                <a:latin typeface="Aptos"/>
                <a:ea typeface="Aptos"/>
                <a:cs typeface="Aptos"/>
              </a:rPr>
              <a:t>03</a:t>
            </a:r>
          </a:p>
        </p:txBody>
      </p:sp>
      <p:sp>
        <p:nvSpPr>
          <p:cNvPr id="17" name="">
            <a:extLst xmlns:a="http://schemas.openxmlformats.org/drawingml/2006/main">
              <a:ext uri="{FF2B5EF4-FFF2-40B4-BE49-F238E27FC236}">
                <a16:creationId xmlns:a16="http://schemas.microsoft.com/office/drawing/2014/main" id="{B7375C45-A266-409B-BA6B-09A31017C8C4}"/>
              </a:ext>
            </a:extLst>
          </p:cNvPr>
          <p:cNvSpPr>
            <a:spLocks xmlns:a="http://schemas.openxmlformats.org/drawingml/2006/main" noGrp="1"/>
          </p:cNvSpPr>
          <p:nvPr/>
        </p:nvSpPr>
        <p:spPr>
          <a:xfrm xmlns:a="http://schemas.openxmlformats.org/drawingml/2006/main">
            <a:off x="1466850" y="3238500"/>
            <a:ext cx="38100" cy="552450"/>
          </a:xfrm>
          <a:prstGeom xmlns:a="http://schemas.openxmlformats.org/drawingml/2006/main" prst="rect">
            <a:avLst/>
          </a:prstGeom>
          <a:solidFill xmlns:a="http://schemas.openxmlformats.org/drawingml/2006/main">
            <a:srgbClr val="2EC4D6"/>
          </a:solidFill>
          <a:ln xmlns:a="http://schemas.openxmlformats.org/drawingml/2006/main" w="38100">
            <a:solidFill>
              <a:srgbClr val="2EC4D6"/>
            </a:solidFill>
            <a:prstDash val="solid"/>
          </a:ln>
        </p:spPr>
      </p:sp>
      <p:sp>
        <p:nvSpPr>
          <p:cNvPr id="18" name="">
            <a:extLst xmlns:a="http://schemas.openxmlformats.org/drawingml/2006/main">
              <a:ext uri="{FF2B5EF4-FFF2-40B4-BE49-F238E27FC236}">
                <a16:creationId xmlns:a16="http://schemas.microsoft.com/office/drawing/2014/main" id="{EE151C6E-7908-4DFA-AE20-AA462F0ECBA2}"/>
              </a:ext>
            </a:extLst>
          </p:cNvPr>
          <p:cNvSpPr>
            <a:spLocks xmlns:a="http://schemas.openxmlformats.org/drawingml/2006/main" noGrp="1"/>
          </p:cNvSpPr>
          <p:nvPr/>
        </p:nvSpPr>
        <p:spPr>
          <a:xfrm xmlns:a="http://schemas.openxmlformats.org/drawingml/2006/main">
            <a:off x="1733550" y="3267075"/>
            <a:ext cx="1562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C9D8DC"/>
                </a:solidFill>
                <a:latin typeface="Aptos"/>
                <a:ea typeface="Aptos"/>
                <a:cs typeface="Aptos"/>
              </a:defRPr>
            </a:pPr>
            <a:r>
              <a:rPr sz="900" b="1">
                <a:solidFill>
                  <a:srgbClr val="C9D8DC"/>
                </a:solidFill>
                <a:latin typeface="Aptos"/>
                <a:ea typeface="Aptos"/>
                <a:cs typeface="Aptos"/>
              </a:rPr>
              <a:t>MEANING</a:t>
            </a:r>
          </a:p>
        </p:txBody>
      </p:sp>
      <p:sp>
        <p:nvSpPr>
          <p:cNvPr id="19" name="">
            <a:extLst xmlns:a="http://schemas.openxmlformats.org/drawingml/2006/main">
              <a:ext uri="{FF2B5EF4-FFF2-40B4-BE49-F238E27FC236}">
                <a16:creationId xmlns:a16="http://schemas.microsoft.com/office/drawing/2014/main" id="{6754B194-3071-4BAC-AD1A-B8E65FDA0089}"/>
              </a:ext>
            </a:extLst>
          </p:cNvPr>
          <p:cNvSpPr>
            <a:spLocks xmlns:a="http://schemas.openxmlformats.org/drawingml/2006/main" noGrp="1"/>
          </p:cNvSpPr>
          <p:nvPr/>
        </p:nvSpPr>
        <p:spPr>
          <a:xfrm xmlns:a="http://schemas.openxmlformats.org/drawingml/2006/main">
            <a:off x="3486150" y="3257550"/>
            <a:ext cx="75247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1">
                <a:solidFill>
                  <a:srgbClr val="FFFFFF"/>
                </a:solidFill>
                <a:latin typeface="Aptos"/>
                <a:ea typeface="Aptos"/>
                <a:cs typeface="Aptos"/>
              </a:defRPr>
            </a:pPr>
            <a:r>
              <a:rPr sz="1575" b="1">
                <a:solidFill>
                  <a:srgbClr val="FFFFFF"/>
                </a:solidFill>
                <a:latin typeface="Aptos"/>
                <a:ea typeface="Aptos"/>
                <a:cs typeface="Aptos"/>
              </a:rPr>
              <a:t>Are conditions, terms, units, and ranges defined?</a:t>
            </a:r>
          </a:p>
        </p:txBody>
      </p:sp>
      <p:sp>
        <p:nvSpPr>
          <p:cNvPr id="20" name="">
            <a:extLst xmlns:a="http://schemas.openxmlformats.org/drawingml/2006/main">
              <a:ext uri="{FF2B5EF4-FFF2-40B4-BE49-F238E27FC236}">
                <a16:creationId xmlns:a16="http://schemas.microsoft.com/office/drawing/2014/main" id="{AEB42092-50FE-4BAF-B8A6-9190B20CBD80}"/>
              </a:ext>
            </a:extLst>
          </p:cNvPr>
          <p:cNvSpPr>
            <a:spLocks xmlns:a="http://schemas.openxmlformats.org/drawingml/2006/main" noGrp="1"/>
          </p:cNvSpPr>
          <p:nvPr/>
        </p:nvSpPr>
        <p:spPr>
          <a:xfrm xmlns:a="http://schemas.openxmlformats.org/drawingml/2006/main">
            <a:off x="781050" y="4133850"/>
            <a:ext cx="533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F9F43"/>
                </a:solidFill>
                <a:latin typeface="Aptos"/>
                <a:ea typeface="Aptos"/>
                <a:cs typeface="Aptos"/>
              </a:defRPr>
            </a:pPr>
            <a:r>
              <a:rPr sz="1425" b="1">
                <a:solidFill>
                  <a:srgbClr val="FF9F43"/>
                </a:solidFill>
                <a:latin typeface="Aptos"/>
                <a:ea typeface="Aptos"/>
                <a:cs typeface="Aptos"/>
              </a:rPr>
              <a:t>04</a:t>
            </a:r>
          </a:p>
        </p:txBody>
      </p:sp>
      <p:sp>
        <p:nvSpPr>
          <p:cNvPr id="21" name="">
            <a:extLst xmlns:a="http://schemas.openxmlformats.org/drawingml/2006/main">
              <a:ext uri="{FF2B5EF4-FFF2-40B4-BE49-F238E27FC236}">
                <a16:creationId xmlns:a16="http://schemas.microsoft.com/office/drawing/2014/main" id="{FCC01079-BD2F-4115-A4CC-350018A00836}"/>
              </a:ext>
            </a:extLst>
          </p:cNvPr>
          <p:cNvSpPr>
            <a:spLocks xmlns:a="http://schemas.openxmlformats.org/drawingml/2006/main" noGrp="1"/>
          </p:cNvSpPr>
          <p:nvPr/>
        </p:nvSpPr>
        <p:spPr>
          <a:xfrm xmlns:a="http://schemas.openxmlformats.org/drawingml/2006/main">
            <a:off x="1466850" y="4057650"/>
            <a:ext cx="38100" cy="552450"/>
          </a:xfrm>
          <a:prstGeom xmlns:a="http://schemas.openxmlformats.org/drawingml/2006/main" prst="rect">
            <a:avLst/>
          </a:prstGeom>
          <a:solidFill xmlns:a="http://schemas.openxmlformats.org/drawingml/2006/main">
            <a:srgbClr val="FF9F43"/>
          </a:solidFill>
          <a:ln xmlns:a="http://schemas.openxmlformats.org/drawingml/2006/main" w="38100">
            <a:solidFill>
              <a:srgbClr val="FF9F43"/>
            </a:solidFill>
            <a:prstDash val="solid"/>
          </a:ln>
        </p:spPr>
      </p:sp>
      <p:sp>
        <p:nvSpPr>
          <p:cNvPr id="22" name="">
            <a:extLst xmlns:a="http://schemas.openxmlformats.org/drawingml/2006/main">
              <a:ext uri="{FF2B5EF4-FFF2-40B4-BE49-F238E27FC236}">
                <a16:creationId xmlns:a16="http://schemas.microsoft.com/office/drawing/2014/main" id="{2328C645-C560-4E17-B2FC-24683EB388F0}"/>
              </a:ext>
            </a:extLst>
          </p:cNvPr>
          <p:cNvSpPr>
            <a:spLocks xmlns:a="http://schemas.openxmlformats.org/drawingml/2006/main" noGrp="1"/>
          </p:cNvSpPr>
          <p:nvPr/>
        </p:nvSpPr>
        <p:spPr>
          <a:xfrm xmlns:a="http://schemas.openxmlformats.org/drawingml/2006/main">
            <a:off x="1733550" y="4086225"/>
            <a:ext cx="1562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C9D8DC"/>
                </a:solidFill>
                <a:latin typeface="Aptos"/>
                <a:ea typeface="Aptos"/>
                <a:cs typeface="Aptos"/>
              </a:defRPr>
            </a:pPr>
            <a:r>
              <a:rPr sz="900" b="1">
                <a:solidFill>
                  <a:srgbClr val="C9D8DC"/>
                </a:solidFill>
                <a:latin typeface="Aptos"/>
                <a:ea typeface="Aptos"/>
                <a:cs typeface="Aptos"/>
              </a:rPr>
              <a:t>BOUND</a:t>
            </a:r>
          </a:p>
        </p:txBody>
      </p:sp>
      <p:sp>
        <p:nvSpPr>
          <p:cNvPr id="23" name="">
            <a:extLst xmlns:a="http://schemas.openxmlformats.org/drawingml/2006/main">
              <a:ext uri="{FF2B5EF4-FFF2-40B4-BE49-F238E27FC236}">
                <a16:creationId xmlns:a16="http://schemas.microsoft.com/office/drawing/2014/main" id="{F5EBB3D9-08AA-42BF-B7CB-1DA213788F0F}"/>
              </a:ext>
            </a:extLst>
          </p:cNvPr>
          <p:cNvSpPr>
            <a:spLocks xmlns:a="http://schemas.openxmlformats.org/drawingml/2006/main" noGrp="1"/>
          </p:cNvSpPr>
          <p:nvPr/>
        </p:nvSpPr>
        <p:spPr>
          <a:xfrm xmlns:a="http://schemas.openxmlformats.org/drawingml/2006/main">
            <a:off x="3486150" y="4076700"/>
            <a:ext cx="75247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1">
                <a:solidFill>
                  <a:srgbClr val="FFFFFF"/>
                </a:solidFill>
                <a:latin typeface="Aptos"/>
                <a:ea typeface="Aptos"/>
                <a:cs typeface="Aptos"/>
              </a:defRPr>
            </a:pPr>
            <a:r>
              <a:rPr sz="1575" b="1">
                <a:solidFill>
                  <a:srgbClr val="FFFFFF"/>
                </a:solidFill>
                <a:latin typeface="Aptos"/>
                <a:ea typeface="Aptos"/>
                <a:cs typeface="Aptos"/>
              </a:rPr>
              <a:t>Is the behavior measurable where a limit matters?</a:t>
            </a:r>
          </a:p>
        </p:txBody>
      </p:sp>
      <p:sp>
        <p:nvSpPr>
          <p:cNvPr id="24" name="">
            <a:extLst xmlns:a="http://schemas.openxmlformats.org/drawingml/2006/main">
              <a:ext uri="{FF2B5EF4-FFF2-40B4-BE49-F238E27FC236}">
                <a16:creationId xmlns:a16="http://schemas.microsoft.com/office/drawing/2014/main" id="{6797D10F-9553-4A7B-B141-FC6A6E7DBDAA}"/>
              </a:ext>
            </a:extLst>
          </p:cNvPr>
          <p:cNvSpPr>
            <a:spLocks xmlns:a="http://schemas.openxmlformats.org/drawingml/2006/main" noGrp="1"/>
          </p:cNvSpPr>
          <p:nvPr/>
        </p:nvSpPr>
        <p:spPr>
          <a:xfrm xmlns:a="http://schemas.openxmlformats.org/drawingml/2006/main">
            <a:off x="781050" y="4953000"/>
            <a:ext cx="533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ptos"/>
                <a:ea typeface="Aptos"/>
                <a:cs typeface="Aptos"/>
              </a:defRPr>
            </a:pPr>
            <a:r>
              <a:rPr sz="1425" b="1">
                <a:solidFill>
                  <a:srgbClr val="FFFFFF"/>
                </a:solidFill>
                <a:latin typeface="Aptos"/>
                <a:ea typeface="Aptos"/>
                <a:cs typeface="Aptos"/>
              </a:rPr>
              <a:t>05</a:t>
            </a:r>
          </a:p>
        </p:txBody>
      </p:sp>
      <p:sp>
        <p:nvSpPr>
          <p:cNvPr id="25" name="">
            <a:extLst xmlns:a="http://schemas.openxmlformats.org/drawingml/2006/main">
              <a:ext uri="{FF2B5EF4-FFF2-40B4-BE49-F238E27FC236}">
                <a16:creationId xmlns:a16="http://schemas.microsoft.com/office/drawing/2014/main" id="{24D97D0E-E891-4B41-B531-9845210F905D}"/>
              </a:ext>
            </a:extLst>
          </p:cNvPr>
          <p:cNvSpPr>
            <a:spLocks xmlns:a="http://schemas.openxmlformats.org/drawingml/2006/main" noGrp="1"/>
          </p:cNvSpPr>
          <p:nvPr/>
        </p:nvSpPr>
        <p:spPr>
          <a:xfrm xmlns:a="http://schemas.openxmlformats.org/drawingml/2006/main">
            <a:off x="1466850" y="4876800"/>
            <a:ext cx="38100" cy="552450"/>
          </a:xfrm>
          <a:prstGeom xmlns:a="http://schemas.openxmlformats.org/drawingml/2006/main" prst="rect">
            <a:avLst/>
          </a:prstGeom>
          <a:solidFill xmlns:a="http://schemas.openxmlformats.org/drawingml/2006/main">
            <a:srgbClr val="FFFFFF"/>
          </a:solidFill>
          <a:ln xmlns:a="http://schemas.openxmlformats.org/drawingml/2006/main" w="38100">
            <a:solidFill>
              <a:srgbClr val="FFFFFF"/>
            </a:solidFill>
            <a:prstDash val="solid"/>
          </a:ln>
        </p:spPr>
      </p:sp>
      <p:sp>
        <p:nvSpPr>
          <p:cNvPr id="26" name="">
            <a:extLst xmlns:a="http://schemas.openxmlformats.org/drawingml/2006/main">
              <a:ext uri="{FF2B5EF4-FFF2-40B4-BE49-F238E27FC236}">
                <a16:creationId xmlns:a16="http://schemas.microsoft.com/office/drawing/2014/main" id="{032E30DE-6315-4428-B6CC-693C187A9054}"/>
              </a:ext>
            </a:extLst>
          </p:cNvPr>
          <p:cNvSpPr>
            <a:spLocks xmlns:a="http://schemas.openxmlformats.org/drawingml/2006/main" noGrp="1"/>
          </p:cNvSpPr>
          <p:nvPr/>
        </p:nvSpPr>
        <p:spPr>
          <a:xfrm xmlns:a="http://schemas.openxmlformats.org/drawingml/2006/main">
            <a:off x="1733550" y="4905375"/>
            <a:ext cx="1562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C9D8DC"/>
                </a:solidFill>
                <a:latin typeface="Aptos"/>
                <a:ea typeface="Aptos"/>
                <a:cs typeface="Aptos"/>
              </a:defRPr>
            </a:pPr>
            <a:r>
              <a:rPr sz="900" b="1">
                <a:solidFill>
                  <a:srgbClr val="C9D8DC"/>
                </a:solidFill>
                <a:latin typeface="Aptos"/>
                <a:ea typeface="Aptos"/>
                <a:cs typeface="Aptos"/>
              </a:rPr>
              <a:t>EVIDENCE</a:t>
            </a:r>
          </a:p>
        </p:txBody>
      </p:sp>
      <p:sp>
        <p:nvSpPr>
          <p:cNvPr id="27" name="">
            <a:extLst xmlns:a="http://schemas.openxmlformats.org/drawingml/2006/main">
              <a:ext uri="{FF2B5EF4-FFF2-40B4-BE49-F238E27FC236}">
                <a16:creationId xmlns:a16="http://schemas.microsoft.com/office/drawing/2014/main" id="{D809B079-3635-4D5F-AE02-99761FA0913C}"/>
              </a:ext>
            </a:extLst>
          </p:cNvPr>
          <p:cNvSpPr>
            <a:spLocks xmlns:a="http://schemas.openxmlformats.org/drawingml/2006/main" noGrp="1"/>
          </p:cNvSpPr>
          <p:nvPr/>
        </p:nvSpPr>
        <p:spPr>
          <a:xfrm xmlns:a="http://schemas.openxmlformats.org/drawingml/2006/main">
            <a:off x="3486150" y="4895850"/>
            <a:ext cx="75247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1">
                <a:solidFill>
                  <a:srgbClr val="FFFFFF"/>
                </a:solidFill>
                <a:latin typeface="Aptos"/>
                <a:ea typeface="Aptos"/>
                <a:cs typeface="Aptos"/>
              </a:defRPr>
            </a:pPr>
            <a:r>
              <a:rPr sz="1575" b="1">
                <a:solidFill>
                  <a:srgbClr val="FFFFFF"/>
                </a:solidFill>
                <a:latin typeface="Aptos"/>
                <a:ea typeface="Aptos"/>
                <a:cs typeface="Aptos"/>
              </a:rPr>
              <a:t>Can verification produce one coherent pass/fail result?</a:t>
            </a:r>
          </a:p>
        </p:txBody>
      </p:sp>
      <p:sp>
        <p:nvSpPr>
          <p:cNvPr id="28" name="">
            <a:extLst xmlns:a="http://schemas.openxmlformats.org/drawingml/2006/main">
              <a:ext uri="{FF2B5EF4-FFF2-40B4-BE49-F238E27FC236}">
                <a16:creationId xmlns:a16="http://schemas.microsoft.com/office/drawing/2014/main" id="{64964BB7-F064-4EB5-B272-8889C7806DC8}"/>
              </a:ext>
            </a:extLst>
          </p:cNvPr>
          <p:cNvSpPr>
            <a:spLocks xmlns:a="http://schemas.openxmlformats.org/drawingml/2006/main" noGrp="1"/>
          </p:cNvSpPr>
          <p:nvPr/>
        </p:nvSpPr>
        <p:spPr>
          <a:xfrm xmlns:a="http://schemas.openxmlformats.org/drawingml/2006/main">
            <a:off x="2247900" y="5734050"/>
            <a:ext cx="7696200" cy="400050"/>
          </a:xfrm>
          <a:prstGeom xmlns:a="http://schemas.openxmlformats.org/drawingml/2006/main" prst="roundRect">
            <a:avLst>
              <a:gd name="adj" fmla="val 19048"/>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62E1053B-6C09-48A0-B264-B99CD0540FB3}"/>
              </a:ext>
            </a:extLst>
          </p:cNvPr>
          <p:cNvSpPr>
            <a:spLocks xmlns:a="http://schemas.openxmlformats.org/drawingml/2006/main" noGrp="1"/>
          </p:cNvSpPr>
          <p:nvPr/>
        </p:nvSpPr>
        <p:spPr>
          <a:xfrm xmlns:a="http://schemas.openxmlformats.org/drawingml/2006/main">
            <a:off x="2457450" y="5829300"/>
            <a:ext cx="7277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071821"/>
                </a:solidFill>
                <a:latin typeface="Aptos"/>
                <a:ea typeface="Aptos"/>
                <a:cs typeface="Aptos"/>
              </a:defRPr>
            </a:pPr>
            <a:r>
              <a:rPr sz="1275" b="1">
                <a:solidFill>
                  <a:srgbClr val="071821"/>
                </a:solidFill>
                <a:latin typeface="Aptos"/>
                <a:ea typeface="Aptos"/>
                <a:cs typeface="Aptos"/>
              </a:rPr>
              <a:t>Clear enough to share one interpretation. Atomic enough to share one decision.</a:t>
            </a:r>
          </a:p>
        </p:txBody>
      </p:sp>
    </p:spTree>
    <p:extLst>
      <p:ext uri="{BB962C8B-B14F-4D97-AF65-F5344CB8AC3E}">
        <p14:creationId xmlns:p14="http://schemas.microsoft.com/office/powerpoint/2010/main" val="111749817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FF2EE5A-36EA-4282-83D2-E37DD887B53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1E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063CBC1-F92D-4E37-A737-F19D1A18E4A9}"/>
              </a:ext>
            </a:extLst>
          </p:cNvPr>
          <p:cNvSpPr>
            <a:spLocks xmlns:a="http://schemas.openxmlformats.org/drawingml/2006/main" noGrp="1"/>
          </p:cNvSpPr>
          <p:nvPr/>
        </p:nvSpPr>
        <p:spPr>
          <a:xfrm xmlns:a="http://schemas.openxmlformats.org/drawingml/2006/main">
            <a:off x="457200" y="361950"/>
            <a:ext cx="76200" cy="76200"/>
          </a:xfrm>
          <a:prstGeom xmlns:a="http://schemas.openxmlformats.org/drawingml/2006/main" prst="rect">
            <a:avLst/>
          </a:prstGeom>
          <a:solidFill xmlns:a="http://schemas.openxmlformats.org/drawingml/2006/main">
            <a:srgbClr val="2EC4D6"/>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CD0EE9F-8A57-41A6-A857-8B9D9B9CE382}"/>
              </a:ext>
            </a:extLst>
          </p:cNvPr>
          <p:cNvSpPr>
            <a:spLocks xmlns:a="http://schemas.openxmlformats.org/drawingml/2006/main" noGrp="1"/>
          </p:cNvSpPr>
          <p:nvPr/>
        </p:nvSpPr>
        <p:spPr>
          <a:xfrm xmlns:a="http://schemas.openxmlformats.org/drawingml/2006/main">
            <a:off x="64770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46616F"/>
                </a:solidFill>
                <a:latin typeface="Aptos"/>
                <a:ea typeface="Aptos"/>
                <a:cs typeface="Aptos"/>
              </a:defRPr>
            </a:pPr>
            <a:r>
              <a:rPr sz="1050" b="1">
                <a:solidFill>
                  <a:srgbClr val="46616F"/>
                </a:solidFill>
                <a:latin typeface="Aptos"/>
                <a:ea typeface="Aptos"/>
                <a:cs typeface="Aptos"/>
              </a:rPr>
              <a:t>FACILITATOR APPENDIX</a:t>
            </a:r>
          </a:p>
        </p:txBody>
      </p:sp>
      <p:sp>
        <p:nvSpPr>
          <p:cNvPr id="4" name="">
            <a:extLst xmlns:a="http://schemas.openxmlformats.org/drawingml/2006/main">
              <a:ext uri="{FF2B5EF4-FFF2-40B4-BE49-F238E27FC236}">
                <a16:creationId xmlns:a16="http://schemas.microsoft.com/office/drawing/2014/main" id="{1489CA4E-9589-4431-B103-1E7760C57E41}"/>
              </a:ext>
            </a:extLst>
          </p:cNvPr>
          <p:cNvSpPr>
            <a:spLocks xmlns:a="http://schemas.openxmlformats.org/drawingml/2006/main" noGrp="1"/>
          </p:cNvSpPr>
          <p:nvPr/>
        </p:nvSpPr>
        <p:spPr>
          <a:xfrm xmlns:a="http://schemas.openxmlformats.org/drawingml/2006/main">
            <a:off x="457200" y="666750"/>
            <a:ext cx="11049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850" b="1">
                <a:solidFill>
                  <a:srgbClr val="071821"/>
                </a:solidFill>
                <a:latin typeface="Aptos Display"/>
                <a:ea typeface="Aptos Display"/>
                <a:cs typeface="Aptos Display"/>
              </a:defRPr>
            </a:pPr>
            <a:r>
              <a:rPr sz="2850" b="1">
                <a:solidFill>
                  <a:srgbClr val="071821"/>
                </a:solidFill>
                <a:latin typeface="Aptos Display"/>
                <a:ea typeface="Aptos Display"/>
                <a:cs typeface="Aptos Display"/>
              </a:rPr>
              <a:t>Protect practice time and ask for interpretations before corrections.</a:t>
            </a:r>
          </a:p>
        </p:txBody>
      </p:sp>
      <p:sp>
        <p:nvSpPr>
          <p:cNvPr id="5" name="">
            <a:extLst xmlns:a="http://schemas.openxmlformats.org/drawingml/2006/main">
              <a:ext uri="{FF2B5EF4-FFF2-40B4-BE49-F238E27FC236}">
                <a16:creationId xmlns:a16="http://schemas.microsoft.com/office/drawing/2014/main" id="{44271D63-275F-4858-AABB-1A91643E5B5B}"/>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C9D8DC"/>
          </a:solidFill>
          <a:ln xmlns:a="http://schemas.openxmlformats.org/drawingml/2006/main" w="9525">
            <a:solidFill>
              <a:srgbClr val="C9D8DC"/>
            </a:solidFill>
            <a:prstDash val="solid"/>
          </a:ln>
        </p:spPr>
      </p:sp>
      <p:sp>
        <p:nvSpPr>
          <p:cNvPr id="6" name="">
            <a:extLst xmlns:a="http://schemas.openxmlformats.org/drawingml/2006/main">
              <a:ext uri="{FF2B5EF4-FFF2-40B4-BE49-F238E27FC236}">
                <a16:creationId xmlns:a16="http://schemas.microsoft.com/office/drawing/2014/main" id="{B2519176-7FCF-4C0C-A020-8B74848DF690}"/>
              </a:ext>
            </a:extLst>
          </p:cNvPr>
          <p:cNvSpPr>
            <a:spLocks xmlns:a="http://schemas.openxmlformats.org/drawingml/2006/main" noGrp="1"/>
          </p:cNvSpPr>
          <p:nvPr/>
        </p:nvSpPr>
        <p:spPr>
          <a:xfrm xmlns:a="http://schemas.openxmlformats.org/drawingml/2006/main">
            <a:off x="4572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46616F"/>
                </a:solidFill>
                <a:latin typeface="Aptos"/>
                <a:ea typeface="Aptos"/>
                <a:cs typeface="Aptos"/>
              </a:defRPr>
            </a:pPr>
            <a:r>
              <a:rPr sz="750" b="1">
                <a:solidFill>
                  <a:srgbClr val="46616F"/>
                </a:solidFill>
                <a:latin typeface="Aptos"/>
                <a:ea typeface="Aptos"/>
                <a:cs typeface="Aptos"/>
              </a:rPr>
              <a:t>APPENDIX</a:t>
            </a:r>
          </a:p>
        </p:txBody>
      </p:sp>
      <p:sp>
        <p:nvSpPr>
          <p:cNvPr id="7" name="">
            <a:extLst xmlns:a="http://schemas.openxmlformats.org/drawingml/2006/main">
              <a:ext uri="{FF2B5EF4-FFF2-40B4-BE49-F238E27FC236}">
                <a16:creationId xmlns:a16="http://schemas.microsoft.com/office/drawing/2014/main" id="{3154E326-5E21-4A7D-8D1E-230D027BBE0D}"/>
              </a:ext>
            </a:extLst>
          </p:cNvPr>
          <p:cNvSpPr>
            <a:spLocks xmlns:a="http://schemas.openxmlformats.org/drawingml/2006/main" noGrp="1"/>
          </p:cNvSpPr>
          <p:nvPr/>
        </p:nvSpPr>
        <p:spPr>
          <a:xfrm xmlns:a="http://schemas.openxmlformats.org/drawingml/2006/main">
            <a:off x="11144250" y="6515100"/>
            <a:ext cx="590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46616F"/>
                </a:solidFill>
                <a:latin typeface="Aptos"/>
                <a:ea typeface="Aptos"/>
                <a:cs typeface="Aptos"/>
              </a:defRPr>
            </a:pPr>
            <a:r>
              <a:rPr sz="825" b="1">
                <a:solidFill>
                  <a:srgbClr val="46616F"/>
                </a:solidFill>
                <a:latin typeface="Aptos"/>
                <a:ea typeface="Aptos"/>
                <a:cs typeface="Aptos"/>
              </a:rPr>
              <a:t>16</a:t>
            </a:r>
          </a:p>
        </p:txBody>
      </p:sp>
      <p:sp>
        <p:nvSpPr>
          <p:cNvPr id="8" name="">
            <a:extLst xmlns:a="http://schemas.openxmlformats.org/drawingml/2006/main">
              <a:ext uri="{FF2B5EF4-FFF2-40B4-BE49-F238E27FC236}">
                <a16:creationId xmlns:a16="http://schemas.microsoft.com/office/drawing/2014/main" id="{88E4D3B9-9C60-4354-A07D-52326005BE8F}"/>
              </a:ext>
            </a:extLst>
          </p:cNvPr>
          <p:cNvSpPr>
            <a:spLocks xmlns:a="http://schemas.openxmlformats.org/drawingml/2006/main" noGrp="1"/>
          </p:cNvSpPr>
          <p:nvPr/>
        </p:nvSpPr>
        <p:spPr>
          <a:xfrm xmlns:a="http://schemas.openxmlformats.org/drawingml/2006/main">
            <a:off x="552450" y="1657350"/>
            <a:ext cx="9334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EC4D6"/>
                </a:solidFill>
                <a:latin typeface="Aptos"/>
                <a:ea typeface="Aptos"/>
                <a:cs typeface="Aptos"/>
              </a:defRPr>
            </a:pPr>
            <a:r>
              <a:rPr sz="975" b="1">
                <a:solidFill>
                  <a:srgbClr val="2EC4D6"/>
                </a:solidFill>
                <a:latin typeface="Aptos"/>
                <a:ea typeface="Aptos"/>
                <a:cs typeface="Aptos"/>
              </a:rPr>
              <a:t>0-5 min</a:t>
            </a:r>
          </a:p>
        </p:txBody>
      </p:sp>
      <p:sp>
        <p:nvSpPr>
          <p:cNvPr id="9" name="">
            <a:extLst xmlns:a="http://schemas.openxmlformats.org/drawingml/2006/main">
              <a:ext uri="{FF2B5EF4-FFF2-40B4-BE49-F238E27FC236}">
                <a16:creationId xmlns:a16="http://schemas.microsoft.com/office/drawing/2014/main" id="{D5F5C753-CD69-4376-AB97-B74130294345}"/>
              </a:ext>
            </a:extLst>
          </p:cNvPr>
          <p:cNvSpPr>
            <a:spLocks xmlns:a="http://schemas.openxmlformats.org/drawingml/2006/main" noGrp="1"/>
          </p:cNvSpPr>
          <p:nvPr/>
        </p:nvSpPr>
        <p:spPr>
          <a:xfrm xmlns:a="http://schemas.openxmlformats.org/drawingml/2006/main">
            <a:off x="1562100" y="1581150"/>
            <a:ext cx="19050" cy="457200"/>
          </a:xfrm>
          <a:prstGeom xmlns:a="http://schemas.openxmlformats.org/drawingml/2006/main" prst="rect">
            <a:avLst/>
          </a:prstGeom>
          <a:solidFill xmlns:a="http://schemas.openxmlformats.org/drawingml/2006/main">
            <a:srgbClr val="C9D8DC"/>
          </a:solidFill>
          <a:ln xmlns:a="http://schemas.openxmlformats.org/drawingml/2006/main" w="19050">
            <a:solidFill>
              <a:srgbClr val="C9D8DC"/>
            </a:solidFill>
            <a:prstDash val="solid"/>
          </a:ln>
        </p:spPr>
      </p:sp>
      <p:sp>
        <p:nvSpPr>
          <p:cNvPr id="10" name="">
            <a:extLst xmlns:a="http://schemas.openxmlformats.org/drawingml/2006/main">
              <a:ext uri="{FF2B5EF4-FFF2-40B4-BE49-F238E27FC236}">
                <a16:creationId xmlns:a16="http://schemas.microsoft.com/office/drawing/2014/main" id="{D69FC351-50BF-4F28-AA31-4F6C02D0EA37}"/>
              </a:ext>
            </a:extLst>
          </p:cNvPr>
          <p:cNvSpPr>
            <a:spLocks xmlns:a="http://schemas.openxmlformats.org/drawingml/2006/main" noGrp="1"/>
          </p:cNvSpPr>
          <p:nvPr/>
        </p:nvSpPr>
        <p:spPr>
          <a:xfrm xmlns:a="http://schemas.openxmlformats.org/drawingml/2006/main">
            <a:off x="1752600" y="1647825"/>
            <a:ext cx="12001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6616F"/>
                </a:solidFill>
                <a:latin typeface="Aptos"/>
                <a:ea typeface="Aptos"/>
                <a:cs typeface="Aptos"/>
              </a:defRPr>
            </a:pPr>
            <a:r>
              <a:rPr sz="975" b="1">
                <a:solidFill>
                  <a:srgbClr val="46616F"/>
                </a:solidFill>
                <a:latin typeface="Aptos"/>
                <a:ea typeface="Aptos"/>
                <a:cs typeface="Aptos"/>
              </a:rPr>
              <a:t>OPEN</a:t>
            </a:r>
          </a:p>
        </p:txBody>
      </p:sp>
      <p:sp>
        <p:nvSpPr>
          <p:cNvPr id="11" name="">
            <a:extLst xmlns:a="http://schemas.openxmlformats.org/drawingml/2006/main">
              <a:ext uri="{FF2B5EF4-FFF2-40B4-BE49-F238E27FC236}">
                <a16:creationId xmlns:a16="http://schemas.microsoft.com/office/drawing/2014/main" id="{86061012-74A9-4F95-A2D3-ADAA57C3E64C}"/>
              </a:ext>
            </a:extLst>
          </p:cNvPr>
          <p:cNvSpPr>
            <a:spLocks xmlns:a="http://schemas.openxmlformats.org/drawingml/2006/main" noGrp="1"/>
          </p:cNvSpPr>
          <p:nvPr/>
        </p:nvSpPr>
        <p:spPr>
          <a:xfrm xmlns:a="http://schemas.openxmlformats.org/drawingml/2006/main">
            <a:off x="3086100" y="1619250"/>
            <a:ext cx="8191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0">
                <a:solidFill>
                  <a:srgbClr val="071821"/>
                </a:solidFill>
                <a:latin typeface="Aptos"/>
                <a:ea typeface="Aptos"/>
                <a:cs typeface="Aptos"/>
              </a:defRPr>
            </a:pPr>
            <a:r>
              <a:rPr sz="1200" b="0">
                <a:solidFill>
                  <a:srgbClr val="071821"/>
                </a:solidFill>
                <a:latin typeface="Aptos"/>
                <a:ea typeface="Aptos"/>
                <a:cs typeface="Aptos"/>
              </a:rPr>
              <a:t>Use periodically to surface multiple reasonable interpretations.</a:t>
            </a:r>
          </a:p>
        </p:txBody>
      </p:sp>
      <p:sp>
        <p:nvSpPr>
          <p:cNvPr id="12" name="">
            <a:extLst xmlns:a="http://schemas.openxmlformats.org/drawingml/2006/main">
              <a:ext uri="{FF2B5EF4-FFF2-40B4-BE49-F238E27FC236}">
                <a16:creationId xmlns:a16="http://schemas.microsoft.com/office/drawing/2014/main" id="{0158EBCA-9406-4EFE-AA2C-AB32CF90D055}"/>
              </a:ext>
            </a:extLst>
          </p:cNvPr>
          <p:cNvSpPr>
            <a:spLocks xmlns:a="http://schemas.openxmlformats.org/drawingml/2006/main" noGrp="1"/>
          </p:cNvSpPr>
          <p:nvPr/>
        </p:nvSpPr>
        <p:spPr>
          <a:xfrm xmlns:a="http://schemas.openxmlformats.org/drawingml/2006/main">
            <a:off x="552450" y="2324100"/>
            <a:ext cx="9334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EC4D6"/>
                </a:solidFill>
                <a:latin typeface="Aptos"/>
                <a:ea typeface="Aptos"/>
                <a:cs typeface="Aptos"/>
              </a:defRPr>
            </a:pPr>
            <a:r>
              <a:rPr sz="975" b="1">
                <a:solidFill>
                  <a:srgbClr val="2EC4D6"/>
                </a:solidFill>
                <a:latin typeface="Aptos"/>
                <a:ea typeface="Aptos"/>
                <a:cs typeface="Aptos"/>
              </a:rPr>
              <a:t>5-15 min</a:t>
            </a:r>
          </a:p>
        </p:txBody>
      </p:sp>
      <p:sp>
        <p:nvSpPr>
          <p:cNvPr id="13" name="">
            <a:extLst xmlns:a="http://schemas.openxmlformats.org/drawingml/2006/main">
              <a:ext uri="{FF2B5EF4-FFF2-40B4-BE49-F238E27FC236}">
                <a16:creationId xmlns:a16="http://schemas.microsoft.com/office/drawing/2014/main" id="{7AFDF8A4-EEDB-4E14-9C0E-F9771D1BC65F}"/>
              </a:ext>
            </a:extLst>
          </p:cNvPr>
          <p:cNvSpPr>
            <a:spLocks xmlns:a="http://schemas.openxmlformats.org/drawingml/2006/main" noGrp="1"/>
          </p:cNvSpPr>
          <p:nvPr/>
        </p:nvSpPr>
        <p:spPr>
          <a:xfrm xmlns:a="http://schemas.openxmlformats.org/drawingml/2006/main">
            <a:off x="1562100" y="2247900"/>
            <a:ext cx="19050" cy="457200"/>
          </a:xfrm>
          <a:prstGeom xmlns:a="http://schemas.openxmlformats.org/drawingml/2006/main" prst="rect">
            <a:avLst/>
          </a:prstGeom>
          <a:solidFill xmlns:a="http://schemas.openxmlformats.org/drawingml/2006/main">
            <a:srgbClr val="C9D8DC"/>
          </a:solidFill>
          <a:ln xmlns:a="http://schemas.openxmlformats.org/drawingml/2006/main" w="19050">
            <a:solidFill>
              <a:srgbClr val="C9D8DC"/>
            </a:solidFill>
            <a:prstDash val="solid"/>
          </a:ln>
        </p:spPr>
      </p:sp>
      <p:sp>
        <p:nvSpPr>
          <p:cNvPr id="14" name="">
            <a:extLst xmlns:a="http://schemas.openxmlformats.org/drawingml/2006/main">
              <a:ext uri="{FF2B5EF4-FFF2-40B4-BE49-F238E27FC236}">
                <a16:creationId xmlns:a16="http://schemas.microsoft.com/office/drawing/2014/main" id="{56895B95-EC48-48AF-8C70-3521CF5FA581}"/>
              </a:ext>
            </a:extLst>
          </p:cNvPr>
          <p:cNvSpPr>
            <a:spLocks xmlns:a="http://schemas.openxmlformats.org/drawingml/2006/main" noGrp="1"/>
          </p:cNvSpPr>
          <p:nvPr/>
        </p:nvSpPr>
        <p:spPr>
          <a:xfrm xmlns:a="http://schemas.openxmlformats.org/drawingml/2006/main">
            <a:off x="1752600" y="2314575"/>
            <a:ext cx="12001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6616F"/>
                </a:solidFill>
                <a:latin typeface="Aptos"/>
                <a:ea typeface="Aptos"/>
                <a:cs typeface="Aptos"/>
              </a:defRPr>
            </a:pPr>
            <a:r>
              <a:rPr sz="975" b="1">
                <a:solidFill>
                  <a:srgbClr val="46616F"/>
                </a:solidFill>
                <a:latin typeface="Aptos"/>
                <a:ea typeface="Aptos"/>
                <a:cs typeface="Aptos"/>
              </a:rPr>
              <a:t>OWN</a:t>
            </a:r>
          </a:p>
        </p:txBody>
      </p:sp>
      <p:sp>
        <p:nvSpPr>
          <p:cNvPr id="15" name="">
            <a:extLst xmlns:a="http://schemas.openxmlformats.org/drawingml/2006/main">
              <a:ext uri="{FF2B5EF4-FFF2-40B4-BE49-F238E27FC236}">
                <a16:creationId xmlns:a16="http://schemas.microsoft.com/office/drawing/2014/main" id="{A66BC55F-F19C-491C-8B40-722B28BE8B44}"/>
              </a:ext>
            </a:extLst>
          </p:cNvPr>
          <p:cNvSpPr>
            <a:spLocks xmlns:a="http://schemas.openxmlformats.org/drawingml/2006/main" noGrp="1"/>
          </p:cNvSpPr>
          <p:nvPr/>
        </p:nvSpPr>
        <p:spPr>
          <a:xfrm xmlns:a="http://schemas.openxmlformats.org/drawingml/2006/main">
            <a:off x="3086100" y="2286000"/>
            <a:ext cx="8191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0">
                <a:solidFill>
                  <a:srgbClr val="071821"/>
                </a:solidFill>
                <a:latin typeface="Aptos"/>
                <a:ea typeface="Aptos"/>
                <a:cs typeface="Aptos"/>
              </a:defRPr>
            </a:pPr>
            <a:r>
              <a:rPr sz="1200" b="0">
                <a:solidFill>
                  <a:srgbClr val="071821"/>
                </a:solidFill>
                <a:latin typeface="Aptos"/>
                <a:ea typeface="Aptos"/>
                <a:cs typeface="Aptos"/>
              </a:rPr>
              <a:t>Recap Week 1, then discuss subject and authority.</a:t>
            </a:r>
          </a:p>
        </p:txBody>
      </p:sp>
      <p:sp>
        <p:nvSpPr>
          <p:cNvPr id="16" name="">
            <a:extLst xmlns:a="http://schemas.openxmlformats.org/drawingml/2006/main">
              <a:ext uri="{FF2B5EF4-FFF2-40B4-BE49-F238E27FC236}">
                <a16:creationId xmlns:a16="http://schemas.microsoft.com/office/drawing/2014/main" id="{703239D5-093C-441B-B763-7A9C29913B5D}"/>
              </a:ext>
            </a:extLst>
          </p:cNvPr>
          <p:cNvSpPr>
            <a:spLocks xmlns:a="http://schemas.openxmlformats.org/drawingml/2006/main" noGrp="1"/>
          </p:cNvSpPr>
          <p:nvPr/>
        </p:nvSpPr>
        <p:spPr>
          <a:xfrm xmlns:a="http://schemas.openxmlformats.org/drawingml/2006/main">
            <a:off x="552450" y="2990850"/>
            <a:ext cx="9334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EC4D6"/>
                </a:solidFill>
                <a:latin typeface="Aptos"/>
                <a:ea typeface="Aptos"/>
                <a:cs typeface="Aptos"/>
              </a:defRPr>
            </a:pPr>
            <a:r>
              <a:rPr sz="975" b="1">
                <a:solidFill>
                  <a:srgbClr val="2EC4D6"/>
                </a:solidFill>
                <a:latin typeface="Aptos"/>
                <a:ea typeface="Aptos"/>
                <a:cs typeface="Aptos"/>
              </a:rPr>
              <a:t>15-25 min</a:t>
            </a:r>
          </a:p>
        </p:txBody>
      </p:sp>
      <p:sp>
        <p:nvSpPr>
          <p:cNvPr id="17" name="">
            <a:extLst xmlns:a="http://schemas.openxmlformats.org/drawingml/2006/main">
              <a:ext uri="{FF2B5EF4-FFF2-40B4-BE49-F238E27FC236}">
                <a16:creationId xmlns:a16="http://schemas.microsoft.com/office/drawing/2014/main" id="{14425014-0A8C-4EA5-8096-A769E94831F5}"/>
              </a:ext>
            </a:extLst>
          </p:cNvPr>
          <p:cNvSpPr>
            <a:spLocks xmlns:a="http://schemas.openxmlformats.org/drawingml/2006/main" noGrp="1"/>
          </p:cNvSpPr>
          <p:nvPr/>
        </p:nvSpPr>
        <p:spPr>
          <a:xfrm xmlns:a="http://schemas.openxmlformats.org/drawingml/2006/main">
            <a:off x="1562100" y="2914650"/>
            <a:ext cx="19050" cy="457200"/>
          </a:xfrm>
          <a:prstGeom xmlns:a="http://schemas.openxmlformats.org/drawingml/2006/main" prst="rect">
            <a:avLst/>
          </a:prstGeom>
          <a:solidFill xmlns:a="http://schemas.openxmlformats.org/drawingml/2006/main">
            <a:srgbClr val="C9D8DC"/>
          </a:solidFill>
          <a:ln xmlns:a="http://schemas.openxmlformats.org/drawingml/2006/main" w="19050">
            <a:solidFill>
              <a:srgbClr val="C9D8DC"/>
            </a:solidFill>
            <a:prstDash val="solid"/>
          </a:ln>
        </p:spPr>
      </p:sp>
      <p:sp>
        <p:nvSpPr>
          <p:cNvPr id="18" name="">
            <a:extLst xmlns:a="http://schemas.openxmlformats.org/drawingml/2006/main">
              <a:ext uri="{FF2B5EF4-FFF2-40B4-BE49-F238E27FC236}">
                <a16:creationId xmlns:a16="http://schemas.microsoft.com/office/drawing/2014/main" id="{252B256F-C832-415D-80C8-93088F692D94}"/>
              </a:ext>
            </a:extLst>
          </p:cNvPr>
          <p:cNvSpPr>
            <a:spLocks xmlns:a="http://schemas.openxmlformats.org/drawingml/2006/main" noGrp="1"/>
          </p:cNvSpPr>
          <p:nvPr/>
        </p:nvSpPr>
        <p:spPr>
          <a:xfrm xmlns:a="http://schemas.openxmlformats.org/drawingml/2006/main">
            <a:off x="1752600" y="2981325"/>
            <a:ext cx="12001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6616F"/>
                </a:solidFill>
                <a:latin typeface="Aptos"/>
                <a:ea typeface="Aptos"/>
                <a:cs typeface="Aptos"/>
              </a:defRPr>
            </a:pPr>
            <a:r>
              <a:rPr sz="975" b="1">
                <a:solidFill>
                  <a:srgbClr val="46616F"/>
                </a:solidFill>
                <a:latin typeface="Aptos"/>
                <a:ea typeface="Aptos"/>
                <a:cs typeface="Aptos"/>
              </a:rPr>
              <a:t>CLARIFY</a:t>
            </a:r>
          </a:p>
        </p:txBody>
      </p:sp>
      <p:sp>
        <p:nvSpPr>
          <p:cNvPr id="19" name="">
            <a:extLst xmlns:a="http://schemas.openxmlformats.org/drawingml/2006/main">
              <a:ext uri="{FF2B5EF4-FFF2-40B4-BE49-F238E27FC236}">
                <a16:creationId xmlns:a16="http://schemas.microsoft.com/office/drawing/2014/main" id="{F1FE25E1-350D-4845-9E6C-4A1C64D80443}"/>
              </a:ext>
            </a:extLst>
          </p:cNvPr>
          <p:cNvSpPr>
            <a:spLocks xmlns:a="http://schemas.openxmlformats.org/drawingml/2006/main" noGrp="1"/>
          </p:cNvSpPr>
          <p:nvPr/>
        </p:nvSpPr>
        <p:spPr>
          <a:xfrm xmlns:a="http://schemas.openxmlformats.org/drawingml/2006/main">
            <a:off x="3086100" y="2952750"/>
            <a:ext cx="8191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0">
                <a:solidFill>
                  <a:srgbClr val="071821"/>
                </a:solidFill>
                <a:latin typeface="Aptos"/>
                <a:ea typeface="Aptos"/>
                <a:cs typeface="Aptos"/>
              </a:defRPr>
            </a:pPr>
            <a:r>
              <a:rPr sz="1200" b="0">
                <a:solidFill>
                  <a:srgbClr val="071821"/>
                </a:solidFill>
                <a:latin typeface="Aptos"/>
                <a:ea typeface="Aptos"/>
                <a:cs typeface="Aptos"/>
              </a:rPr>
              <a:t>Cover modal conventions briefly; spend time translating vague terms.</a:t>
            </a:r>
          </a:p>
        </p:txBody>
      </p:sp>
      <p:sp>
        <p:nvSpPr>
          <p:cNvPr id="20" name="">
            <a:extLst xmlns:a="http://schemas.openxmlformats.org/drawingml/2006/main">
              <a:ext uri="{FF2B5EF4-FFF2-40B4-BE49-F238E27FC236}">
                <a16:creationId xmlns:a16="http://schemas.microsoft.com/office/drawing/2014/main" id="{0B5796A7-CFF0-41E8-A96A-A0237A852DF0}"/>
              </a:ext>
            </a:extLst>
          </p:cNvPr>
          <p:cNvSpPr>
            <a:spLocks xmlns:a="http://schemas.openxmlformats.org/drawingml/2006/main" noGrp="1"/>
          </p:cNvSpPr>
          <p:nvPr/>
        </p:nvSpPr>
        <p:spPr>
          <a:xfrm xmlns:a="http://schemas.openxmlformats.org/drawingml/2006/main">
            <a:off x="552450" y="3657600"/>
            <a:ext cx="9334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EC4D6"/>
                </a:solidFill>
                <a:latin typeface="Aptos"/>
                <a:ea typeface="Aptos"/>
                <a:cs typeface="Aptos"/>
              </a:defRPr>
            </a:pPr>
            <a:r>
              <a:rPr sz="975" b="1">
                <a:solidFill>
                  <a:srgbClr val="2EC4D6"/>
                </a:solidFill>
                <a:latin typeface="Aptos"/>
                <a:ea typeface="Aptos"/>
                <a:cs typeface="Aptos"/>
              </a:rPr>
              <a:t>25-35 min</a:t>
            </a:r>
          </a:p>
        </p:txBody>
      </p:sp>
      <p:sp>
        <p:nvSpPr>
          <p:cNvPr id="21" name="">
            <a:extLst xmlns:a="http://schemas.openxmlformats.org/drawingml/2006/main">
              <a:ext uri="{FF2B5EF4-FFF2-40B4-BE49-F238E27FC236}">
                <a16:creationId xmlns:a16="http://schemas.microsoft.com/office/drawing/2014/main" id="{C9EF584D-ABAF-47F8-BD3F-6DCC34536F89}"/>
              </a:ext>
            </a:extLst>
          </p:cNvPr>
          <p:cNvSpPr>
            <a:spLocks xmlns:a="http://schemas.openxmlformats.org/drawingml/2006/main" noGrp="1"/>
          </p:cNvSpPr>
          <p:nvPr/>
        </p:nvSpPr>
        <p:spPr>
          <a:xfrm xmlns:a="http://schemas.openxmlformats.org/drawingml/2006/main">
            <a:off x="1562100" y="3581400"/>
            <a:ext cx="19050" cy="457200"/>
          </a:xfrm>
          <a:prstGeom xmlns:a="http://schemas.openxmlformats.org/drawingml/2006/main" prst="rect">
            <a:avLst/>
          </a:prstGeom>
          <a:solidFill xmlns:a="http://schemas.openxmlformats.org/drawingml/2006/main">
            <a:srgbClr val="C9D8DC"/>
          </a:solidFill>
          <a:ln xmlns:a="http://schemas.openxmlformats.org/drawingml/2006/main" w="19050">
            <a:solidFill>
              <a:srgbClr val="C9D8DC"/>
            </a:solidFill>
            <a:prstDash val="solid"/>
          </a:ln>
        </p:spPr>
      </p:sp>
      <p:sp>
        <p:nvSpPr>
          <p:cNvPr id="22" name="">
            <a:extLst xmlns:a="http://schemas.openxmlformats.org/drawingml/2006/main">
              <a:ext uri="{FF2B5EF4-FFF2-40B4-BE49-F238E27FC236}">
                <a16:creationId xmlns:a16="http://schemas.microsoft.com/office/drawing/2014/main" id="{C44448EE-9E7A-4FA1-AAEC-F11B1A4E41C3}"/>
              </a:ext>
            </a:extLst>
          </p:cNvPr>
          <p:cNvSpPr>
            <a:spLocks xmlns:a="http://schemas.openxmlformats.org/drawingml/2006/main" noGrp="1"/>
          </p:cNvSpPr>
          <p:nvPr/>
        </p:nvSpPr>
        <p:spPr>
          <a:xfrm xmlns:a="http://schemas.openxmlformats.org/drawingml/2006/main">
            <a:off x="1752600" y="3648075"/>
            <a:ext cx="12001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6616F"/>
                </a:solidFill>
                <a:latin typeface="Aptos"/>
                <a:ea typeface="Aptos"/>
                <a:cs typeface="Aptos"/>
              </a:defRPr>
            </a:pPr>
            <a:r>
              <a:rPr sz="975" b="1">
                <a:solidFill>
                  <a:srgbClr val="46616F"/>
                </a:solidFill>
                <a:latin typeface="Aptos"/>
                <a:ea typeface="Aptos"/>
                <a:cs typeface="Aptos"/>
              </a:rPr>
              <a:t>ATOMIZE</a:t>
            </a:r>
          </a:p>
        </p:txBody>
      </p:sp>
      <p:sp>
        <p:nvSpPr>
          <p:cNvPr id="23" name="">
            <a:extLst xmlns:a="http://schemas.openxmlformats.org/drawingml/2006/main">
              <a:ext uri="{FF2B5EF4-FFF2-40B4-BE49-F238E27FC236}">
                <a16:creationId xmlns:a16="http://schemas.microsoft.com/office/drawing/2014/main" id="{1DA61DF1-FA19-4003-AD0C-53FE25816F5E}"/>
              </a:ext>
            </a:extLst>
          </p:cNvPr>
          <p:cNvSpPr>
            <a:spLocks xmlns:a="http://schemas.openxmlformats.org/drawingml/2006/main" noGrp="1"/>
          </p:cNvSpPr>
          <p:nvPr/>
        </p:nvSpPr>
        <p:spPr>
          <a:xfrm xmlns:a="http://schemas.openxmlformats.org/drawingml/2006/main">
            <a:off x="3086100" y="3619500"/>
            <a:ext cx="8191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0">
                <a:solidFill>
                  <a:srgbClr val="071821"/>
                </a:solidFill>
                <a:latin typeface="Aptos"/>
                <a:ea typeface="Aptos"/>
                <a:cs typeface="Aptos"/>
              </a:defRPr>
            </a:pPr>
            <a:r>
              <a:rPr sz="1200" b="0">
                <a:solidFill>
                  <a:srgbClr val="071821"/>
                </a:solidFill>
                <a:latin typeface="Aptos"/>
                <a:ea typeface="Aptos"/>
                <a:cs typeface="Aptos"/>
              </a:rPr>
              <a:t>Use conjunctions as review signals and introduce the sentence structure.</a:t>
            </a:r>
          </a:p>
        </p:txBody>
      </p:sp>
      <p:sp>
        <p:nvSpPr>
          <p:cNvPr id="24" name="">
            <a:extLst xmlns:a="http://schemas.openxmlformats.org/drawingml/2006/main">
              <a:ext uri="{FF2B5EF4-FFF2-40B4-BE49-F238E27FC236}">
                <a16:creationId xmlns:a16="http://schemas.microsoft.com/office/drawing/2014/main" id="{75FD36B3-BEEC-4B50-98C0-0EEC25A9BF39}"/>
              </a:ext>
            </a:extLst>
          </p:cNvPr>
          <p:cNvSpPr>
            <a:spLocks xmlns:a="http://schemas.openxmlformats.org/drawingml/2006/main" noGrp="1"/>
          </p:cNvSpPr>
          <p:nvPr/>
        </p:nvSpPr>
        <p:spPr>
          <a:xfrm xmlns:a="http://schemas.openxmlformats.org/drawingml/2006/main">
            <a:off x="552450" y="4324350"/>
            <a:ext cx="9334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F9F43"/>
                </a:solidFill>
                <a:latin typeface="Aptos"/>
                <a:ea typeface="Aptos"/>
                <a:cs typeface="Aptos"/>
              </a:defRPr>
            </a:pPr>
            <a:r>
              <a:rPr sz="975" b="1">
                <a:solidFill>
                  <a:srgbClr val="FF9F43"/>
                </a:solidFill>
                <a:latin typeface="Aptos"/>
                <a:ea typeface="Aptos"/>
                <a:cs typeface="Aptos"/>
              </a:rPr>
              <a:t>35-55 min</a:t>
            </a:r>
          </a:p>
        </p:txBody>
      </p:sp>
      <p:sp>
        <p:nvSpPr>
          <p:cNvPr id="25" name="">
            <a:extLst xmlns:a="http://schemas.openxmlformats.org/drawingml/2006/main">
              <a:ext uri="{FF2B5EF4-FFF2-40B4-BE49-F238E27FC236}">
                <a16:creationId xmlns:a16="http://schemas.microsoft.com/office/drawing/2014/main" id="{755DB06C-2FFD-44B7-A1DA-E702197EB5F9}"/>
              </a:ext>
            </a:extLst>
          </p:cNvPr>
          <p:cNvSpPr>
            <a:spLocks xmlns:a="http://schemas.openxmlformats.org/drawingml/2006/main" noGrp="1"/>
          </p:cNvSpPr>
          <p:nvPr/>
        </p:nvSpPr>
        <p:spPr>
          <a:xfrm xmlns:a="http://schemas.openxmlformats.org/drawingml/2006/main">
            <a:off x="1562100" y="4248150"/>
            <a:ext cx="19050" cy="457200"/>
          </a:xfrm>
          <a:prstGeom xmlns:a="http://schemas.openxmlformats.org/drawingml/2006/main" prst="rect">
            <a:avLst/>
          </a:prstGeom>
          <a:solidFill xmlns:a="http://schemas.openxmlformats.org/drawingml/2006/main">
            <a:srgbClr val="FF9F43"/>
          </a:solidFill>
          <a:ln xmlns:a="http://schemas.openxmlformats.org/drawingml/2006/main" w="19050">
            <a:solidFill>
              <a:srgbClr val="FF9F43"/>
            </a:solidFill>
            <a:prstDash val="solid"/>
          </a:ln>
        </p:spPr>
      </p:sp>
      <p:sp>
        <p:nvSpPr>
          <p:cNvPr id="26" name="">
            <a:extLst xmlns:a="http://schemas.openxmlformats.org/drawingml/2006/main">
              <a:ext uri="{FF2B5EF4-FFF2-40B4-BE49-F238E27FC236}">
                <a16:creationId xmlns:a16="http://schemas.microsoft.com/office/drawing/2014/main" id="{A8D0812E-2C78-4F01-A969-0B3A777D5D6C}"/>
              </a:ext>
            </a:extLst>
          </p:cNvPr>
          <p:cNvSpPr>
            <a:spLocks xmlns:a="http://schemas.openxmlformats.org/drawingml/2006/main" noGrp="1"/>
          </p:cNvSpPr>
          <p:nvPr/>
        </p:nvSpPr>
        <p:spPr>
          <a:xfrm xmlns:a="http://schemas.openxmlformats.org/drawingml/2006/main">
            <a:off x="1752600" y="4314825"/>
            <a:ext cx="12001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6616F"/>
                </a:solidFill>
                <a:latin typeface="Aptos"/>
                <a:ea typeface="Aptos"/>
                <a:cs typeface="Aptos"/>
              </a:defRPr>
            </a:pPr>
            <a:r>
              <a:rPr sz="975" b="1">
                <a:solidFill>
                  <a:srgbClr val="46616F"/>
                </a:solidFill>
                <a:latin typeface="Aptos"/>
                <a:ea typeface="Aptos"/>
                <a:cs typeface="Aptos"/>
              </a:rPr>
              <a:t>PRACTICE</a:t>
            </a:r>
          </a:p>
        </p:txBody>
      </p:sp>
      <p:sp>
        <p:nvSpPr>
          <p:cNvPr id="27" name="">
            <a:extLst xmlns:a="http://schemas.openxmlformats.org/drawingml/2006/main">
              <a:ext uri="{FF2B5EF4-FFF2-40B4-BE49-F238E27FC236}">
                <a16:creationId xmlns:a16="http://schemas.microsoft.com/office/drawing/2014/main" id="{1990306D-B823-4CBE-8863-D59931017DE4}"/>
              </a:ext>
            </a:extLst>
          </p:cNvPr>
          <p:cNvSpPr>
            <a:spLocks xmlns:a="http://schemas.openxmlformats.org/drawingml/2006/main" noGrp="1"/>
          </p:cNvSpPr>
          <p:nvPr/>
        </p:nvSpPr>
        <p:spPr>
          <a:xfrm xmlns:a="http://schemas.openxmlformats.org/drawingml/2006/main">
            <a:off x="3086100" y="4286250"/>
            <a:ext cx="8191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0">
                <a:solidFill>
                  <a:srgbClr val="071821"/>
                </a:solidFill>
                <a:latin typeface="Aptos"/>
                <a:ea typeface="Aptos"/>
                <a:cs typeface="Aptos"/>
              </a:defRPr>
            </a:pPr>
            <a:r>
              <a:rPr sz="1200" b="0">
                <a:solidFill>
                  <a:srgbClr val="071821"/>
                </a:solidFill>
                <a:latin typeface="Aptos"/>
                <a:ea typeface="Aptos"/>
                <a:cs typeface="Aptos"/>
              </a:rPr>
              <a:t>Prioritize slides 11-14; let participants review one another's wording.</a:t>
            </a:r>
          </a:p>
        </p:txBody>
      </p:sp>
      <p:sp>
        <p:nvSpPr>
          <p:cNvPr id="28" name="">
            <a:extLst xmlns:a="http://schemas.openxmlformats.org/drawingml/2006/main">
              <a:ext uri="{FF2B5EF4-FFF2-40B4-BE49-F238E27FC236}">
                <a16:creationId xmlns:a16="http://schemas.microsoft.com/office/drawing/2014/main" id="{00C3D261-8B77-4EEF-B4D0-5FE484EE6C8C}"/>
              </a:ext>
            </a:extLst>
          </p:cNvPr>
          <p:cNvSpPr>
            <a:spLocks xmlns:a="http://schemas.openxmlformats.org/drawingml/2006/main" noGrp="1"/>
          </p:cNvSpPr>
          <p:nvPr/>
        </p:nvSpPr>
        <p:spPr>
          <a:xfrm xmlns:a="http://schemas.openxmlformats.org/drawingml/2006/main">
            <a:off x="552450" y="4991100"/>
            <a:ext cx="9334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EC4D6"/>
                </a:solidFill>
                <a:latin typeface="Aptos"/>
                <a:ea typeface="Aptos"/>
                <a:cs typeface="Aptos"/>
              </a:defRPr>
            </a:pPr>
            <a:r>
              <a:rPr sz="975" b="1">
                <a:solidFill>
                  <a:srgbClr val="2EC4D6"/>
                </a:solidFill>
                <a:latin typeface="Aptos"/>
                <a:ea typeface="Aptos"/>
                <a:cs typeface="Aptos"/>
              </a:rPr>
              <a:t>55-60 min</a:t>
            </a:r>
          </a:p>
        </p:txBody>
      </p:sp>
      <p:sp>
        <p:nvSpPr>
          <p:cNvPr id="29" name="">
            <a:extLst xmlns:a="http://schemas.openxmlformats.org/drawingml/2006/main">
              <a:ext uri="{FF2B5EF4-FFF2-40B4-BE49-F238E27FC236}">
                <a16:creationId xmlns:a16="http://schemas.microsoft.com/office/drawing/2014/main" id="{5B75A927-BF4E-4BCF-9779-F068D06A9B30}"/>
              </a:ext>
            </a:extLst>
          </p:cNvPr>
          <p:cNvSpPr>
            <a:spLocks xmlns:a="http://schemas.openxmlformats.org/drawingml/2006/main" noGrp="1"/>
          </p:cNvSpPr>
          <p:nvPr/>
        </p:nvSpPr>
        <p:spPr>
          <a:xfrm xmlns:a="http://schemas.openxmlformats.org/drawingml/2006/main">
            <a:off x="1562100" y="4914900"/>
            <a:ext cx="19050" cy="457200"/>
          </a:xfrm>
          <a:prstGeom xmlns:a="http://schemas.openxmlformats.org/drawingml/2006/main" prst="rect">
            <a:avLst/>
          </a:prstGeom>
          <a:solidFill xmlns:a="http://schemas.openxmlformats.org/drawingml/2006/main">
            <a:srgbClr val="C9D8DC"/>
          </a:solidFill>
          <a:ln xmlns:a="http://schemas.openxmlformats.org/drawingml/2006/main" w="19050">
            <a:solidFill>
              <a:srgbClr val="C9D8DC"/>
            </a:solidFill>
            <a:prstDash val="solid"/>
          </a:ln>
        </p:spPr>
      </p:sp>
      <p:sp>
        <p:nvSpPr>
          <p:cNvPr id="30" name="">
            <a:extLst xmlns:a="http://schemas.openxmlformats.org/drawingml/2006/main">
              <a:ext uri="{FF2B5EF4-FFF2-40B4-BE49-F238E27FC236}">
                <a16:creationId xmlns:a16="http://schemas.microsoft.com/office/drawing/2014/main" id="{C5717699-800A-4C64-8A3D-A43E576E089B}"/>
              </a:ext>
            </a:extLst>
          </p:cNvPr>
          <p:cNvSpPr>
            <a:spLocks xmlns:a="http://schemas.openxmlformats.org/drawingml/2006/main" noGrp="1"/>
          </p:cNvSpPr>
          <p:nvPr/>
        </p:nvSpPr>
        <p:spPr>
          <a:xfrm xmlns:a="http://schemas.openxmlformats.org/drawingml/2006/main">
            <a:off x="1752600" y="4981575"/>
            <a:ext cx="12001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6616F"/>
                </a:solidFill>
                <a:latin typeface="Aptos"/>
                <a:ea typeface="Aptos"/>
                <a:cs typeface="Aptos"/>
              </a:defRPr>
            </a:pPr>
            <a:r>
              <a:rPr sz="975" b="1">
                <a:solidFill>
                  <a:srgbClr val="46616F"/>
                </a:solidFill>
                <a:latin typeface="Aptos"/>
                <a:ea typeface="Aptos"/>
                <a:cs typeface="Aptos"/>
              </a:rPr>
              <a:t>CLOSE</a:t>
            </a:r>
          </a:p>
        </p:txBody>
      </p:sp>
      <p:sp>
        <p:nvSpPr>
          <p:cNvPr id="31" name="">
            <a:extLst xmlns:a="http://schemas.openxmlformats.org/drawingml/2006/main">
              <a:ext uri="{FF2B5EF4-FFF2-40B4-BE49-F238E27FC236}">
                <a16:creationId xmlns:a16="http://schemas.microsoft.com/office/drawing/2014/main" id="{C8D3E667-C53F-418A-BDCD-95253C28D1F1}"/>
              </a:ext>
            </a:extLst>
          </p:cNvPr>
          <p:cNvSpPr>
            <a:spLocks xmlns:a="http://schemas.openxmlformats.org/drawingml/2006/main" noGrp="1"/>
          </p:cNvSpPr>
          <p:nvPr/>
        </p:nvSpPr>
        <p:spPr>
          <a:xfrm xmlns:a="http://schemas.openxmlformats.org/drawingml/2006/main">
            <a:off x="3086100" y="4953000"/>
            <a:ext cx="8191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0">
                <a:solidFill>
                  <a:srgbClr val="071821"/>
                </a:solidFill>
                <a:latin typeface="Aptos"/>
                <a:ea typeface="Aptos"/>
                <a:cs typeface="Aptos"/>
              </a:defRPr>
            </a:pPr>
            <a:r>
              <a:rPr sz="1200" b="0">
                <a:solidFill>
                  <a:srgbClr val="071821"/>
                </a:solidFill>
                <a:latin typeface="Aptos"/>
                <a:ea typeface="Aptos"/>
                <a:cs typeface="Aptos"/>
              </a:rPr>
              <a:t>End with the five checks. No homework.</a:t>
            </a:r>
          </a:p>
        </p:txBody>
      </p:sp>
      <p:sp>
        <p:nvSpPr>
          <p:cNvPr id="32" name="">
            <a:extLst xmlns:a="http://schemas.openxmlformats.org/drawingml/2006/main">
              <a:ext uri="{FF2B5EF4-FFF2-40B4-BE49-F238E27FC236}">
                <a16:creationId xmlns:a16="http://schemas.microsoft.com/office/drawing/2014/main" id="{26DFDD7F-99C7-40E1-94DE-26F1A49EAB07}"/>
              </a:ext>
            </a:extLst>
          </p:cNvPr>
          <p:cNvSpPr>
            <a:spLocks xmlns:a="http://schemas.openxmlformats.org/drawingml/2006/main" noGrp="1"/>
          </p:cNvSpPr>
          <p:nvPr/>
        </p:nvSpPr>
        <p:spPr>
          <a:xfrm xmlns:a="http://schemas.openxmlformats.org/drawingml/2006/main">
            <a:off x="552450" y="5676900"/>
            <a:ext cx="10725150" cy="419100"/>
          </a:xfrm>
          <a:prstGeom xmlns:a="http://schemas.openxmlformats.org/drawingml/2006/main" prst="roundRect">
            <a:avLst>
              <a:gd name="adj" fmla="val 18182"/>
            </a:avLst>
          </a:prstGeom>
          <a:solidFill xmlns:a="http://schemas.openxmlformats.org/drawingml/2006/main">
            <a:srgbClr val="071821"/>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00CB9C16-C821-429D-B946-6A76F16DF591}"/>
              </a:ext>
            </a:extLst>
          </p:cNvPr>
          <p:cNvSpPr>
            <a:spLocks xmlns:a="http://schemas.openxmlformats.org/drawingml/2006/main" noGrp="1"/>
          </p:cNvSpPr>
          <p:nvPr/>
        </p:nvSpPr>
        <p:spPr>
          <a:xfrm xmlns:a="http://schemas.openxmlformats.org/drawingml/2006/main">
            <a:off x="781050" y="5781675"/>
            <a:ext cx="10267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Facilitator stance: ask what decision the word hides before proposing replacement wording.</a:t>
            </a:r>
          </a:p>
        </p:txBody>
      </p:sp>
    </p:spTree>
    <p:extLst>
      <p:ext uri="{BB962C8B-B14F-4D97-AF65-F5344CB8AC3E}">
        <p14:creationId xmlns:p14="http://schemas.microsoft.com/office/powerpoint/2010/main" val="13786204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2026-07-10T16:16:12.5260000Z</dcterms:created>
  <dcterms:modified xsi:type="dcterms:W3CDTF">2026-07-10T16:16:12.5260000Z</dcterms:modified>
</coreProperties>
</file>